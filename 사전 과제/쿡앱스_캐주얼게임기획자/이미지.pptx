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DDD"/>
    <a:srgbClr val="DFF5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50" d="100"/>
          <a:sy n="50" d="100"/>
        </p:scale>
        <p:origin x="1114" y="581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B715445-81ED-4EAC-ADAF-4305044A5912}" type="doc">
      <dgm:prSet loTypeId="urn:microsoft.com/office/officeart/2005/8/layout/cycle6" loCatId="cycle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4840B175-0A68-4F89-98CC-77FD56DDC755}">
      <dgm:prSet phldrT="[텍스트]" custT="1"/>
      <dgm:spPr/>
      <dgm:t>
        <a:bodyPr lIns="21600" rIns="21600"/>
        <a:lstStyle/>
        <a:p>
          <a:pPr algn="ctr" latinLnBrk="1"/>
          <a:r>
            <a:rPr lang="ko-KR" altLang="en-US" sz="14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rPr>
            <a:t>전투</a:t>
          </a:r>
          <a:endParaRPr lang="ko-KR" altLang="en-US" sz="1600" dirty="0">
            <a:latin typeface="Pretendard SemiBold" panose="02000703000000020004" pitchFamily="2" charset="-127"/>
            <a:ea typeface="Pretendard SemiBold" panose="02000703000000020004" pitchFamily="2" charset="-127"/>
            <a:cs typeface="Pretendard SemiBold" panose="02000703000000020004" pitchFamily="2" charset="-127"/>
          </a:endParaRPr>
        </a:p>
      </dgm:t>
    </dgm:pt>
    <dgm:pt modelId="{5BC1E636-C391-4ECD-8562-B9BB0E6F970E}" type="parTrans" cxnId="{D9432192-3584-4B5D-B7CF-DFA4DD74D62B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475DBD6D-050B-43C6-890E-36B7337374B1}" type="sibTrans" cxnId="{D9432192-3584-4B5D-B7CF-DFA4DD74D62B}">
      <dgm:prSet custT="1"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AD991754-F33E-427A-A658-4148C0DEB198}">
      <dgm:prSet phldrT="[텍스트]" custT="1"/>
      <dgm:spPr/>
      <dgm:t>
        <a:bodyPr lIns="21600" rIns="21600"/>
        <a:lstStyle/>
        <a:p>
          <a:pPr algn="ctr" latinLnBrk="1"/>
          <a:r>
            <a:rPr lang="ko-KR" altLang="en-US" sz="11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적 대상 탐색 및 이동</a:t>
          </a:r>
        </a:p>
      </dgm:t>
    </dgm:pt>
    <dgm:pt modelId="{68039FFA-FCF6-4254-A5A3-6201E0AF8749}" type="parTrans" cxnId="{C5204FD7-AFFD-4BA4-8335-CD3BE851BB25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5FAC0F1B-79CE-4C80-840C-86FFCA9A316B}" type="sibTrans" cxnId="{C5204FD7-AFFD-4BA4-8335-CD3BE851BB25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3FAED5EC-CFCC-4F8C-BB8E-6598C87A596E}">
      <dgm:prSet phldrT="[텍스트]" custT="1"/>
      <dgm:spPr/>
      <dgm:t>
        <a:bodyPr lIns="21600" rIns="21600"/>
        <a:lstStyle/>
        <a:p>
          <a:pPr algn="ctr" latinLnBrk="1"/>
          <a:r>
            <a:rPr lang="ko-KR" altLang="en-US" sz="1400" kern="120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rPr>
            <a:t>성장</a:t>
          </a:r>
          <a:endParaRPr lang="ko-KR" altLang="en-US" sz="1600" kern="1200" dirty="0">
            <a:latin typeface="Pretendard SemiBold" panose="02000703000000020004" pitchFamily="2" charset="-127"/>
            <a:ea typeface="Pretendard SemiBold" panose="02000703000000020004" pitchFamily="2" charset="-127"/>
            <a:cs typeface="Pretendard SemiBold" panose="02000703000000020004" pitchFamily="2" charset="-127"/>
          </a:endParaRPr>
        </a:p>
      </dgm:t>
    </dgm:pt>
    <dgm:pt modelId="{174B4A7B-FCBC-4913-A16A-C7381B94E20E}" type="parTrans" cxnId="{81C91FB8-F08B-4603-824B-826F382F7825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A596D712-8DF6-43A3-B5A6-A94F63F63304}" type="sibTrans" cxnId="{81C91FB8-F08B-4603-824B-826F382F7825}">
      <dgm:prSet custT="1"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35F9F45B-4AF8-4E52-8B92-F008E0116D2E}">
      <dgm:prSet phldrT="[텍스트]" custT="1"/>
      <dgm:spPr/>
      <dgm:t>
        <a:bodyPr lIns="21600" rIns="21600"/>
        <a:lstStyle/>
        <a:p>
          <a:pPr algn="ctr" latinLnBrk="1"/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경험치 획득 </a:t>
          </a:r>
          <a:r>
            <a:rPr lang="en-US" altLang="ko-KR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&amp; </a:t>
          </a:r>
          <a:r>
            <a:rPr lang="ko-KR" altLang="en-US" sz="1100" kern="1200" dirty="0" err="1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레벨업</a:t>
          </a:r>
          <a:endParaRPr lang="ko-KR" altLang="en-US" sz="1100" kern="1200" dirty="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62D9D3DF-EC4A-4E82-AB56-BF7DB78EFA22}" type="parTrans" cxnId="{ACE17978-5BF3-4FB5-98D0-C0739FC32A41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F666AE87-A49F-4E05-9867-8FAEAA8E0377}" type="sibTrans" cxnId="{ACE17978-5BF3-4FB5-98D0-C0739FC32A41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BCA3BBBB-7240-4773-8248-F60EC6A5F913}">
      <dgm:prSet phldrT="[텍스트]" custT="1"/>
      <dgm:spPr>
        <a:solidFill>
          <a:srgbClr val="0070C0"/>
        </a:solidFill>
      </dgm:spPr>
      <dgm:t>
        <a:bodyPr/>
        <a:lstStyle/>
        <a:p>
          <a:pPr marL="0" lvl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rPr>
            <a:t>전략</a:t>
          </a:r>
          <a:endParaRPr lang="ko-KR" altLang="en-US" sz="1600" kern="1200" dirty="0">
            <a:latin typeface="Pretendard SemiBold" panose="02000703000000020004" pitchFamily="2" charset="-127"/>
            <a:ea typeface="Pretendard SemiBold" panose="02000703000000020004" pitchFamily="2" charset="-127"/>
            <a:cs typeface="Pretendard SemiBold" panose="02000703000000020004" pitchFamily="2" charset="-127"/>
          </a:endParaRPr>
        </a:p>
      </dgm:t>
    </dgm:pt>
    <dgm:pt modelId="{E2604356-A17D-4B97-8D52-ACE36552094A}" type="parTrans" cxnId="{D97B461D-25C5-45FC-9986-622AD84E55B5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F67EFD90-5887-4648-B82D-B085D2CC3EA6}" type="sibTrans" cxnId="{D97B461D-25C5-45FC-9986-622AD84E55B5}">
      <dgm:prSet custT="1"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1A087603-060E-4D3B-8E81-0EE9769165CE}">
      <dgm:prSet phldrT="[텍스트]" custT="1"/>
      <dgm:spPr>
        <a:solidFill>
          <a:srgbClr val="0070C0"/>
        </a:solidFill>
      </dgm:spPr>
      <dgm:t>
        <a:bodyPr/>
        <a:lstStyle/>
        <a:p>
          <a:pPr marL="114300" lvl="1" indent="-114300" algn="ctr" defTabSz="5334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전투 전략 구상</a:t>
          </a:r>
        </a:p>
      </dgm:t>
    </dgm:pt>
    <dgm:pt modelId="{9ADCFD94-4C01-462D-94BB-F310FCB12B2F}" type="parTrans" cxnId="{7E69B9D6-66DB-40C3-8F67-754EE2FB6F9D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D2B8205D-6188-4754-B0DC-0ABB1E0233DC}" type="sibTrans" cxnId="{7E69B9D6-66DB-40C3-8F67-754EE2FB6F9D}">
      <dgm:prSet/>
      <dgm:spPr/>
      <dgm:t>
        <a:bodyPr/>
        <a:lstStyle/>
        <a:p>
          <a:pPr algn="ctr" latinLnBrk="1"/>
          <a:endParaRPr lang="ko-KR" altLang="en-US" sz="140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0537CBF0-087D-47D3-942F-BF1418257151}">
      <dgm:prSet phldrT="[텍스트]" custT="1"/>
      <dgm:spPr/>
      <dgm:t>
        <a:bodyPr lIns="21600" rIns="21600"/>
        <a:lstStyle/>
        <a:p>
          <a:pPr algn="ctr" latinLnBrk="1"/>
          <a:r>
            <a:rPr lang="ko-KR" altLang="en-US" sz="1100" kern="1200" dirty="0" err="1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어빌리티</a:t>
          </a: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 선택</a:t>
          </a:r>
        </a:p>
      </dgm:t>
    </dgm:pt>
    <dgm:pt modelId="{D1B24096-4434-40DB-B47F-53A387CFE8C6}" type="parTrans" cxnId="{0324FE8F-0FE7-479E-A335-CE3B0406DA6E}">
      <dgm:prSet/>
      <dgm:spPr/>
      <dgm:t>
        <a:bodyPr/>
        <a:lstStyle/>
        <a:p>
          <a:pPr latinLnBrk="1"/>
          <a:endParaRPr lang="ko-KR" altLang="en-US"/>
        </a:p>
      </dgm:t>
    </dgm:pt>
    <dgm:pt modelId="{F00DA3ED-8D9D-462E-A5F0-A50CEEC570C3}" type="sibTrans" cxnId="{0324FE8F-0FE7-479E-A335-CE3B0406DA6E}">
      <dgm:prSet/>
      <dgm:spPr/>
      <dgm:t>
        <a:bodyPr/>
        <a:lstStyle/>
        <a:p>
          <a:pPr latinLnBrk="1"/>
          <a:endParaRPr lang="ko-KR" altLang="en-US"/>
        </a:p>
      </dgm:t>
    </dgm:pt>
    <dgm:pt modelId="{2F988D1D-409C-49CC-B79A-72770C5ACE6A}">
      <dgm:prSet phldrT="[텍스트]" custT="1"/>
      <dgm:spPr/>
      <dgm:t>
        <a:bodyPr lIns="21600" rIns="21600"/>
        <a:lstStyle/>
        <a:p>
          <a:pPr algn="ctr" latinLnBrk="1"/>
          <a:r>
            <a:rPr lang="ko-KR" altLang="en-US" sz="11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자동 공격 </a:t>
          </a:r>
          <a:r>
            <a:rPr lang="en-US" altLang="ko-KR" sz="11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&amp; </a:t>
          </a:r>
          <a:r>
            <a:rPr lang="ko-KR" altLang="en-US" sz="11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스킬</a:t>
          </a:r>
        </a:p>
      </dgm:t>
    </dgm:pt>
    <dgm:pt modelId="{03F83F84-D5F5-4865-B448-CCBF38759B27}" type="parTrans" cxnId="{0E13FD6F-2499-4EBF-9F90-1CBF6B90D525}">
      <dgm:prSet/>
      <dgm:spPr/>
      <dgm:t>
        <a:bodyPr/>
        <a:lstStyle/>
        <a:p>
          <a:pPr latinLnBrk="1"/>
          <a:endParaRPr lang="ko-KR" altLang="en-US"/>
        </a:p>
      </dgm:t>
    </dgm:pt>
    <dgm:pt modelId="{F630DB5C-70D5-4C98-8647-33F057D67FB2}" type="sibTrans" cxnId="{0E13FD6F-2499-4EBF-9F90-1CBF6B90D525}">
      <dgm:prSet/>
      <dgm:spPr/>
      <dgm:t>
        <a:bodyPr/>
        <a:lstStyle/>
        <a:p>
          <a:pPr latinLnBrk="1"/>
          <a:endParaRPr lang="ko-KR" altLang="en-US"/>
        </a:p>
      </dgm:t>
    </dgm:pt>
    <dgm:pt modelId="{38CC5313-FA34-49F6-954F-E72117A8CD0E}">
      <dgm:prSet phldrT="[텍스트]" custT="1"/>
      <dgm:spPr/>
      <dgm:t>
        <a:bodyPr lIns="21600" rIns="21600"/>
        <a:lstStyle/>
        <a:p>
          <a:pPr algn="ctr" latinLnBrk="1"/>
          <a:r>
            <a:rPr lang="ko-KR" altLang="en-US" sz="11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적 공격 회피</a:t>
          </a:r>
        </a:p>
      </dgm:t>
    </dgm:pt>
    <dgm:pt modelId="{08C5EECD-7EBB-4954-859E-B0E27BD6D7CB}" type="parTrans" cxnId="{7CE8D63E-7203-4012-9F91-780F02C3E7F6}">
      <dgm:prSet/>
      <dgm:spPr/>
      <dgm:t>
        <a:bodyPr/>
        <a:lstStyle/>
        <a:p>
          <a:pPr latinLnBrk="1"/>
          <a:endParaRPr lang="ko-KR" altLang="en-US"/>
        </a:p>
      </dgm:t>
    </dgm:pt>
    <dgm:pt modelId="{94C34D0A-AB12-4C2D-9481-3E5FCB37A109}" type="sibTrans" cxnId="{7CE8D63E-7203-4012-9F91-780F02C3E7F6}">
      <dgm:prSet/>
      <dgm:spPr/>
      <dgm:t>
        <a:bodyPr/>
        <a:lstStyle/>
        <a:p>
          <a:pPr latinLnBrk="1"/>
          <a:endParaRPr lang="ko-KR" altLang="en-US"/>
        </a:p>
      </dgm:t>
    </dgm:pt>
    <dgm:pt modelId="{282FFAF1-A41E-4089-BCF8-6B52DE443F6E}">
      <dgm:prSet phldrT="[텍스트]" custT="1"/>
      <dgm:spPr>
        <a:solidFill>
          <a:srgbClr val="0070C0"/>
        </a:solidFill>
      </dgm:spPr>
      <dgm:t>
        <a:bodyPr/>
        <a:lstStyle/>
        <a:p>
          <a:pPr marL="114300" lvl="1" indent="-114300" algn="ctr" defTabSz="5334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스킬 발동 확률 조절</a:t>
          </a:r>
          <a:endParaRPr lang="ko-KR" altLang="en-US" sz="1100" kern="1200" dirty="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8ED2BD6B-E3BA-44E5-A3B3-7BDA6366DABA}" type="parTrans" cxnId="{E63D7EC0-270D-4C8A-9C4A-CCF1D3D87028}">
      <dgm:prSet/>
      <dgm:spPr/>
      <dgm:t>
        <a:bodyPr/>
        <a:lstStyle/>
        <a:p>
          <a:pPr latinLnBrk="1"/>
          <a:endParaRPr lang="ko-KR" altLang="en-US"/>
        </a:p>
      </dgm:t>
    </dgm:pt>
    <dgm:pt modelId="{48C3CD32-3B0E-4CC8-AFC4-552DAB0D1E39}" type="sibTrans" cxnId="{E63D7EC0-270D-4C8A-9C4A-CCF1D3D87028}">
      <dgm:prSet/>
      <dgm:spPr/>
      <dgm:t>
        <a:bodyPr/>
        <a:lstStyle/>
        <a:p>
          <a:pPr latinLnBrk="1"/>
          <a:endParaRPr lang="ko-KR" altLang="en-US"/>
        </a:p>
      </dgm:t>
    </dgm:pt>
    <dgm:pt modelId="{B1128D27-FEE6-4F37-BC39-4314F046C565}">
      <dgm:prSet phldrT="[텍스트]" custT="1"/>
      <dgm:spPr>
        <a:solidFill>
          <a:srgbClr val="0070C0"/>
        </a:solidFill>
      </dgm:spPr>
      <dgm:t>
        <a:bodyPr/>
        <a:lstStyle/>
        <a:p>
          <a:pPr marL="114300" lvl="1" indent="-114300" algn="ctr" defTabSz="5334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어빌리티 조합 활용</a:t>
          </a:r>
          <a:endParaRPr lang="ko-KR" altLang="en-US" sz="1100" kern="1200" dirty="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gm:t>
    </dgm:pt>
    <dgm:pt modelId="{49D90EB4-3BA5-40EA-9B61-D4F3363B8380}" type="parTrans" cxnId="{4E2975BE-80B1-43FC-B376-1F8257C476B7}">
      <dgm:prSet/>
      <dgm:spPr/>
      <dgm:t>
        <a:bodyPr/>
        <a:lstStyle/>
        <a:p>
          <a:pPr latinLnBrk="1"/>
          <a:endParaRPr lang="ko-KR" altLang="en-US"/>
        </a:p>
      </dgm:t>
    </dgm:pt>
    <dgm:pt modelId="{CD5D7078-0EF7-4420-A5EF-53F5C37FBA83}" type="sibTrans" cxnId="{4E2975BE-80B1-43FC-B376-1F8257C476B7}">
      <dgm:prSet/>
      <dgm:spPr/>
      <dgm:t>
        <a:bodyPr/>
        <a:lstStyle/>
        <a:p>
          <a:pPr latinLnBrk="1"/>
          <a:endParaRPr lang="ko-KR" altLang="en-US"/>
        </a:p>
      </dgm:t>
    </dgm:pt>
    <dgm:pt modelId="{15D7405E-FC48-4575-AFC3-864704BC3FEB}" type="pres">
      <dgm:prSet presAssocID="{FB715445-81ED-4EAC-ADAF-4305044A5912}" presName="cycle" presStyleCnt="0">
        <dgm:presLayoutVars>
          <dgm:dir/>
          <dgm:resizeHandles val="exact"/>
        </dgm:presLayoutVars>
      </dgm:prSet>
      <dgm:spPr/>
    </dgm:pt>
    <dgm:pt modelId="{5566F3CC-DDDD-4C7B-AEF0-AFAD2C7D6285}" type="pres">
      <dgm:prSet presAssocID="{4840B175-0A68-4F89-98CC-77FD56DDC755}" presName="node" presStyleLbl="node1" presStyleIdx="0" presStyleCnt="3">
        <dgm:presLayoutVars>
          <dgm:bulletEnabled val="1"/>
        </dgm:presLayoutVars>
      </dgm:prSet>
      <dgm:spPr/>
    </dgm:pt>
    <dgm:pt modelId="{7DB9BB26-0C1D-4847-84E3-7611FFBA6125}" type="pres">
      <dgm:prSet presAssocID="{4840B175-0A68-4F89-98CC-77FD56DDC755}" presName="spNode" presStyleCnt="0"/>
      <dgm:spPr/>
    </dgm:pt>
    <dgm:pt modelId="{6734C878-4670-4A80-9EC2-682315FE0C02}" type="pres">
      <dgm:prSet presAssocID="{475DBD6D-050B-43C6-890E-36B7337374B1}" presName="sibTrans" presStyleLbl="sibTrans1D1" presStyleIdx="0" presStyleCnt="3"/>
      <dgm:spPr/>
    </dgm:pt>
    <dgm:pt modelId="{AC2358B6-AD1E-444E-8153-AB55BD5C23AD}" type="pres">
      <dgm:prSet presAssocID="{3FAED5EC-CFCC-4F8C-BB8E-6598C87A596E}" presName="node" presStyleLbl="node1" presStyleIdx="1" presStyleCnt="3">
        <dgm:presLayoutVars>
          <dgm:bulletEnabled val="1"/>
        </dgm:presLayoutVars>
      </dgm:prSet>
      <dgm:spPr/>
    </dgm:pt>
    <dgm:pt modelId="{B5C23219-615A-4160-AEBE-37191E9F8D17}" type="pres">
      <dgm:prSet presAssocID="{3FAED5EC-CFCC-4F8C-BB8E-6598C87A596E}" presName="spNode" presStyleCnt="0"/>
      <dgm:spPr/>
    </dgm:pt>
    <dgm:pt modelId="{CD5D21ED-2E3F-4611-BA88-F52B01BAAE91}" type="pres">
      <dgm:prSet presAssocID="{A596D712-8DF6-43A3-B5A6-A94F63F63304}" presName="sibTrans" presStyleLbl="sibTrans1D1" presStyleIdx="1" presStyleCnt="3"/>
      <dgm:spPr/>
    </dgm:pt>
    <dgm:pt modelId="{E08DEE37-294F-4D02-9C65-B21ABB84A256}" type="pres">
      <dgm:prSet presAssocID="{BCA3BBBB-7240-4773-8248-F60EC6A5F913}" presName="node" presStyleLbl="node1" presStyleIdx="2" presStyleCnt="3">
        <dgm:presLayoutVars>
          <dgm:bulletEnabled val="1"/>
        </dgm:presLayoutVars>
      </dgm:prSet>
      <dgm:spPr/>
    </dgm:pt>
    <dgm:pt modelId="{FA8F1BC4-2E29-4B16-A438-9ECB01F90975}" type="pres">
      <dgm:prSet presAssocID="{BCA3BBBB-7240-4773-8248-F60EC6A5F913}" presName="spNode" presStyleCnt="0"/>
      <dgm:spPr/>
    </dgm:pt>
    <dgm:pt modelId="{A190EA1A-9E81-434A-B9A6-0450918288FA}" type="pres">
      <dgm:prSet presAssocID="{F67EFD90-5887-4648-B82D-B085D2CC3EA6}" presName="sibTrans" presStyleLbl="sibTrans1D1" presStyleIdx="2" presStyleCnt="3"/>
      <dgm:spPr/>
    </dgm:pt>
  </dgm:ptLst>
  <dgm:cxnLst>
    <dgm:cxn modelId="{E51D7C02-5C5D-4DB3-B846-4251D5E74710}" type="presOf" srcId="{4840B175-0A68-4F89-98CC-77FD56DDC755}" destId="{5566F3CC-DDDD-4C7B-AEF0-AFAD2C7D6285}" srcOrd="0" destOrd="0" presId="urn:microsoft.com/office/officeart/2005/8/layout/cycle6"/>
    <dgm:cxn modelId="{1F044703-2604-4A52-A795-995DF52C5F47}" type="presOf" srcId="{1A087603-060E-4D3B-8E81-0EE9769165CE}" destId="{E08DEE37-294F-4D02-9C65-B21ABB84A256}" srcOrd="0" destOrd="1" presId="urn:microsoft.com/office/officeart/2005/8/layout/cycle6"/>
    <dgm:cxn modelId="{06F85009-EC73-4A9C-98C9-513E57923FFE}" type="presOf" srcId="{38CC5313-FA34-49F6-954F-E72117A8CD0E}" destId="{5566F3CC-DDDD-4C7B-AEF0-AFAD2C7D6285}" srcOrd="0" destOrd="3" presId="urn:microsoft.com/office/officeart/2005/8/layout/cycle6"/>
    <dgm:cxn modelId="{66C2131A-F673-4D60-9993-DE97D5C78E87}" type="presOf" srcId="{FB715445-81ED-4EAC-ADAF-4305044A5912}" destId="{15D7405E-FC48-4575-AFC3-864704BC3FEB}" srcOrd="0" destOrd="0" presId="urn:microsoft.com/office/officeart/2005/8/layout/cycle6"/>
    <dgm:cxn modelId="{D97B461D-25C5-45FC-9986-622AD84E55B5}" srcId="{FB715445-81ED-4EAC-ADAF-4305044A5912}" destId="{BCA3BBBB-7240-4773-8248-F60EC6A5F913}" srcOrd="2" destOrd="0" parTransId="{E2604356-A17D-4B97-8D52-ACE36552094A}" sibTransId="{F67EFD90-5887-4648-B82D-B085D2CC3EA6}"/>
    <dgm:cxn modelId="{7CE8D63E-7203-4012-9F91-780F02C3E7F6}" srcId="{4840B175-0A68-4F89-98CC-77FD56DDC755}" destId="{38CC5313-FA34-49F6-954F-E72117A8CD0E}" srcOrd="2" destOrd="0" parTransId="{08C5EECD-7EBB-4954-859E-B0E27BD6D7CB}" sibTransId="{94C34D0A-AB12-4C2D-9481-3E5FCB37A109}"/>
    <dgm:cxn modelId="{0593F940-0AED-4DFA-90A9-803A12F9EBED}" type="presOf" srcId="{0537CBF0-087D-47D3-942F-BF1418257151}" destId="{AC2358B6-AD1E-444E-8153-AB55BD5C23AD}" srcOrd="0" destOrd="2" presId="urn:microsoft.com/office/officeart/2005/8/layout/cycle6"/>
    <dgm:cxn modelId="{C81B6D6E-97A2-44CA-82A5-CFC829234469}" type="presOf" srcId="{F67EFD90-5887-4648-B82D-B085D2CC3EA6}" destId="{A190EA1A-9E81-434A-B9A6-0450918288FA}" srcOrd="0" destOrd="0" presId="urn:microsoft.com/office/officeart/2005/8/layout/cycle6"/>
    <dgm:cxn modelId="{0E13FD6F-2499-4EBF-9F90-1CBF6B90D525}" srcId="{4840B175-0A68-4F89-98CC-77FD56DDC755}" destId="{2F988D1D-409C-49CC-B79A-72770C5ACE6A}" srcOrd="1" destOrd="0" parTransId="{03F83F84-D5F5-4865-B448-CCBF38759B27}" sibTransId="{F630DB5C-70D5-4C98-8647-33F057D67FB2}"/>
    <dgm:cxn modelId="{17FFF451-335F-421C-A515-EBCF3EAEE455}" type="presOf" srcId="{282FFAF1-A41E-4089-BCF8-6B52DE443F6E}" destId="{E08DEE37-294F-4D02-9C65-B21ABB84A256}" srcOrd="0" destOrd="3" presId="urn:microsoft.com/office/officeart/2005/8/layout/cycle6"/>
    <dgm:cxn modelId="{D5C0E153-BC2C-45EA-A653-F51D36815008}" type="presOf" srcId="{A596D712-8DF6-43A3-B5A6-A94F63F63304}" destId="{CD5D21ED-2E3F-4611-BA88-F52B01BAAE91}" srcOrd="0" destOrd="0" presId="urn:microsoft.com/office/officeart/2005/8/layout/cycle6"/>
    <dgm:cxn modelId="{ACE17978-5BF3-4FB5-98D0-C0739FC32A41}" srcId="{3FAED5EC-CFCC-4F8C-BB8E-6598C87A596E}" destId="{35F9F45B-4AF8-4E52-8B92-F008E0116D2E}" srcOrd="0" destOrd="0" parTransId="{62D9D3DF-EC4A-4E82-AB56-BF7DB78EFA22}" sibTransId="{F666AE87-A49F-4E05-9867-8FAEAA8E0377}"/>
    <dgm:cxn modelId="{2926B089-8D0A-4E62-91E6-629D60A593F8}" type="presOf" srcId="{B1128D27-FEE6-4F37-BC39-4314F046C565}" destId="{E08DEE37-294F-4D02-9C65-B21ABB84A256}" srcOrd="0" destOrd="2" presId="urn:microsoft.com/office/officeart/2005/8/layout/cycle6"/>
    <dgm:cxn modelId="{0324FE8F-0FE7-479E-A335-CE3B0406DA6E}" srcId="{3FAED5EC-CFCC-4F8C-BB8E-6598C87A596E}" destId="{0537CBF0-087D-47D3-942F-BF1418257151}" srcOrd="1" destOrd="0" parTransId="{D1B24096-4434-40DB-B47F-53A387CFE8C6}" sibTransId="{F00DA3ED-8D9D-462E-A5F0-A50CEEC570C3}"/>
    <dgm:cxn modelId="{D9432192-3584-4B5D-B7CF-DFA4DD74D62B}" srcId="{FB715445-81ED-4EAC-ADAF-4305044A5912}" destId="{4840B175-0A68-4F89-98CC-77FD56DDC755}" srcOrd="0" destOrd="0" parTransId="{5BC1E636-C391-4ECD-8562-B9BB0E6F970E}" sibTransId="{475DBD6D-050B-43C6-890E-36B7337374B1}"/>
    <dgm:cxn modelId="{449196A5-6A63-47CB-805D-EFBC1F42750F}" type="presOf" srcId="{BCA3BBBB-7240-4773-8248-F60EC6A5F913}" destId="{E08DEE37-294F-4D02-9C65-B21ABB84A256}" srcOrd="0" destOrd="0" presId="urn:microsoft.com/office/officeart/2005/8/layout/cycle6"/>
    <dgm:cxn modelId="{D827FDA6-5723-4D6E-A96C-7A0C6B6ACF5E}" type="presOf" srcId="{3FAED5EC-CFCC-4F8C-BB8E-6598C87A596E}" destId="{AC2358B6-AD1E-444E-8153-AB55BD5C23AD}" srcOrd="0" destOrd="0" presId="urn:microsoft.com/office/officeart/2005/8/layout/cycle6"/>
    <dgm:cxn modelId="{311520AE-1BE0-4FDD-BF8F-04478ED0BB64}" type="presOf" srcId="{AD991754-F33E-427A-A658-4148C0DEB198}" destId="{5566F3CC-DDDD-4C7B-AEF0-AFAD2C7D6285}" srcOrd="0" destOrd="1" presId="urn:microsoft.com/office/officeart/2005/8/layout/cycle6"/>
    <dgm:cxn modelId="{8576FEB3-FF08-4FD9-ACE6-C31F72CB17E9}" type="presOf" srcId="{35F9F45B-4AF8-4E52-8B92-F008E0116D2E}" destId="{AC2358B6-AD1E-444E-8153-AB55BD5C23AD}" srcOrd="0" destOrd="1" presId="urn:microsoft.com/office/officeart/2005/8/layout/cycle6"/>
    <dgm:cxn modelId="{81C91FB8-F08B-4603-824B-826F382F7825}" srcId="{FB715445-81ED-4EAC-ADAF-4305044A5912}" destId="{3FAED5EC-CFCC-4F8C-BB8E-6598C87A596E}" srcOrd="1" destOrd="0" parTransId="{174B4A7B-FCBC-4913-A16A-C7381B94E20E}" sibTransId="{A596D712-8DF6-43A3-B5A6-A94F63F63304}"/>
    <dgm:cxn modelId="{4E2975BE-80B1-43FC-B376-1F8257C476B7}" srcId="{BCA3BBBB-7240-4773-8248-F60EC6A5F913}" destId="{B1128D27-FEE6-4F37-BC39-4314F046C565}" srcOrd="1" destOrd="0" parTransId="{49D90EB4-3BA5-40EA-9B61-D4F3363B8380}" sibTransId="{CD5D7078-0EF7-4420-A5EF-53F5C37FBA83}"/>
    <dgm:cxn modelId="{E63D7EC0-270D-4C8A-9C4A-CCF1D3D87028}" srcId="{BCA3BBBB-7240-4773-8248-F60EC6A5F913}" destId="{282FFAF1-A41E-4089-BCF8-6B52DE443F6E}" srcOrd="2" destOrd="0" parTransId="{8ED2BD6B-E3BA-44E5-A3B3-7BDA6366DABA}" sibTransId="{48C3CD32-3B0E-4CC8-AFC4-552DAB0D1E39}"/>
    <dgm:cxn modelId="{3B80ABC0-6D2A-45C4-9C92-DF3D7DE44ADF}" type="presOf" srcId="{2F988D1D-409C-49CC-B79A-72770C5ACE6A}" destId="{5566F3CC-DDDD-4C7B-AEF0-AFAD2C7D6285}" srcOrd="0" destOrd="2" presId="urn:microsoft.com/office/officeart/2005/8/layout/cycle6"/>
    <dgm:cxn modelId="{7E69B9D6-66DB-40C3-8F67-754EE2FB6F9D}" srcId="{BCA3BBBB-7240-4773-8248-F60EC6A5F913}" destId="{1A087603-060E-4D3B-8E81-0EE9769165CE}" srcOrd="0" destOrd="0" parTransId="{9ADCFD94-4C01-462D-94BB-F310FCB12B2F}" sibTransId="{D2B8205D-6188-4754-B0DC-0ABB1E0233DC}"/>
    <dgm:cxn modelId="{C5204FD7-AFFD-4BA4-8335-CD3BE851BB25}" srcId="{4840B175-0A68-4F89-98CC-77FD56DDC755}" destId="{AD991754-F33E-427A-A658-4148C0DEB198}" srcOrd="0" destOrd="0" parTransId="{68039FFA-FCF6-4254-A5A3-6201E0AF8749}" sibTransId="{5FAC0F1B-79CE-4C80-840C-86FFCA9A316B}"/>
    <dgm:cxn modelId="{E62AB4F6-8395-4A09-B91C-9A005C5485C7}" type="presOf" srcId="{475DBD6D-050B-43C6-890E-36B7337374B1}" destId="{6734C878-4670-4A80-9EC2-682315FE0C02}" srcOrd="0" destOrd="0" presId="urn:microsoft.com/office/officeart/2005/8/layout/cycle6"/>
    <dgm:cxn modelId="{03A3E42E-43ED-4315-89D6-7EF313EB3227}" type="presParOf" srcId="{15D7405E-FC48-4575-AFC3-864704BC3FEB}" destId="{5566F3CC-DDDD-4C7B-AEF0-AFAD2C7D6285}" srcOrd="0" destOrd="0" presId="urn:microsoft.com/office/officeart/2005/8/layout/cycle6"/>
    <dgm:cxn modelId="{50EE93A7-429F-41B2-B937-42521414B456}" type="presParOf" srcId="{15D7405E-FC48-4575-AFC3-864704BC3FEB}" destId="{7DB9BB26-0C1D-4847-84E3-7611FFBA6125}" srcOrd="1" destOrd="0" presId="urn:microsoft.com/office/officeart/2005/8/layout/cycle6"/>
    <dgm:cxn modelId="{864C8B95-CFD6-452B-B1FA-C9FFAEF42A5B}" type="presParOf" srcId="{15D7405E-FC48-4575-AFC3-864704BC3FEB}" destId="{6734C878-4670-4A80-9EC2-682315FE0C02}" srcOrd="2" destOrd="0" presId="urn:microsoft.com/office/officeart/2005/8/layout/cycle6"/>
    <dgm:cxn modelId="{7C0D0F89-A2E9-49D2-8AD8-543684BFB5F5}" type="presParOf" srcId="{15D7405E-FC48-4575-AFC3-864704BC3FEB}" destId="{AC2358B6-AD1E-444E-8153-AB55BD5C23AD}" srcOrd="3" destOrd="0" presId="urn:microsoft.com/office/officeart/2005/8/layout/cycle6"/>
    <dgm:cxn modelId="{12DF1466-AB10-464A-94A4-8BAD80968E66}" type="presParOf" srcId="{15D7405E-FC48-4575-AFC3-864704BC3FEB}" destId="{B5C23219-615A-4160-AEBE-37191E9F8D17}" srcOrd="4" destOrd="0" presId="urn:microsoft.com/office/officeart/2005/8/layout/cycle6"/>
    <dgm:cxn modelId="{74BE107D-82BA-4E9F-980F-DB6574059D53}" type="presParOf" srcId="{15D7405E-FC48-4575-AFC3-864704BC3FEB}" destId="{CD5D21ED-2E3F-4611-BA88-F52B01BAAE91}" srcOrd="5" destOrd="0" presId="urn:microsoft.com/office/officeart/2005/8/layout/cycle6"/>
    <dgm:cxn modelId="{73A4D1D3-88C5-4EB5-85F1-18EDE7AC06EF}" type="presParOf" srcId="{15D7405E-FC48-4575-AFC3-864704BC3FEB}" destId="{E08DEE37-294F-4D02-9C65-B21ABB84A256}" srcOrd="6" destOrd="0" presId="urn:microsoft.com/office/officeart/2005/8/layout/cycle6"/>
    <dgm:cxn modelId="{E3DFA87C-8FC1-492F-8BA7-E86473393995}" type="presParOf" srcId="{15D7405E-FC48-4575-AFC3-864704BC3FEB}" destId="{FA8F1BC4-2E29-4B16-A438-9ECB01F90975}" srcOrd="7" destOrd="0" presId="urn:microsoft.com/office/officeart/2005/8/layout/cycle6"/>
    <dgm:cxn modelId="{37864D7A-0FF3-4A7E-BE84-EDF25BB32D9C}" type="presParOf" srcId="{15D7405E-FC48-4575-AFC3-864704BC3FEB}" destId="{A190EA1A-9E81-434A-B9A6-0450918288FA}" srcOrd="8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66F3CC-DDDD-4C7B-AEF0-AFAD2C7D6285}">
      <dsp:nvSpPr>
        <dsp:cNvPr id="0" name=""/>
        <dsp:cNvSpPr/>
      </dsp:nvSpPr>
      <dsp:spPr>
        <a:xfrm>
          <a:off x="2288232" y="1484"/>
          <a:ext cx="2014674" cy="130953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600" tIns="53340" rIns="21600" bIns="53340" numCol="1" spcCol="1270" anchor="t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rPr>
            <a:t>전투</a:t>
          </a:r>
          <a:endParaRPr lang="ko-KR" altLang="en-US" sz="1600" kern="1200" dirty="0">
            <a:latin typeface="Pretendard SemiBold" panose="02000703000000020004" pitchFamily="2" charset="-127"/>
            <a:ea typeface="Pretendard SemiBold" panose="02000703000000020004" pitchFamily="2" charset="-127"/>
            <a:cs typeface="Pretendard SemiBold" panose="02000703000000020004" pitchFamily="2" charset="-127"/>
          </a:endParaRPr>
        </a:p>
        <a:p>
          <a:pPr marL="57150" lvl="1" indent="-57150" algn="ctr" defTabSz="48895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적 대상 탐색 및 이동</a:t>
          </a:r>
        </a:p>
        <a:p>
          <a:pPr marL="57150" lvl="1" indent="-57150" algn="ctr" defTabSz="48895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자동 공격 </a:t>
          </a:r>
          <a:r>
            <a:rPr lang="en-US" altLang="ko-KR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&amp; </a:t>
          </a: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스킬</a:t>
          </a:r>
        </a:p>
        <a:p>
          <a:pPr marL="57150" lvl="1" indent="-57150" algn="ctr" defTabSz="48895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적 공격 회피</a:t>
          </a:r>
        </a:p>
      </dsp:txBody>
      <dsp:txXfrm>
        <a:off x="2352158" y="65410"/>
        <a:ext cx="1886822" cy="1181686"/>
      </dsp:txXfrm>
    </dsp:sp>
    <dsp:sp modelId="{6734C878-4670-4A80-9EC2-682315FE0C02}">
      <dsp:nvSpPr>
        <dsp:cNvPr id="0" name=""/>
        <dsp:cNvSpPr/>
      </dsp:nvSpPr>
      <dsp:spPr>
        <a:xfrm>
          <a:off x="1548272" y="656253"/>
          <a:ext cx="3494594" cy="3494594"/>
        </a:xfrm>
        <a:custGeom>
          <a:avLst/>
          <a:gdLst/>
          <a:ahLst/>
          <a:cxnLst/>
          <a:rect l="0" t="0" r="0" b="0"/>
          <a:pathLst>
            <a:path>
              <a:moveTo>
                <a:pt x="2769285" y="330050"/>
              </a:moveTo>
              <a:arcTo wR="1747297" hR="1747297" stAng="18347740" swAng="3648625"/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C2358B6-AD1E-444E-8153-AB55BD5C23AD}">
      <dsp:nvSpPr>
        <dsp:cNvPr id="0" name=""/>
        <dsp:cNvSpPr/>
      </dsp:nvSpPr>
      <dsp:spPr>
        <a:xfrm>
          <a:off x="3801436" y="2622430"/>
          <a:ext cx="2014674" cy="1309538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600" tIns="53340" rIns="21600" bIns="53340" numCol="1" spcCol="1270" anchor="t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rPr>
            <a:t>성장</a:t>
          </a:r>
          <a:endParaRPr lang="ko-KR" altLang="en-US" sz="1600" kern="1200" dirty="0">
            <a:latin typeface="Pretendard SemiBold" panose="02000703000000020004" pitchFamily="2" charset="-127"/>
            <a:ea typeface="Pretendard SemiBold" panose="02000703000000020004" pitchFamily="2" charset="-127"/>
            <a:cs typeface="Pretendard SemiBold" panose="02000703000000020004" pitchFamily="2" charset="-127"/>
          </a:endParaRPr>
        </a:p>
        <a:p>
          <a:pPr marL="57150" lvl="1" indent="-57150" algn="ctr" defTabSz="48895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경험치 획득 </a:t>
          </a:r>
          <a:r>
            <a:rPr lang="en-US" altLang="ko-KR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&amp; </a:t>
          </a:r>
          <a:r>
            <a:rPr lang="ko-KR" altLang="en-US" sz="1100" kern="1200" dirty="0" err="1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레벨업</a:t>
          </a:r>
          <a:endParaRPr lang="ko-KR" altLang="en-US" sz="1100" kern="1200" dirty="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  <a:p>
          <a:pPr marL="57150" lvl="1" indent="-57150" algn="ctr" defTabSz="48895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 dirty="0" err="1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어빌리티</a:t>
          </a: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 선택</a:t>
          </a:r>
        </a:p>
      </dsp:txBody>
      <dsp:txXfrm>
        <a:off x="3865362" y="2686356"/>
        <a:ext cx="1886822" cy="1181686"/>
      </dsp:txXfrm>
    </dsp:sp>
    <dsp:sp modelId="{CD5D21ED-2E3F-4611-BA88-F52B01BAAE91}">
      <dsp:nvSpPr>
        <dsp:cNvPr id="0" name=""/>
        <dsp:cNvSpPr/>
      </dsp:nvSpPr>
      <dsp:spPr>
        <a:xfrm>
          <a:off x="1548272" y="656253"/>
          <a:ext cx="3494594" cy="3494594"/>
        </a:xfrm>
        <a:custGeom>
          <a:avLst/>
          <a:gdLst/>
          <a:ahLst/>
          <a:cxnLst/>
          <a:rect l="0" t="0" r="0" b="0"/>
          <a:pathLst>
            <a:path>
              <a:moveTo>
                <a:pt x="2579194" y="3283849"/>
              </a:moveTo>
              <a:arcTo wR="1747297" hR="1747297" stAng="3694119" swAng="3411761"/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08DEE37-294F-4D02-9C65-B21ABB84A256}">
      <dsp:nvSpPr>
        <dsp:cNvPr id="0" name=""/>
        <dsp:cNvSpPr/>
      </dsp:nvSpPr>
      <dsp:spPr>
        <a:xfrm>
          <a:off x="775028" y="2622430"/>
          <a:ext cx="2014674" cy="1309538"/>
        </a:xfrm>
        <a:prstGeom prst="roundRect">
          <a:avLst/>
        </a:prstGeom>
        <a:solidFill>
          <a:srgbClr val="0070C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t" anchorCtr="0">
          <a:noAutofit/>
        </a:bodyPr>
        <a:lstStyle/>
        <a:p>
          <a:pPr marL="0" lvl="0" indent="0" algn="ctr" defTabSz="8001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400" kern="120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rPr>
            <a:t>전략</a:t>
          </a:r>
          <a:endParaRPr lang="ko-KR" altLang="en-US" sz="1600" kern="1200" dirty="0">
            <a:latin typeface="Pretendard SemiBold" panose="02000703000000020004" pitchFamily="2" charset="-127"/>
            <a:ea typeface="Pretendard SemiBold" panose="02000703000000020004" pitchFamily="2" charset="-127"/>
            <a:cs typeface="Pretendard SemiBold" panose="02000703000000020004" pitchFamily="2" charset="-127"/>
          </a:endParaRPr>
        </a:p>
        <a:p>
          <a:pPr marL="114300" lvl="1" indent="-114300" algn="ctr" defTabSz="5334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전투 전략 구상</a:t>
          </a:r>
        </a:p>
        <a:p>
          <a:pPr marL="114300" lvl="1" indent="-114300" algn="ctr" defTabSz="5334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어빌리티 조합 활용</a:t>
          </a:r>
          <a:endParaRPr lang="ko-KR" altLang="en-US" sz="1100" kern="1200" dirty="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  <a:p>
          <a:pPr marL="114300" lvl="1" indent="-114300" algn="ctr" defTabSz="5334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100" kern="12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rPr>
            <a:t>스킬 발동 확률 조절</a:t>
          </a:r>
          <a:endParaRPr lang="ko-KR" altLang="en-US" sz="1100" kern="1200" dirty="0">
            <a:latin typeface="Pretendard" panose="02000503000000020004" pitchFamily="2" charset="-127"/>
            <a:ea typeface="Pretendard" panose="02000503000000020004" pitchFamily="2" charset="-127"/>
            <a:cs typeface="Pretendard" panose="02000503000000020004" pitchFamily="2" charset="-127"/>
          </a:endParaRPr>
        </a:p>
      </dsp:txBody>
      <dsp:txXfrm>
        <a:off x="838954" y="2686356"/>
        <a:ext cx="1886822" cy="1181686"/>
      </dsp:txXfrm>
    </dsp:sp>
    <dsp:sp modelId="{A190EA1A-9E81-434A-B9A6-0450918288FA}">
      <dsp:nvSpPr>
        <dsp:cNvPr id="0" name=""/>
        <dsp:cNvSpPr/>
      </dsp:nvSpPr>
      <dsp:spPr>
        <a:xfrm>
          <a:off x="1548272" y="656253"/>
          <a:ext cx="3494594" cy="3494594"/>
        </a:xfrm>
        <a:custGeom>
          <a:avLst/>
          <a:gdLst/>
          <a:ahLst/>
          <a:cxnLst/>
          <a:rect l="0" t="0" r="0" b="0"/>
          <a:pathLst>
            <a:path>
              <a:moveTo>
                <a:pt x="11601" y="1948311"/>
              </a:moveTo>
              <a:arcTo wR="1747297" hR="1747297" stAng="10403635" swAng="3648625"/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2EDB1B-EDC6-9E1E-817D-F84475616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77E6224-1947-4AB5-1162-F92823D406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71C872-FFA9-27D2-2798-A7A6BDEBB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D766E2F-43B7-A52B-86D1-9023A2A2E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306400-6150-D92B-8075-B412C72DE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3384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F3B534-E2A3-8151-BF0D-8DDEF5D4A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11325E-7B42-C8B4-8F0F-306DCE9E71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F979AB-568C-FC2F-EF9D-F7A4ACB23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8D20D64-354B-FDDB-5952-E57DB1E34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717707-7719-C983-FC0D-9E6F87A9E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2623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DDE30-7206-A2B8-4FEF-C851A8CD6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20E468B-44AC-B7F8-3E7C-E3B2F1CF0C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F992C3-6C46-BDFD-B98A-A2B85DB48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51AD5ED-1BBF-9946-CAD3-4AEA27482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6AB880-5327-9873-BD22-0E9E23D3F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1512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22AE4-7CFD-8333-EBDD-86AE9CA34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CB1FD74-4982-B08D-E36F-AA6BCF309F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1417311-07E2-8803-75D1-39D2DF8B41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24F1F6-2429-3BA7-2BDF-DC65BEF48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548DE-63AA-E89F-59FC-88B502FF5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33B3E67-B50C-C48F-0E49-C4317C282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320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B099E5-8F28-F6EA-EC9E-60BE42530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D925CB9-4B0C-B405-F226-D34FF5C500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F975A0-DADF-F583-6AA1-09816F1ED1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6DC0EDB-21A0-73B1-3EAF-D3035155C2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43AFCAC-C027-910F-09A0-BC835A1470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5E91629-16AA-3E12-DC91-AFE337FC7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306E296-97B7-CF0B-B213-C3EB6818E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F106DE8-1681-E7CB-74F8-471A1F05C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7726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881049-A0FA-0115-95B3-F5A276D35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444C565-C4B1-7AC1-B0FF-5E0604FAC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7F1B4EB-7AC9-2B10-CFA6-9CFE4AAF6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415424D-458E-A518-9603-D634C0C6C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9991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AE51E97-8587-26EC-225E-345184BF1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51CB953-8CD9-3D46-9E75-D006EC84F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75D6A8-9510-9631-5875-4494F2EAE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2256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20DFF7-11F5-A188-ED19-496D73608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D3AF4-2BCC-3A74-8BA8-27C672E60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E95D193-DE6B-715D-8A86-23B9688EF0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8C2495-D1BF-A6AF-77B5-7E32D8662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4B80B1-BC10-AA44-C2A3-941BE595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DE0D6C-A34B-ECD4-A8FB-FD41D1FF4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565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1B67D1-34BE-1D76-AD9E-9E65DF3A2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B4CC9D7-C8F9-54C3-EE62-31365B0428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F9EC562-20FA-A8A3-0C7A-D4BA3FA8B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067C83A-2724-FFCA-D74A-3B2D0E698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8ED0CD-4DC5-0B6F-585F-EB6B9F24B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354D91-B237-74F9-574F-C82967BFD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5964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A2860-245D-4CD7-DD57-EE7A7627A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05B338D-6149-A8B4-2AA8-C8278F8579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51E3C7-32B6-43D9-1E25-1DAD0D11D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4D218-7E5C-981B-B9BE-0517BC221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0200238-B7EB-8016-72A4-48C1E3848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31579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1A6C4A3-DBBC-78EB-1C79-7AE58F014E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C8DB689-47A8-CF34-298A-65EFF2AB9F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555391-5E14-7B7B-F706-023EF5842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80DD4-62EE-4E81-80D9-7E12A3C69789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AE3077-D2A2-3CCA-B938-ABE13AE26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11FD52-F01A-BEEF-4402-AB76F14E7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165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946F1B0-913E-2C2D-94B8-B912C87F96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D40472A-64BD-144C-8092-D49E2A6FC5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CA2CEA1-22EE-8C64-7FF8-28711EA7B9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980DD4-62EE-4E81-80D9-7E12A3C69789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0FB601-EC07-F33A-50E7-1C1EFB75C1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036D38-6F77-845C-645F-BC6A417C05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33012B-7B9B-478B-A632-F8C8097CDDD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6801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814A93B-D4BC-2B72-A2BE-A708002D3F1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C3B054-F3B2-D794-0FB7-4CF4E1D8A6F8}"/>
              </a:ext>
            </a:extLst>
          </p:cNvPr>
          <p:cNvSpPr txBox="1"/>
          <p:nvPr/>
        </p:nvSpPr>
        <p:spPr>
          <a:xfrm>
            <a:off x="480696" y="3244334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페이퍼로지 6 SemiBold" pitchFamily="2" charset="-127"/>
                <a:ea typeface="페이퍼로지 6 SemiBold" pitchFamily="2" charset="-127"/>
              </a:rPr>
              <a:t>던전 입장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D3E9FB-01EC-302E-0FD1-D5AF81EB03EB}"/>
              </a:ext>
            </a:extLst>
          </p:cNvPr>
          <p:cNvSpPr txBox="1"/>
          <p:nvPr/>
        </p:nvSpPr>
        <p:spPr>
          <a:xfrm>
            <a:off x="3068004" y="1600200"/>
            <a:ext cx="2170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페이퍼로지 6 SemiBold" pitchFamily="2" charset="-127"/>
                <a:ea typeface="페이퍼로지 6 SemiBold" pitchFamily="2" charset="-127"/>
              </a:rPr>
              <a:t>확률 포인트 자동 배분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BC4916-79B9-E643-EF7F-26B6A35AD3AE}"/>
              </a:ext>
            </a:extLst>
          </p:cNvPr>
          <p:cNvSpPr txBox="1"/>
          <p:nvPr/>
        </p:nvSpPr>
        <p:spPr>
          <a:xfrm>
            <a:off x="3068004" y="3261360"/>
            <a:ext cx="5918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페이퍼로지 6 SemiBold" pitchFamily="2" charset="-127"/>
                <a:ea typeface="페이퍼로지 6 SemiBold" pitchFamily="2" charset="-127"/>
              </a:rPr>
              <a:t>전투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B80BC7-B52D-AD36-8C19-EDCBECB13463}"/>
              </a:ext>
            </a:extLst>
          </p:cNvPr>
          <p:cNvSpPr txBox="1"/>
          <p:nvPr/>
        </p:nvSpPr>
        <p:spPr>
          <a:xfrm>
            <a:off x="3068004" y="4922520"/>
            <a:ext cx="1457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>
                <a:latin typeface="페이퍼로지 6 SemiBold" pitchFamily="2" charset="-127"/>
                <a:ea typeface="페이퍼로지 6 SemiBold" pitchFamily="2" charset="-127"/>
              </a:rPr>
              <a:t>어빌리티</a:t>
            </a:r>
            <a:r>
              <a:rPr lang="ko-KR" altLang="en-US" dirty="0">
                <a:latin typeface="페이퍼로지 6 SemiBold" pitchFamily="2" charset="-127"/>
                <a:ea typeface="페이퍼로지 6 SemiBold" pitchFamily="2" charset="-127"/>
              </a:rPr>
              <a:t> 획득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4615E2-16B6-649E-24A6-1A5021334347}"/>
              </a:ext>
            </a:extLst>
          </p:cNvPr>
          <p:cNvSpPr txBox="1"/>
          <p:nvPr/>
        </p:nvSpPr>
        <p:spPr>
          <a:xfrm>
            <a:off x="6096000" y="2567940"/>
            <a:ext cx="12811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확률 포인트 자동 배분</a:t>
            </a:r>
          </a:p>
        </p:txBody>
      </p:sp>
    </p:spTree>
    <p:extLst>
      <p:ext uri="{BB962C8B-B14F-4D97-AF65-F5344CB8AC3E}">
        <p14:creationId xmlns:p14="http://schemas.microsoft.com/office/powerpoint/2010/main" val="28176163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F8DB5-A036-EA28-2DDD-44EE62BBF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96FE57C-479B-2B1E-3A9F-A84778A485FC}"/>
              </a:ext>
            </a:extLst>
          </p:cNvPr>
          <p:cNvSpPr/>
          <p:nvPr/>
        </p:nvSpPr>
        <p:spPr>
          <a:xfrm rot="5400000">
            <a:off x="1673828" y="224722"/>
            <a:ext cx="6857999" cy="640855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41C8A9-D0BB-2DF0-152C-DD70805F58D2}"/>
              </a:ext>
            </a:extLst>
          </p:cNvPr>
          <p:cNvSpPr txBox="1"/>
          <p:nvPr/>
        </p:nvSpPr>
        <p:spPr>
          <a:xfrm>
            <a:off x="2779967" y="2848094"/>
            <a:ext cx="8595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페이퍼로지 6 SemiBold" pitchFamily="2" charset="-127"/>
                <a:ea typeface="페이퍼로지 6 SemiBold" pitchFamily="2" charset="-127"/>
              </a:rPr>
              <a:t>던전 입장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79E8BE-A2FD-7079-F30B-35B8CF7A38A5}"/>
              </a:ext>
            </a:extLst>
          </p:cNvPr>
          <p:cNvSpPr txBox="1"/>
          <p:nvPr/>
        </p:nvSpPr>
        <p:spPr>
          <a:xfrm>
            <a:off x="5367275" y="1203960"/>
            <a:ext cx="17331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페이퍼로지 6 SemiBold" pitchFamily="2" charset="-127"/>
                <a:ea typeface="페이퍼로지 6 SemiBold" pitchFamily="2" charset="-127"/>
              </a:rPr>
              <a:t>확률 포인트 자동 배분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914B3E-538E-8A77-6A98-A8AD3FF0E850}"/>
              </a:ext>
            </a:extLst>
          </p:cNvPr>
          <p:cNvSpPr txBox="1"/>
          <p:nvPr/>
        </p:nvSpPr>
        <p:spPr>
          <a:xfrm>
            <a:off x="5367275" y="2865120"/>
            <a:ext cx="5020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페이퍼로지 6 SemiBold" pitchFamily="2" charset="-127"/>
                <a:ea typeface="페이퍼로지 6 SemiBold" pitchFamily="2" charset="-127"/>
              </a:rPr>
              <a:t>전투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C000B5-41B2-CC62-EE93-C53213D4AE17}"/>
              </a:ext>
            </a:extLst>
          </p:cNvPr>
          <p:cNvSpPr txBox="1"/>
          <p:nvPr/>
        </p:nvSpPr>
        <p:spPr>
          <a:xfrm>
            <a:off x="5367275" y="4526280"/>
            <a:ext cx="11769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>
                <a:latin typeface="페이퍼로지 6 SemiBold" pitchFamily="2" charset="-127"/>
                <a:ea typeface="페이퍼로지 6 SemiBold" pitchFamily="2" charset="-127"/>
              </a:rPr>
              <a:t>어빌리티</a:t>
            </a:r>
            <a:r>
              <a:rPr lang="ko-KR" altLang="en-US" sz="1400" dirty="0">
                <a:latin typeface="페이퍼로지 6 SemiBold" pitchFamily="2" charset="-127"/>
                <a:ea typeface="페이퍼로지 6 SemiBold" pitchFamily="2" charset="-127"/>
              </a:rPr>
              <a:t> 획득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870BAF-AF61-210D-29AB-E4A209147588}"/>
              </a:ext>
            </a:extLst>
          </p:cNvPr>
          <p:cNvSpPr txBox="1"/>
          <p:nvPr/>
        </p:nvSpPr>
        <p:spPr>
          <a:xfrm>
            <a:off x="4462268" y="5941219"/>
            <a:ext cx="12811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>
                <a:latin typeface="페이퍼로지 4 Regular" pitchFamily="2" charset="-127"/>
                <a:ea typeface="페이퍼로지 4 Regular" pitchFamily="2" charset="-127"/>
              </a:rPr>
              <a:t>확률 포인트 자동 배분</a:t>
            </a:r>
          </a:p>
        </p:txBody>
      </p:sp>
    </p:spTree>
    <p:extLst>
      <p:ext uri="{BB962C8B-B14F-4D97-AF65-F5344CB8AC3E}">
        <p14:creationId xmlns:p14="http://schemas.microsoft.com/office/powerpoint/2010/main" val="3036826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B298AC-E5C4-547E-341F-D245464ECF31}"/>
              </a:ext>
            </a:extLst>
          </p:cNvPr>
          <p:cNvSpPr txBox="1"/>
          <p:nvPr/>
        </p:nvSpPr>
        <p:spPr>
          <a:xfrm>
            <a:off x="1188720" y="1143000"/>
            <a:ext cx="144943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코어 루프</a:t>
            </a:r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/>
              <a:t>던전 입장</a:t>
            </a:r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확률 조절</a:t>
            </a:r>
            <a:endParaRPr lang="en-US" altLang="ko-KR" dirty="0"/>
          </a:p>
          <a:p>
            <a:r>
              <a:rPr lang="en-US" altLang="ko-KR" dirty="0"/>
              <a:t>3. </a:t>
            </a:r>
            <a:r>
              <a:rPr lang="ko-KR" altLang="en-US" dirty="0"/>
              <a:t>전투</a:t>
            </a:r>
            <a:endParaRPr lang="en-US" altLang="ko-KR" dirty="0"/>
          </a:p>
          <a:p>
            <a:r>
              <a:rPr lang="en-US" altLang="ko-KR" dirty="0"/>
              <a:t>4. </a:t>
            </a:r>
            <a:r>
              <a:rPr lang="ko-KR" altLang="en-US" dirty="0"/>
              <a:t>보상</a:t>
            </a:r>
            <a:endParaRPr lang="en-US" altLang="ko-KR" dirty="0"/>
          </a:p>
          <a:p>
            <a:r>
              <a:rPr lang="en-US" altLang="ko-KR" dirty="0"/>
              <a:t>5. </a:t>
            </a:r>
            <a:r>
              <a:rPr lang="ko-KR" altLang="en-US" dirty="0"/>
              <a:t>성장</a:t>
            </a:r>
            <a:endParaRPr lang="en-US" altLang="ko-KR" dirty="0"/>
          </a:p>
          <a:p>
            <a:r>
              <a:rPr lang="en-US" altLang="ko-KR" dirty="0"/>
              <a:t>6. </a:t>
            </a:r>
            <a:r>
              <a:rPr lang="ko-KR" altLang="en-US" dirty="0"/>
              <a:t>전략 설계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905679-32BC-A861-09B1-76D514FD5449}"/>
              </a:ext>
            </a:extLst>
          </p:cNvPr>
          <p:cNvSpPr txBox="1"/>
          <p:nvPr/>
        </p:nvSpPr>
        <p:spPr>
          <a:xfrm>
            <a:off x="3703320" y="1143000"/>
            <a:ext cx="11360802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던전 목록</a:t>
            </a:r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 err="1"/>
              <a:t>파밍</a:t>
            </a:r>
            <a:r>
              <a:rPr lang="ko-KR" altLang="en-US" dirty="0"/>
              <a:t> 던전 </a:t>
            </a:r>
            <a:r>
              <a:rPr lang="en-US" altLang="ko-KR" dirty="0"/>
              <a:t>: </a:t>
            </a:r>
            <a:r>
              <a:rPr lang="ko-KR" altLang="en-US" dirty="0"/>
              <a:t>장비 획득 </a:t>
            </a:r>
            <a:r>
              <a:rPr lang="en-US" altLang="ko-KR" dirty="0"/>
              <a:t>/ </a:t>
            </a:r>
            <a:r>
              <a:rPr lang="ko-KR" altLang="en-US" dirty="0"/>
              <a:t>스킬 획득 등 </a:t>
            </a:r>
            <a:r>
              <a:rPr lang="ko-KR" altLang="en-US" dirty="0" err="1"/>
              <a:t>파밍</a:t>
            </a:r>
            <a:r>
              <a:rPr lang="ko-KR" altLang="en-US" dirty="0"/>
              <a:t> 위주의 </a:t>
            </a:r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스테이지 </a:t>
            </a:r>
            <a:r>
              <a:rPr lang="en-US" altLang="ko-KR" dirty="0"/>
              <a:t>: </a:t>
            </a:r>
            <a:r>
              <a:rPr lang="ko-KR" altLang="en-US" dirty="0"/>
              <a:t>진행도 증가 위주</a:t>
            </a:r>
            <a:endParaRPr lang="en-US" altLang="ko-KR" dirty="0"/>
          </a:p>
          <a:p>
            <a:r>
              <a:rPr lang="en-US" altLang="ko-KR" dirty="0"/>
              <a:t>3. </a:t>
            </a:r>
            <a:r>
              <a:rPr lang="ko-KR" altLang="en-US" dirty="0"/>
              <a:t>돌발 </a:t>
            </a:r>
            <a:r>
              <a:rPr lang="en-US" altLang="ko-KR" dirty="0"/>
              <a:t>: </a:t>
            </a:r>
            <a:r>
              <a:rPr lang="ko-KR" altLang="en-US" dirty="0"/>
              <a:t>일정 스테이지가 높은 난이도 높은 보상으로 제한 시간 동안 변경</a:t>
            </a:r>
            <a:endParaRPr lang="en-US" altLang="ko-KR" dirty="0"/>
          </a:p>
          <a:p>
            <a:r>
              <a:rPr lang="en-US" altLang="ko-KR" dirty="0"/>
              <a:t>4. </a:t>
            </a:r>
            <a:r>
              <a:rPr lang="ko-KR" altLang="en-US" dirty="0"/>
              <a:t>특수 </a:t>
            </a:r>
            <a:r>
              <a:rPr lang="en-US" altLang="ko-KR" dirty="0"/>
              <a:t>: </a:t>
            </a:r>
            <a:r>
              <a:rPr lang="ko-KR" altLang="en-US" dirty="0"/>
              <a:t>일일 입장 횟수 제한 </a:t>
            </a:r>
            <a:r>
              <a:rPr lang="en-US" altLang="ko-KR" dirty="0"/>
              <a:t>/ </a:t>
            </a:r>
            <a:r>
              <a:rPr lang="ko-KR" altLang="en-US" dirty="0"/>
              <a:t>더 높은 보상 획득 가능</a:t>
            </a:r>
            <a:r>
              <a:rPr lang="en-US" altLang="ko-KR" dirty="0"/>
              <a:t>. / </a:t>
            </a:r>
            <a:r>
              <a:rPr lang="ko-KR" altLang="en-US" dirty="0"/>
              <a:t>스킬 </a:t>
            </a:r>
            <a:r>
              <a:rPr lang="en-US" altLang="ko-KR" dirty="0"/>
              <a:t>&amp; </a:t>
            </a:r>
            <a:r>
              <a:rPr lang="ko-KR" altLang="en-US" dirty="0" err="1"/>
              <a:t>어빌리티</a:t>
            </a:r>
            <a:r>
              <a:rPr lang="ko-KR" altLang="en-US" dirty="0"/>
              <a:t> 조합이 중요한 컨텐츠</a:t>
            </a:r>
            <a:endParaRPr lang="en-US" altLang="ko-KR" dirty="0"/>
          </a:p>
          <a:p>
            <a:r>
              <a:rPr lang="en-US" altLang="ko-KR" dirty="0"/>
              <a:t>5.</a:t>
            </a:r>
            <a:r>
              <a:rPr lang="ko-KR" altLang="en-US" dirty="0"/>
              <a:t> 경쟁 </a:t>
            </a:r>
            <a:r>
              <a:rPr lang="en-US" altLang="ko-KR" dirty="0"/>
              <a:t>: </a:t>
            </a:r>
            <a:r>
              <a:rPr lang="ko-KR" altLang="en-US" dirty="0"/>
              <a:t>랭킹 경쟁 </a:t>
            </a:r>
            <a:r>
              <a:rPr lang="en-US" altLang="ko-KR" dirty="0"/>
              <a:t>PVE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시즌 단위 초기화 </a:t>
            </a:r>
            <a:r>
              <a:rPr lang="en-US" altLang="ko-KR" dirty="0"/>
              <a:t>/ </a:t>
            </a:r>
            <a:r>
              <a:rPr lang="ko-KR" altLang="en-US" dirty="0"/>
              <a:t>주마다 달라지는 밴 카드 등 </a:t>
            </a:r>
            <a:r>
              <a:rPr lang="en-US" altLang="ko-KR" dirty="0"/>
              <a:t>/ </a:t>
            </a:r>
            <a:r>
              <a:rPr lang="ko-KR" altLang="en-US" dirty="0"/>
              <a:t>클리어 속도</a:t>
            </a:r>
            <a:r>
              <a:rPr lang="en-US" altLang="ko-KR" dirty="0"/>
              <a:t>, </a:t>
            </a:r>
            <a:r>
              <a:rPr lang="ko-KR" altLang="en-US" dirty="0"/>
              <a:t>점수 등을 기준으로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등등</a:t>
            </a:r>
            <a:endParaRPr lang="en-US" altLang="ko-KR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4A0A08F-E02D-D2C8-84B7-85BC143A27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336064"/>
              </p:ext>
            </p:extLst>
          </p:nvPr>
        </p:nvGraphicFramePr>
        <p:xfrm>
          <a:off x="294640" y="4224866"/>
          <a:ext cx="12655234" cy="15595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983230">
                  <a:extLst>
                    <a:ext uri="{9D8B030D-6E8A-4147-A177-3AD203B41FA5}">
                      <a16:colId xmlns:a16="http://schemas.microsoft.com/office/drawing/2014/main" val="2310222826"/>
                    </a:ext>
                  </a:extLst>
                </a:gridCol>
                <a:gridCol w="3130868">
                  <a:extLst>
                    <a:ext uri="{9D8B030D-6E8A-4147-A177-3AD203B41FA5}">
                      <a16:colId xmlns:a16="http://schemas.microsoft.com/office/drawing/2014/main" val="534211221"/>
                    </a:ext>
                  </a:extLst>
                </a:gridCol>
                <a:gridCol w="4257993">
                  <a:extLst>
                    <a:ext uri="{9D8B030D-6E8A-4147-A177-3AD203B41FA5}">
                      <a16:colId xmlns:a16="http://schemas.microsoft.com/office/drawing/2014/main" val="3468550149"/>
                    </a:ext>
                  </a:extLst>
                </a:gridCol>
                <a:gridCol w="2283143">
                  <a:extLst>
                    <a:ext uri="{9D8B030D-6E8A-4147-A177-3AD203B41FA5}">
                      <a16:colId xmlns:a16="http://schemas.microsoft.com/office/drawing/2014/main" val="35799549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순간 </a:t>
                      </a:r>
                      <a:r>
                        <a:rPr lang="ko-KR" altLang="en-US" dirty="0" err="1"/>
                        <a:t>순간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시간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40006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1. </a:t>
                      </a:r>
                      <a:r>
                        <a:rPr lang="ko-KR" altLang="en-US" dirty="0"/>
                        <a:t>방향 및 공격 대상 탐색</a:t>
                      </a:r>
                      <a:r>
                        <a:rPr lang="en-US" altLang="ko-KR" dirty="0"/>
                        <a:t> </a:t>
                      </a:r>
                    </a:p>
                    <a:p>
                      <a:pPr algn="l" latinLnBrk="1"/>
                      <a:r>
                        <a:rPr lang="en-US" altLang="ko-KR" dirty="0"/>
                        <a:t>2. </a:t>
                      </a:r>
                      <a:r>
                        <a:rPr lang="ko-KR" altLang="en-US" dirty="0"/>
                        <a:t>공격 범위 내로 이동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3. </a:t>
                      </a:r>
                      <a:r>
                        <a:rPr lang="ko-KR" altLang="en-US" dirty="0"/>
                        <a:t>적의 공격 회피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4. </a:t>
                      </a:r>
                      <a:r>
                        <a:rPr lang="ko-KR" altLang="en-US" dirty="0"/>
                        <a:t>전투 경험 획득</a:t>
                      </a:r>
                      <a:endParaRPr lang="en-US" altLang="ko-KR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1. </a:t>
                      </a:r>
                      <a:r>
                        <a:rPr lang="ko-KR" altLang="en-US" dirty="0"/>
                        <a:t>클리어 조건 파악 후 실행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2. </a:t>
                      </a:r>
                      <a:r>
                        <a:rPr lang="ko-KR" altLang="en-US" dirty="0"/>
                        <a:t>적 처치 후 경험치 획득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3. </a:t>
                      </a:r>
                      <a:r>
                        <a:rPr lang="ko-KR" altLang="en-US" dirty="0"/>
                        <a:t>전략적인 </a:t>
                      </a:r>
                      <a:r>
                        <a:rPr lang="ko-KR" altLang="en-US" dirty="0" err="1"/>
                        <a:t>어빌리티</a:t>
                      </a:r>
                      <a:r>
                        <a:rPr lang="ko-KR" altLang="en-US" dirty="0"/>
                        <a:t> 선택</a:t>
                      </a:r>
                      <a:endParaRPr lang="en-US" altLang="ko-KR" dirty="0"/>
                    </a:p>
                    <a:p>
                      <a:pPr algn="l"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1. </a:t>
                      </a:r>
                      <a:r>
                        <a:rPr lang="ko-KR" altLang="en-US" dirty="0"/>
                        <a:t>여러 타입의 던전 진행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2. </a:t>
                      </a:r>
                      <a:r>
                        <a:rPr lang="ko-KR" altLang="en-US" dirty="0"/>
                        <a:t>스탯 증가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스킬 습득 등 영구적 성장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3. </a:t>
                      </a:r>
                      <a:r>
                        <a:rPr lang="ko-KR" altLang="en-US" dirty="0"/>
                        <a:t>과금을 통한 빠른 성장</a:t>
                      </a:r>
                      <a:endParaRPr lang="en-US" altLang="ko-KR" dirty="0"/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dirty="0"/>
                        <a:t>1. </a:t>
                      </a:r>
                      <a:r>
                        <a:rPr lang="ko-KR" altLang="en-US" dirty="0"/>
                        <a:t>일일 과제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2. </a:t>
                      </a:r>
                      <a:r>
                        <a:rPr lang="ko-KR" altLang="en-US" dirty="0"/>
                        <a:t>주간 과제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3. </a:t>
                      </a:r>
                      <a:r>
                        <a:rPr lang="ko-KR" altLang="en-US" dirty="0"/>
                        <a:t>출석 보상 획득</a:t>
                      </a:r>
                      <a:endParaRPr lang="en-US" altLang="ko-KR" dirty="0"/>
                    </a:p>
                    <a:p>
                      <a:pPr algn="l" latinLnBrk="1"/>
                      <a:r>
                        <a:rPr lang="en-US" altLang="ko-KR" dirty="0"/>
                        <a:t>4. </a:t>
                      </a:r>
                      <a:r>
                        <a:rPr lang="ko-KR" altLang="en-US" dirty="0"/>
                        <a:t>상위 던전에 도전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82783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6E2B163-B8ED-6E76-874A-5AE99558C86B}"/>
              </a:ext>
            </a:extLst>
          </p:cNvPr>
          <p:cNvSpPr txBox="1"/>
          <p:nvPr/>
        </p:nvSpPr>
        <p:spPr>
          <a:xfrm>
            <a:off x="1689656" y="-5492215"/>
            <a:ext cx="9865201" cy="50783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</a:pPr>
            <a:r>
              <a:rPr lang="ko-KR" altLang="en-US" b="1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지속적으로 더 나은 게임플레이 루프를 디자인하는 법을 어떻게 배울 수 있나요</a:t>
            </a:r>
            <a:r>
              <a:rPr lang="en-US" altLang="ko-KR" b="1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?</a:t>
            </a:r>
          </a:p>
          <a:p>
            <a:pPr algn="l">
              <a:buNone/>
            </a:pP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1.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필수 사항을 기억하세요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.</a:t>
            </a:r>
          </a:p>
          <a:p>
            <a:pPr algn="l" fontAlgn="base">
              <a:buFont typeface="Arial" panose="020B0604020202020204" pitchFamily="34" charset="0"/>
              <a:buChar char="•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도전</a:t>
            </a:r>
          </a:p>
          <a:p>
            <a:pPr algn="l" fontAlgn="base">
              <a:buFont typeface="Arial" panose="020B0604020202020204" pitchFamily="34" charset="0"/>
              <a:buChar char="•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행동</a:t>
            </a:r>
          </a:p>
          <a:p>
            <a:pPr algn="l" fontAlgn="base">
              <a:buFont typeface="Arial" panose="020B0604020202020204" pitchFamily="34" charset="0"/>
              <a:buChar char="•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보상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(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또는 처벌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)</a:t>
            </a:r>
          </a:p>
          <a:p>
            <a:pPr algn="l">
              <a:buNone/>
            </a:pP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2.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그리고 이것을 게임의 모든 시간 척도에 적용하세요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: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순간순간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분 단위로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시간당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매일매일</a:t>
            </a:r>
          </a:p>
          <a:p>
            <a:pPr algn="l">
              <a:buNone/>
            </a:pP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3.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핵심 루프가 이상적인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'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재미있는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' 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플레이어 경험의 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5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가지 기둥을 모두 달성하는지 확인하세요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.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명쾌함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동기 부여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응답</a:t>
            </a:r>
          </a:p>
          <a:p>
            <a:pPr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만족</a:t>
            </a:r>
          </a:p>
          <a:p>
            <a:pPr marL="742950" lvl="1" indent="-285750" algn="l" fontAlgn="base">
              <a:buFont typeface="+mj-lt"/>
              <a:buAutoNum type="arabicPeriod"/>
            </a:pPr>
            <a:r>
              <a:rPr lang="ko-KR" altLang="en-US" b="0" i="0" dirty="0" err="1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내장성</a:t>
            </a:r>
            <a:endParaRPr lang="ko-KR" altLang="en-US" b="0" i="0" dirty="0">
              <a:solidFill>
                <a:srgbClr val="333333"/>
              </a:solidFill>
              <a:effectLst/>
              <a:latin typeface="Open Sans" panose="020B0606030504020204" pitchFamily="34" charset="0"/>
            </a:endParaRPr>
          </a:p>
          <a:p>
            <a:pPr marL="742950" lvl="1" indent="-285750" algn="l" fontAlgn="base">
              <a:buFont typeface="+mj-lt"/>
              <a:buAutoNum type="arabicPeriod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전략</a:t>
            </a:r>
          </a:p>
          <a:p>
            <a:pPr algn="l" fontAlgn="base">
              <a:buFont typeface="+mj-lt"/>
              <a:buAutoNum type="arabicPeriod" startAt="5"/>
            </a:pP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판타지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(</a:t>
            </a:r>
            <a:r>
              <a:rPr lang="ko-KR" altLang="en-US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핏</a:t>
            </a:r>
            <a:r>
              <a:rPr lang="en-US" altLang="ko-KR" b="0" i="0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319498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다이어그램 3">
            <a:extLst>
              <a:ext uri="{FF2B5EF4-FFF2-40B4-BE49-F238E27FC236}">
                <a16:creationId xmlns:a16="http://schemas.microsoft.com/office/drawing/2014/main" id="{DB0D8B33-3122-636B-BAC5-A7F1FCE3972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91821855"/>
              </p:ext>
            </p:extLst>
          </p:nvPr>
        </p:nvGraphicFramePr>
        <p:xfrm>
          <a:off x="2032000" y="719666"/>
          <a:ext cx="6591139" cy="43940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7652117-FCBA-4382-A15C-2FF30D6D18F4}"/>
              </a:ext>
            </a:extLst>
          </p:cNvPr>
          <p:cNvSpPr txBox="1"/>
          <p:nvPr/>
        </p:nvSpPr>
        <p:spPr>
          <a:xfrm>
            <a:off x="12083970" y="729205"/>
            <a:ext cx="2085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도전 </a:t>
            </a:r>
            <a:r>
              <a:rPr lang="en-US" altLang="ko-KR" dirty="0"/>
              <a:t>-</a:t>
            </a:r>
            <a:r>
              <a:rPr lang="ko-KR" altLang="en-US" dirty="0"/>
              <a:t> 행위 </a:t>
            </a:r>
            <a:r>
              <a:rPr lang="en-US" altLang="ko-KR" dirty="0"/>
              <a:t>- </a:t>
            </a:r>
            <a:r>
              <a:rPr lang="ko-KR" altLang="en-US" dirty="0"/>
              <a:t>보상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3871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B4162CEB-0309-AC74-E462-B16A5EA45B0F}"/>
              </a:ext>
            </a:extLst>
          </p:cNvPr>
          <p:cNvSpPr txBox="1"/>
          <p:nvPr/>
        </p:nvSpPr>
        <p:spPr>
          <a:xfrm>
            <a:off x="3048866" y="5814444"/>
            <a:ext cx="609426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 latinLnBrk="1"/>
            <a:r>
              <a:rPr lang="ko-KR" altLang="en-US" sz="18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적 대상 탐색 및 이동</a:t>
            </a:r>
          </a:p>
          <a:p>
            <a:pPr lvl="0" algn="ctr" latinLnBrk="1"/>
            <a:r>
              <a:rPr lang="ko-KR" altLang="en-US" sz="18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자동 공격 </a:t>
            </a:r>
            <a:r>
              <a:rPr lang="en-US" altLang="ko-KR" sz="18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&amp; </a:t>
            </a:r>
            <a:r>
              <a:rPr lang="ko-KR" altLang="en-US" sz="18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스킬</a:t>
            </a:r>
          </a:p>
          <a:p>
            <a:pPr lvl="0" algn="ctr" latinLnBrk="1"/>
            <a:r>
              <a:rPr lang="ko-KR" altLang="en-US" sz="18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적 공격 회피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F4D8DCFD-41D1-E75D-533F-7AF46FE14997}"/>
              </a:ext>
            </a:extLst>
          </p:cNvPr>
          <p:cNvGrpSpPr/>
          <p:nvPr/>
        </p:nvGrpSpPr>
        <p:grpSpPr>
          <a:xfrm>
            <a:off x="6792672" y="3877117"/>
            <a:ext cx="1188000" cy="786368"/>
            <a:chOff x="6862583" y="3751117"/>
            <a:chExt cx="1188000" cy="786368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A7FCE629-0BA0-14B5-B919-49E1879DE050}"/>
                </a:ext>
              </a:extLst>
            </p:cNvPr>
            <p:cNvSpPr/>
            <p:nvPr/>
          </p:nvSpPr>
          <p:spPr>
            <a:xfrm>
              <a:off x="6862583" y="3751117"/>
              <a:ext cx="1188000" cy="252000"/>
            </a:xfrm>
            <a:prstGeom prst="roundRect">
              <a:avLst>
                <a:gd name="adj" fmla="val 43940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성장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F70D675-82A5-16F7-A12B-2CD54C3B584E}"/>
                </a:ext>
              </a:extLst>
            </p:cNvPr>
            <p:cNvSpPr txBox="1"/>
            <p:nvPr/>
          </p:nvSpPr>
          <p:spPr>
            <a:xfrm>
              <a:off x="6892326" y="4003117"/>
              <a:ext cx="1128514" cy="534368"/>
            </a:xfrm>
            <a:prstGeom prst="rect">
              <a:avLst/>
            </a:prstGeom>
            <a:noFill/>
          </p:spPr>
          <p:txBody>
            <a:bodyPr wrap="none" lIns="0" tIns="72000" rIns="0" rtlCol="0">
              <a:spAutoFit/>
            </a:bodyPr>
            <a:lstStyle/>
            <a:p>
              <a:pPr marL="88900" lvl="0" indent="-88900">
                <a:buFont typeface="Arial" panose="020B0604020202020204" pitchFamily="34" charset="0"/>
                <a:buChar char="•"/>
              </a:pP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처치 후 경험치 획득 </a:t>
              </a:r>
              <a:endParaRPr lang="en-US" altLang="ko-KR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marL="88900" lvl="0" indent="-88900">
                <a:buFont typeface="Arial" panose="020B0604020202020204" pitchFamily="34" charset="0"/>
                <a:buChar char="•"/>
              </a:pP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레벨 업</a:t>
              </a:r>
              <a:endParaRPr lang="en-US" altLang="ko-KR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marL="88900" lvl="0" indent="-88900">
                <a:buFont typeface="Arial" panose="020B0604020202020204" pitchFamily="34" charset="0"/>
                <a:buChar char="•"/>
              </a:pPr>
              <a:r>
                <a:rPr lang="ko-KR" altLang="en-US" sz="900" dirty="0" err="1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어빌리티</a:t>
              </a: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선택</a:t>
              </a: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8B9F3739-8350-1167-3A5A-309B1A181F73}"/>
              </a:ext>
            </a:extLst>
          </p:cNvPr>
          <p:cNvGrpSpPr/>
          <p:nvPr/>
        </p:nvGrpSpPr>
        <p:grpSpPr>
          <a:xfrm>
            <a:off x="4398868" y="3877117"/>
            <a:ext cx="1188000" cy="786368"/>
            <a:chOff x="4031673" y="3751117"/>
            <a:chExt cx="1188000" cy="786368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C8E784BC-9FB8-7CAC-39B0-12423608FD91}"/>
                </a:ext>
              </a:extLst>
            </p:cNvPr>
            <p:cNvSpPr/>
            <p:nvPr/>
          </p:nvSpPr>
          <p:spPr>
            <a:xfrm>
              <a:off x="4031673" y="3751117"/>
              <a:ext cx="1188000" cy="252000"/>
            </a:xfrm>
            <a:prstGeom prst="roundRect">
              <a:avLst>
                <a:gd name="adj" fmla="val 43940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전략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EA2484-8FAF-B18E-EB11-8E45893494A5}"/>
                </a:ext>
              </a:extLst>
            </p:cNvPr>
            <p:cNvSpPr txBox="1"/>
            <p:nvPr/>
          </p:nvSpPr>
          <p:spPr>
            <a:xfrm>
              <a:off x="4139963" y="4003117"/>
              <a:ext cx="971420" cy="534368"/>
            </a:xfrm>
            <a:prstGeom prst="rect">
              <a:avLst/>
            </a:prstGeom>
            <a:noFill/>
          </p:spPr>
          <p:txBody>
            <a:bodyPr wrap="none" lIns="0" tIns="72000" rIns="0" rtlCol="0">
              <a:spAutoFit/>
            </a:bodyPr>
            <a:lstStyle>
              <a:defPPr>
                <a:defRPr lang="ko-KR"/>
              </a:defPPr>
              <a:lvl1pPr marL="88900" lvl="0" indent="-88900">
                <a:buFont typeface="Arial" panose="020B0604020202020204" pitchFamily="34" charset="0"/>
                <a:buChar char="•"/>
                <a:defRPr sz="90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defRPr>
              </a:lvl1pPr>
            </a:lstStyle>
            <a:p>
              <a:r>
                <a:rPr lang="ko-KR" altLang="en-US" dirty="0"/>
                <a:t>전투 전략 구상</a:t>
              </a:r>
            </a:p>
            <a:p>
              <a:r>
                <a:rPr lang="ko-KR" altLang="en-US" dirty="0" err="1"/>
                <a:t>어빌리티</a:t>
              </a:r>
              <a:r>
                <a:rPr lang="ko-KR" altLang="en-US" dirty="0"/>
                <a:t> 조합 활용</a:t>
              </a:r>
            </a:p>
            <a:p>
              <a:r>
                <a:rPr lang="ko-KR" altLang="en-US" dirty="0"/>
                <a:t>스킬 발동 확률 조절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4563B30-CF73-50AB-A8CB-D299FF6D06F6}"/>
              </a:ext>
            </a:extLst>
          </p:cNvPr>
          <p:cNvGrpSpPr/>
          <p:nvPr/>
        </p:nvGrpSpPr>
        <p:grpSpPr>
          <a:xfrm>
            <a:off x="5595770" y="2317173"/>
            <a:ext cx="1188000" cy="786368"/>
            <a:chOff x="5413757" y="2317173"/>
            <a:chExt cx="1188000" cy="786368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32783943-CC6D-3C2C-5694-7D693914466E}"/>
                </a:ext>
              </a:extLst>
            </p:cNvPr>
            <p:cNvSpPr/>
            <p:nvPr/>
          </p:nvSpPr>
          <p:spPr>
            <a:xfrm>
              <a:off x="5413757" y="2317173"/>
              <a:ext cx="1188000" cy="252000"/>
            </a:xfrm>
            <a:prstGeom prst="roundRect">
              <a:avLst>
                <a:gd name="adj" fmla="val 43940"/>
              </a:avLst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전투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CB73A0E-594F-7F6C-DA4C-DDBF98E4704C}"/>
                </a:ext>
              </a:extLst>
            </p:cNvPr>
            <p:cNvSpPr txBox="1"/>
            <p:nvPr/>
          </p:nvSpPr>
          <p:spPr>
            <a:xfrm>
              <a:off x="5507620" y="2569173"/>
              <a:ext cx="1000274" cy="534368"/>
            </a:xfrm>
            <a:prstGeom prst="rect">
              <a:avLst/>
            </a:prstGeom>
            <a:noFill/>
          </p:spPr>
          <p:txBody>
            <a:bodyPr wrap="none" lIns="0" tIns="72000" rIns="0" rtlCol="0">
              <a:spAutoFit/>
            </a:bodyPr>
            <a:lstStyle/>
            <a:p>
              <a:pPr marL="88900" lvl="0" indent="-88900">
                <a:buFont typeface="Arial" panose="020B0604020202020204" pitchFamily="34" charset="0"/>
                <a:buChar char="•"/>
              </a:pP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88900" lvl="0" indent="-88900">
                <a:buFont typeface="Arial" panose="020B0604020202020204" pitchFamily="34" charset="0"/>
                <a:buChar char="•"/>
              </a:pP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88900" lvl="0" indent="-88900">
                <a:buFont typeface="Arial" panose="020B0604020202020204" pitchFamily="34" charset="0"/>
                <a:buChar char="•"/>
              </a:pP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1554F951-EE60-098B-1C5D-7FD4B58F20AB}"/>
              </a:ext>
            </a:extLst>
          </p:cNvPr>
          <p:cNvCxnSpPr>
            <a:cxnSpLocks/>
          </p:cNvCxnSpPr>
          <p:nvPr/>
        </p:nvCxnSpPr>
        <p:spPr>
          <a:xfrm>
            <a:off x="5802674" y="4003117"/>
            <a:ext cx="7741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317D1D6-02F0-E941-FB98-79C93C2A0813}"/>
              </a:ext>
            </a:extLst>
          </p:cNvPr>
          <p:cNvCxnSpPr>
            <a:cxnSpLocks/>
          </p:cNvCxnSpPr>
          <p:nvPr/>
        </p:nvCxnSpPr>
        <p:spPr>
          <a:xfrm flipV="1">
            <a:off x="5410021" y="3201948"/>
            <a:ext cx="362596" cy="5181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9C1808C3-F3DA-D312-9A1E-DE0CE16F87DF}"/>
              </a:ext>
            </a:extLst>
          </p:cNvPr>
          <p:cNvCxnSpPr>
            <a:cxnSpLocks/>
          </p:cNvCxnSpPr>
          <p:nvPr/>
        </p:nvCxnSpPr>
        <p:spPr>
          <a:xfrm flipH="1" flipV="1">
            <a:off x="6606923" y="3201948"/>
            <a:ext cx="362596" cy="5181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F5EA970-64A0-3972-A775-6A336C673A6C}"/>
              </a:ext>
            </a:extLst>
          </p:cNvPr>
          <p:cNvSpPr/>
          <p:nvPr/>
        </p:nvSpPr>
        <p:spPr>
          <a:xfrm>
            <a:off x="11004000" y="3949002"/>
            <a:ext cx="1188000" cy="252000"/>
          </a:xfrm>
          <a:prstGeom prst="roundRect">
            <a:avLst>
              <a:gd name="adj" fmla="val 4394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성장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5CB8ACB-8DBD-443F-93C7-C3AE53AF77CF}"/>
              </a:ext>
            </a:extLst>
          </p:cNvPr>
          <p:cNvSpPr txBox="1"/>
          <p:nvPr/>
        </p:nvSpPr>
        <p:spPr>
          <a:xfrm>
            <a:off x="11033743" y="4201002"/>
            <a:ext cx="1128514" cy="534368"/>
          </a:xfrm>
          <a:prstGeom prst="rect">
            <a:avLst/>
          </a:prstGeom>
          <a:noFill/>
        </p:spPr>
        <p:txBody>
          <a:bodyPr wrap="none" lIns="0" tIns="72000" rIns="0" rtlCol="0">
            <a:spAutoFit/>
          </a:bodyPr>
          <a:lstStyle/>
          <a:p>
            <a:pPr marL="88900" lvl="0" indent="-88900">
              <a:buFont typeface="Arial" panose="020B0604020202020204" pitchFamily="34" charset="0"/>
              <a:buChar char="•"/>
            </a:pPr>
            <a:r>
              <a:rPr lang="ko-KR" altLang="en-US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적 처치 후 경험치 획득 </a:t>
            </a:r>
            <a:endParaRPr lang="en-US" altLang="ko-KR" sz="9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88900" lvl="0" indent="-88900">
              <a:buFont typeface="Arial" panose="020B0604020202020204" pitchFamily="34" charset="0"/>
              <a:buChar char="•"/>
            </a:pPr>
            <a:r>
              <a:rPr lang="ko-KR" altLang="en-US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레벨 업</a:t>
            </a:r>
            <a:endParaRPr lang="en-US" altLang="ko-KR" sz="9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88900" lvl="0" indent="-88900">
              <a:buFont typeface="Arial" panose="020B0604020202020204" pitchFamily="34" charset="0"/>
              <a:buChar char="•"/>
            </a:pPr>
            <a:r>
              <a:rPr lang="ko-KR" altLang="en-US" sz="9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어빌리티</a:t>
            </a:r>
            <a:r>
              <a:rPr lang="ko-KR" altLang="en-US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선택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6B7A7BC1-9755-198E-3CF2-2D733DD021E0}"/>
              </a:ext>
            </a:extLst>
          </p:cNvPr>
          <p:cNvSpPr/>
          <p:nvPr/>
        </p:nvSpPr>
        <p:spPr>
          <a:xfrm>
            <a:off x="8610196" y="3949002"/>
            <a:ext cx="1188000" cy="252000"/>
          </a:xfrm>
          <a:prstGeom prst="roundRect">
            <a:avLst>
              <a:gd name="adj" fmla="val 4394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전략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B60628D-E5A2-3DDB-662F-79581A5D32A7}"/>
              </a:ext>
            </a:extLst>
          </p:cNvPr>
          <p:cNvSpPr txBox="1"/>
          <p:nvPr/>
        </p:nvSpPr>
        <p:spPr>
          <a:xfrm>
            <a:off x="8718486" y="4201002"/>
            <a:ext cx="971420" cy="534368"/>
          </a:xfrm>
          <a:prstGeom prst="rect">
            <a:avLst/>
          </a:prstGeom>
          <a:noFill/>
        </p:spPr>
        <p:txBody>
          <a:bodyPr wrap="none" lIns="0" tIns="72000" rIns="0" rtlCol="0">
            <a:spAutoFit/>
          </a:bodyPr>
          <a:lstStyle>
            <a:defPPr>
              <a:defRPr lang="ko-KR"/>
            </a:defPPr>
            <a:lvl1pPr marL="88900" lvl="0" indent="-88900">
              <a:buFont typeface="Arial" panose="020B0604020202020204" pitchFamily="34" charset="0"/>
              <a:buChar char="•"/>
              <a:defRPr sz="9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전투 전략 구상</a:t>
            </a:r>
          </a:p>
          <a:p>
            <a:r>
              <a:rPr lang="ko-KR" altLang="en-US" dirty="0" err="1"/>
              <a:t>어빌리티</a:t>
            </a:r>
            <a:r>
              <a:rPr lang="ko-KR" altLang="en-US" dirty="0"/>
              <a:t> 조합 활용</a:t>
            </a:r>
          </a:p>
          <a:p>
            <a:r>
              <a:rPr lang="ko-KR" altLang="en-US" dirty="0"/>
              <a:t>스킬 발동 확률 조절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D38DF746-4C82-813D-A841-EDB7B14C37EF}"/>
              </a:ext>
            </a:extLst>
          </p:cNvPr>
          <p:cNvSpPr/>
          <p:nvPr/>
        </p:nvSpPr>
        <p:spPr>
          <a:xfrm>
            <a:off x="9807098" y="2798043"/>
            <a:ext cx="1188000" cy="252000"/>
          </a:xfrm>
          <a:prstGeom prst="roundRect">
            <a:avLst>
              <a:gd name="adj" fmla="val 4394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>
                <a:solidFill>
                  <a:schemeClr val="tx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전투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235E02-A5D8-74F7-FDA8-ADB5968D87D6}"/>
              </a:ext>
            </a:extLst>
          </p:cNvPr>
          <p:cNvSpPr txBox="1"/>
          <p:nvPr/>
        </p:nvSpPr>
        <p:spPr>
          <a:xfrm>
            <a:off x="9900961" y="2237138"/>
            <a:ext cx="1000274" cy="560905"/>
          </a:xfrm>
          <a:prstGeom prst="rect">
            <a:avLst/>
          </a:prstGeom>
          <a:noFill/>
        </p:spPr>
        <p:txBody>
          <a:bodyPr wrap="none" lIns="0" tIns="72000" rIns="0" bIns="72000" rtlCol="0">
            <a:spAutoFit/>
          </a:bodyPr>
          <a:lstStyle/>
          <a:p>
            <a:pPr marL="88900" lvl="0" indent="-88900">
              <a:buFont typeface="Arial" panose="020B0604020202020204" pitchFamily="34" charset="0"/>
              <a:buChar char="•"/>
            </a:pPr>
            <a:r>
              <a:rPr lang="ko-KR" altLang="en-US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적 대상 탐색 및 이동</a:t>
            </a:r>
          </a:p>
          <a:p>
            <a:pPr marL="88900" lvl="0" indent="-88900">
              <a:buFont typeface="Arial" panose="020B0604020202020204" pitchFamily="34" charset="0"/>
              <a:buChar char="•"/>
            </a:pPr>
            <a:r>
              <a:rPr lang="ko-KR" altLang="en-US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자동 공격 </a:t>
            </a:r>
            <a:r>
              <a:rPr lang="en-US" altLang="ko-KR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&amp; </a:t>
            </a:r>
            <a:r>
              <a:rPr lang="ko-KR" altLang="en-US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스킬</a:t>
            </a:r>
          </a:p>
          <a:p>
            <a:pPr marL="88900" lvl="0" indent="-88900">
              <a:buFont typeface="Arial" panose="020B0604020202020204" pitchFamily="34" charset="0"/>
              <a:buChar char="•"/>
            </a:pPr>
            <a:r>
              <a:rPr lang="ko-KR" altLang="en-US" sz="9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적 공격 회피</a:t>
            </a:r>
          </a:p>
        </p:txBody>
      </p: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ED23C460-A730-87CC-F6F6-9A451C35A588}"/>
              </a:ext>
            </a:extLst>
          </p:cNvPr>
          <p:cNvCxnSpPr>
            <a:cxnSpLocks/>
          </p:cNvCxnSpPr>
          <p:nvPr/>
        </p:nvCxnSpPr>
        <p:spPr>
          <a:xfrm>
            <a:off x="10014002" y="4003117"/>
            <a:ext cx="77419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691857C1-1665-080C-0351-C65809DA858E}"/>
              </a:ext>
            </a:extLst>
          </p:cNvPr>
          <p:cNvCxnSpPr>
            <a:cxnSpLocks/>
          </p:cNvCxnSpPr>
          <p:nvPr/>
        </p:nvCxnSpPr>
        <p:spPr>
          <a:xfrm flipV="1">
            <a:off x="9616898" y="3201948"/>
            <a:ext cx="362596" cy="5181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4DAB6AB-D32D-AA84-DEE9-A18076F0DD99}"/>
              </a:ext>
            </a:extLst>
          </p:cNvPr>
          <p:cNvCxnSpPr>
            <a:cxnSpLocks/>
          </p:cNvCxnSpPr>
          <p:nvPr/>
        </p:nvCxnSpPr>
        <p:spPr>
          <a:xfrm flipH="1" flipV="1">
            <a:off x="10901235" y="3201948"/>
            <a:ext cx="362596" cy="5181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직선 연결선 3">
            <a:extLst>
              <a:ext uri="{FF2B5EF4-FFF2-40B4-BE49-F238E27FC236}">
                <a16:creationId xmlns:a16="http://schemas.microsoft.com/office/drawing/2014/main" id="{DF5F3088-2AC8-484A-C448-4D6E6544DEF5}"/>
              </a:ext>
            </a:extLst>
          </p:cNvPr>
          <p:cNvSpPr/>
          <p:nvPr/>
        </p:nvSpPr>
        <p:spPr>
          <a:xfrm>
            <a:off x="4348703" y="1681703"/>
            <a:ext cx="3494594" cy="3494594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2769285" y="330050"/>
                </a:moveTo>
                <a:arcTo wR="1747297" hR="1747297" stAng="18347740" swAng="3648625"/>
              </a:path>
            </a:pathLst>
          </a:custGeom>
          <a:noFill/>
        </p:spPr>
        <p:style>
          <a:lnRef idx="1">
            <a:schemeClr val="accent2"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73" name="직선 연결선 4">
            <a:extLst>
              <a:ext uri="{FF2B5EF4-FFF2-40B4-BE49-F238E27FC236}">
                <a16:creationId xmlns:a16="http://schemas.microsoft.com/office/drawing/2014/main" id="{616D7561-C15E-7CC1-6F17-1201D74F03EF}"/>
              </a:ext>
            </a:extLst>
          </p:cNvPr>
          <p:cNvSpPr/>
          <p:nvPr/>
        </p:nvSpPr>
        <p:spPr>
          <a:xfrm>
            <a:off x="4348703" y="1681703"/>
            <a:ext cx="3494594" cy="3494594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2579194" y="3283849"/>
                </a:moveTo>
                <a:arcTo wR="1747297" hR="1747297" stAng="3694119" swAng="3411761"/>
              </a:path>
            </a:pathLst>
          </a:custGeom>
          <a:noFill/>
        </p:spPr>
        <p:style>
          <a:lnRef idx="1">
            <a:schemeClr val="accent3"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74" name="직선 연결선 5">
            <a:extLst>
              <a:ext uri="{FF2B5EF4-FFF2-40B4-BE49-F238E27FC236}">
                <a16:creationId xmlns:a16="http://schemas.microsoft.com/office/drawing/2014/main" id="{BA2DF82D-C411-3743-BAFC-6EA23EB93579}"/>
              </a:ext>
            </a:extLst>
          </p:cNvPr>
          <p:cNvSpPr/>
          <p:nvPr/>
        </p:nvSpPr>
        <p:spPr>
          <a:xfrm>
            <a:off x="4348703" y="1681703"/>
            <a:ext cx="3494594" cy="3494594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11601" y="1948311"/>
                </a:moveTo>
                <a:arcTo wR="1747297" hR="1747297" stAng="10403635" swAng="3648625"/>
              </a:path>
            </a:pathLst>
          </a:custGeom>
          <a:noFill/>
        </p:spPr>
        <p:style>
          <a:lnRef idx="1">
            <a:schemeClr val="accent4"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ko-KR" altLang="en-US"/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240A9F19-2DD2-AA9E-AFE1-4FFDA3AE53E8}"/>
              </a:ext>
            </a:extLst>
          </p:cNvPr>
          <p:cNvGrpSpPr/>
          <p:nvPr/>
        </p:nvGrpSpPr>
        <p:grpSpPr>
          <a:xfrm>
            <a:off x="3575459" y="1041297"/>
            <a:ext cx="5041082" cy="3930484"/>
            <a:chOff x="3575459" y="1463758"/>
            <a:chExt cx="5041082" cy="3930484"/>
          </a:xfrm>
        </p:grpSpPr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0AF9CD7F-4D99-0351-D11F-F90B0A26F086}"/>
                </a:ext>
              </a:extLst>
            </p:cNvPr>
            <p:cNvGrpSpPr/>
            <p:nvPr/>
          </p:nvGrpSpPr>
          <p:grpSpPr>
            <a:xfrm>
              <a:off x="5088663" y="1463758"/>
              <a:ext cx="2014674" cy="1309538"/>
              <a:chOff x="2288232" y="1484"/>
              <a:chExt cx="2014674" cy="1309538"/>
            </a:xfrm>
          </p:grpSpPr>
          <p:sp>
            <p:nvSpPr>
              <p:cNvPr id="91" name="사각형: 둥근 모서리 90">
                <a:extLst>
                  <a:ext uri="{FF2B5EF4-FFF2-40B4-BE49-F238E27FC236}">
                    <a16:creationId xmlns:a16="http://schemas.microsoft.com/office/drawing/2014/main" id="{1F71701E-C4B7-452B-F3A2-E929F256F959}"/>
                  </a:ext>
                </a:extLst>
              </p:cNvPr>
              <p:cNvSpPr/>
              <p:nvPr/>
            </p:nvSpPr>
            <p:spPr>
              <a:xfrm>
                <a:off x="2288232" y="1484"/>
                <a:ext cx="2014674" cy="1309538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2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2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92" name="사각형: 둥근 모서리 4">
                <a:extLst>
                  <a:ext uri="{FF2B5EF4-FFF2-40B4-BE49-F238E27FC236}">
                    <a16:creationId xmlns:a16="http://schemas.microsoft.com/office/drawing/2014/main" id="{B8817605-CF7D-FA9B-4812-DDDD0B0F4F91}"/>
                  </a:ext>
                </a:extLst>
              </p:cNvPr>
              <p:cNvSpPr txBox="1"/>
              <p:nvPr/>
            </p:nvSpPr>
            <p:spPr>
              <a:xfrm>
                <a:off x="2352158" y="65410"/>
                <a:ext cx="1886822" cy="118168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21600" tIns="53340" rIns="21600" bIns="53340" numCol="1" spcCol="1270" anchor="t" anchorCtr="0">
                <a:noAutofit/>
              </a:bodyPr>
              <a:lstStyle/>
              <a:p>
                <a:pPr marL="0" lvl="0" indent="0" algn="ctr" defTabSz="6223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ko-KR" altLang="en-US" sz="1400" kern="12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전투</a:t>
                </a:r>
                <a:endParaRPr lang="ko-KR" altLang="en-US" sz="1600" kern="1200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endParaRPr>
              </a:p>
              <a:p>
                <a:pPr marL="57150" lvl="1" indent="-57150" algn="ctr" defTabSz="48895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적 대상 탐색 및 이동</a:t>
                </a:r>
              </a:p>
              <a:p>
                <a:pPr marL="57150" lvl="1" indent="-57150" algn="ctr" defTabSz="48895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자동 공격 </a:t>
                </a:r>
                <a:r>
                  <a:rPr lang="en-US" altLang="ko-KR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&amp; </a:t>
                </a:r>
                <a:r>
                  <a:rPr lang="ko-KR" altLang="en-US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스킬</a:t>
                </a:r>
              </a:p>
              <a:p>
                <a:pPr marL="57150" lvl="1" indent="-57150" algn="ctr" defTabSz="48895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적 공격 회피</a:t>
                </a:r>
              </a:p>
            </p:txBody>
          </p:sp>
        </p:grp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5AF0BDCB-F060-CF9E-7DC7-6220420FF3B3}"/>
                </a:ext>
              </a:extLst>
            </p:cNvPr>
            <p:cNvGrpSpPr/>
            <p:nvPr/>
          </p:nvGrpSpPr>
          <p:grpSpPr>
            <a:xfrm>
              <a:off x="6601867" y="4084704"/>
              <a:ext cx="2014674" cy="1309538"/>
              <a:chOff x="3801436" y="2622430"/>
              <a:chExt cx="2014674" cy="1309538"/>
            </a:xfrm>
          </p:grpSpPr>
          <p:sp>
            <p:nvSpPr>
              <p:cNvPr id="89" name="사각형: 둥근 모서리 88">
                <a:extLst>
                  <a:ext uri="{FF2B5EF4-FFF2-40B4-BE49-F238E27FC236}">
                    <a16:creationId xmlns:a16="http://schemas.microsoft.com/office/drawing/2014/main" id="{4984DA7B-1C27-332D-ABA9-1F60750ABF19}"/>
                  </a:ext>
                </a:extLst>
              </p:cNvPr>
              <p:cNvSpPr/>
              <p:nvPr/>
            </p:nvSpPr>
            <p:spPr>
              <a:xfrm>
                <a:off x="3801436" y="2622430"/>
                <a:ext cx="2014674" cy="1309538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3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90" name="사각형: 둥근 모서리 6">
                <a:extLst>
                  <a:ext uri="{FF2B5EF4-FFF2-40B4-BE49-F238E27FC236}">
                    <a16:creationId xmlns:a16="http://schemas.microsoft.com/office/drawing/2014/main" id="{A0F194AF-1CA2-BC23-C5A4-09196FC791AD}"/>
                  </a:ext>
                </a:extLst>
              </p:cNvPr>
              <p:cNvSpPr txBox="1"/>
              <p:nvPr/>
            </p:nvSpPr>
            <p:spPr>
              <a:xfrm>
                <a:off x="3865362" y="2686356"/>
                <a:ext cx="1886822" cy="118168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21600" tIns="53340" rIns="21600" bIns="53340" numCol="1" spcCol="1270" anchor="t" anchorCtr="0">
                <a:noAutofit/>
              </a:bodyPr>
              <a:lstStyle/>
              <a:p>
                <a:pPr marL="0" lvl="0" indent="0" algn="ctr" defTabSz="6223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ko-KR" altLang="en-US" sz="1400" kern="12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성장</a:t>
                </a:r>
                <a:endParaRPr lang="ko-KR" altLang="en-US" sz="1600" kern="1200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endParaRPr>
              </a:p>
              <a:p>
                <a:pPr marL="57150" lvl="1" indent="-57150" algn="ctr" defTabSz="48895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경험치 획득 </a:t>
                </a:r>
                <a:r>
                  <a:rPr lang="en-US" altLang="ko-KR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&amp; </a:t>
                </a:r>
                <a:r>
                  <a:rPr lang="ko-KR" altLang="en-US" sz="1100" kern="1200" dirty="0" err="1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레벨업</a:t>
                </a:r>
                <a:endParaRPr lang="ko-KR" altLang="en-US" sz="1100" kern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  <a:p>
                <a:pPr marL="57150" lvl="1" indent="-57150" algn="ctr" defTabSz="48895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 dirty="0" err="1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어빌리티</a:t>
                </a:r>
                <a:r>
                  <a:rPr lang="ko-KR" altLang="en-US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 선택</a:t>
                </a:r>
              </a:p>
            </p:txBody>
          </p:sp>
        </p:grpSp>
        <p:grpSp>
          <p:nvGrpSpPr>
            <p:cNvPr id="86" name="그룹 85">
              <a:extLst>
                <a:ext uri="{FF2B5EF4-FFF2-40B4-BE49-F238E27FC236}">
                  <a16:creationId xmlns:a16="http://schemas.microsoft.com/office/drawing/2014/main" id="{7515D5AC-0D66-8F2C-98A7-A8843AB7898A}"/>
                </a:ext>
              </a:extLst>
            </p:cNvPr>
            <p:cNvGrpSpPr/>
            <p:nvPr/>
          </p:nvGrpSpPr>
          <p:grpSpPr>
            <a:xfrm>
              <a:off x="3575459" y="4084704"/>
              <a:ext cx="2014674" cy="1309538"/>
              <a:chOff x="775028" y="2622430"/>
              <a:chExt cx="2014674" cy="1309538"/>
            </a:xfrm>
          </p:grpSpPr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4A0CFC39-917A-FCE7-33A4-9F629BB8EDFF}"/>
                  </a:ext>
                </a:extLst>
              </p:cNvPr>
              <p:cNvSpPr/>
              <p:nvPr/>
            </p:nvSpPr>
            <p:spPr>
              <a:xfrm>
                <a:off x="775028" y="2622430"/>
                <a:ext cx="2014674" cy="1309538"/>
              </a:xfrm>
              <a:prstGeom prst="roundRect">
                <a:avLst/>
              </a:prstGeom>
              <a:solidFill>
                <a:srgbClr val="0070C0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4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88" name="사각형: 둥근 모서리 8">
                <a:extLst>
                  <a:ext uri="{FF2B5EF4-FFF2-40B4-BE49-F238E27FC236}">
                    <a16:creationId xmlns:a16="http://schemas.microsoft.com/office/drawing/2014/main" id="{89602F01-6384-C335-DEB4-62A529CBC95F}"/>
                  </a:ext>
                </a:extLst>
              </p:cNvPr>
              <p:cNvSpPr txBox="1"/>
              <p:nvPr/>
            </p:nvSpPr>
            <p:spPr>
              <a:xfrm>
                <a:off x="838954" y="2686356"/>
                <a:ext cx="1886822" cy="1181686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3340" tIns="53340" rIns="53340" bIns="53340" numCol="1" spcCol="1270" anchor="t" anchorCtr="0">
                <a:noAutofit/>
              </a:bodyPr>
              <a:lstStyle/>
              <a:p>
                <a:pPr marL="0" lvl="0" indent="0" algn="ctr" defTabSz="8001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ko-KR" altLang="en-US" sz="1400" kern="12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전략</a:t>
                </a:r>
                <a:endParaRPr lang="ko-KR" altLang="en-US" sz="1600" kern="1200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endParaRPr>
              </a:p>
              <a:p>
                <a:pPr marL="114300" lvl="1" indent="-114300" algn="ctr" defTabSz="5334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전투 전략 구상</a:t>
                </a:r>
              </a:p>
              <a:p>
                <a:pPr marL="114300" lvl="1" indent="-114300" algn="ctr" defTabSz="5334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어빌리티 조합 활용</a:t>
                </a:r>
                <a:endParaRPr lang="ko-KR" altLang="en-US" sz="1100" kern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  <a:p>
                <a:pPr marL="114300" lvl="1" indent="-114300" algn="ctr" defTabSz="5334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Char char="•"/>
                </a:pPr>
                <a:r>
                  <a:rPr lang="ko-KR" altLang="en-US" sz="1100" kern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스킬 발동 확률 조절</a:t>
                </a:r>
                <a:endParaRPr lang="ko-KR" altLang="en-US" sz="1100" kern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61140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그룹 80">
            <a:extLst>
              <a:ext uri="{FF2B5EF4-FFF2-40B4-BE49-F238E27FC236}">
                <a16:creationId xmlns:a16="http://schemas.microsoft.com/office/drawing/2014/main" id="{43AFD7CC-59B5-445B-042D-C485E5BC1757}"/>
              </a:ext>
            </a:extLst>
          </p:cNvPr>
          <p:cNvGrpSpPr/>
          <p:nvPr/>
        </p:nvGrpSpPr>
        <p:grpSpPr>
          <a:xfrm flipH="1" flipV="1">
            <a:off x="4348703" y="-1570882"/>
            <a:ext cx="3494594" cy="3494594"/>
            <a:chOff x="4348703" y="1681703"/>
            <a:chExt cx="3494594" cy="3494594"/>
          </a:xfrm>
        </p:grpSpPr>
        <p:sp>
          <p:nvSpPr>
            <p:cNvPr id="82" name="직선 연결선 3">
              <a:extLst>
                <a:ext uri="{FF2B5EF4-FFF2-40B4-BE49-F238E27FC236}">
                  <a16:creationId xmlns:a16="http://schemas.microsoft.com/office/drawing/2014/main" id="{0FBA4A02-AC9D-BD0D-DF5F-6D7112B69130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2769285" y="330050"/>
                  </a:moveTo>
                  <a:arcTo wR="1747297" hR="1747297" stAng="18347740" swAng="3648625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2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 dirty="0"/>
            </a:p>
          </p:txBody>
        </p:sp>
        <p:sp>
          <p:nvSpPr>
            <p:cNvPr id="83" name="직선 연결선 4">
              <a:extLst>
                <a:ext uri="{FF2B5EF4-FFF2-40B4-BE49-F238E27FC236}">
                  <a16:creationId xmlns:a16="http://schemas.microsoft.com/office/drawing/2014/main" id="{4CE7072F-2A61-00E7-26BC-0BC22FF890AC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2579194" y="3283849"/>
                  </a:moveTo>
                  <a:arcTo wR="1747297" hR="1747297" stAng="3694119" swAng="3411761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3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84" name="직선 연결선 5">
              <a:extLst>
                <a:ext uri="{FF2B5EF4-FFF2-40B4-BE49-F238E27FC236}">
                  <a16:creationId xmlns:a16="http://schemas.microsoft.com/office/drawing/2014/main" id="{54833283-4286-3D22-79C1-98100556B885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11601" y="1948311"/>
                  </a:moveTo>
                  <a:arcTo wR="1747297" hR="1747297" stAng="10403635" swAng="3648625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4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3DB42299-8B62-C980-55A5-B5F8F1D56C79}"/>
              </a:ext>
            </a:extLst>
          </p:cNvPr>
          <p:cNvGrpSpPr/>
          <p:nvPr/>
        </p:nvGrpSpPr>
        <p:grpSpPr>
          <a:xfrm>
            <a:off x="3575459" y="1041297"/>
            <a:ext cx="5041082" cy="4135000"/>
            <a:chOff x="3575459" y="1041297"/>
            <a:chExt cx="5041082" cy="4135000"/>
          </a:xfrm>
        </p:grpSpPr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5391145D-73CF-5500-5A92-9ED3BA0489B5}"/>
                </a:ext>
              </a:extLst>
            </p:cNvPr>
            <p:cNvGrpSpPr/>
            <p:nvPr/>
          </p:nvGrpSpPr>
          <p:grpSpPr>
            <a:xfrm>
              <a:off x="4348703" y="1661383"/>
              <a:ext cx="3494594" cy="3514914"/>
              <a:chOff x="4348703" y="1661383"/>
              <a:chExt cx="3494594" cy="3514914"/>
            </a:xfrm>
          </p:grpSpPr>
          <p:sp>
            <p:nvSpPr>
              <p:cNvPr id="16" name="직선 연결선 3">
                <a:extLst>
                  <a:ext uri="{FF2B5EF4-FFF2-40B4-BE49-F238E27FC236}">
                    <a16:creationId xmlns:a16="http://schemas.microsoft.com/office/drawing/2014/main" id="{6CC5408A-D505-9796-ABB9-D336CE539482}"/>
                  </a:ext>
                </a:extLst>
              </p:cNvPr>
              <p:cNvSpPr/>
              <p:nvPr/>
            </p:nvSpPr>
            <p:spPr>
              <a:xfrm>
                <a:off x="4348703" y="1681703"/>
                <a:ext cx="3494594" cy="3494594"/>
              </a:xfrm>
              <a:custGeom>
                <a:avLst/>
                <a:gdLst/>
                <a:ahLst/>
                <a:cxnLst/>
                <a:rect l="0" t="0" r="0" b="0"/>
                <a:pathLst>
                  <a:path>
                    <a:moveTo>
                      <a:pt x="2769285" y="330050"/>
                    </a:moveTo>
                    <a:arcTo wR="1747297" hR="1747297" stAng="18347740" swAng="3648625"/>
                  </a:path>
                </a:pathLst>
              </a:custGeom>
              <a:noFill/>
              <a:ln w="41275">
                <a:solidFill>
                  <a:srgbClr val="FF0000"/>
                </a:solidFill>
              </a:ln>
            </p:spPr>
            <p:style>
              <a:lnRef idx="1">
                <a:schemeClr val="accent2">
                  <a:hueOff val="0"/>
                  <a:satOff val="0"/>
                  <a:lumOff val="0"/>
                  <a:alphaOff val="0"/>
                </a:schemeClr>
              </a:lnRef>
              <a:fillRef idx="0">
                <a:scrgbClr r="0" g="0" b="0"/>
              </a:fillRef>
              <a:effectRef idx="0">
                <a:schemeClr val="accent2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17" name="직선 연결선 4">
                <a:extLst>
                  <a:ext uri="{FF2B5EF4-FFF2-40B4-BE49-F238E27FC236}">
                    <a16:creationId xmlns:a16="http://schemas.microsoft.com/office/drawing/2014/main" id="{A8C737C1-2844-88DF-1595-E59CE4EB2C31}"/>
                  </a:ext>
                </a:extLst>
              </p:cNvPr>
              <p:cNvSpPr/>
              <p:nvPr/>
            </p:nvSpPr>
            <p:spPr>
              <a:xfrm>
                <a:off x="4348703" y="1661383"/>
                <a:ext cx="3494594" cy="3494594"/>
              </a:xfrm>
              <a:custGeom>
                <a:avLst/>
                <a:gdLst/>
                <a:ahLst/>
                <a:cxnLst/>
                <a:rect l="0" t="0" r="0" b="0"/>
                <a:pathLst>
                  <a:path>
                    <a:moveTo>
                      <a:pt x="2579194" y="3283849"/>
                    </a:moveTo>
                    <a:arcTo wR="1747297" hR="1747297" stAng="3694119" swAng="3411761"/>
                  </a:path>
                </a:pathLst>
              </a:custGeom>
              <a:noFill/>
              <a:ln w="41275">
                <a:solidFill>
                  <a:srgbClr val="00B050"/>
                </a:solidFill>
              </a:ln>
            </p:spPr>
            <p:style>
              <a:lnRef idx="1">
                <a:schemeClr val="accent3">
                  <a:hueOff val="0"/>
                  <a:satOff val="0"/>
                  <a:lumOff val="0"/>
                  <a:alphaOff val="0"/>
                </a:schemeClr>
              </a:lnRef>
              <a:fillRef idx="0">
                <a:scrgbClr r="0" g="0" b="0"/>
              </a:fillRef>
              <a:effectRef idx="0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8" name="직선 연결선 5">
                <a:extLst>
                  <a:ext uri="{FF2B5EF4-FFF2-40B4-BE49-F238E27FC236}">
                    <a16:creationId xmlns:a16="http://schemas.microsoft.com/office/drawing/2014/main" id="{4BBED9E1-5088-C1CB-B1F8-3F2F020BDD25}"/>
                  </a:ext>
                </a:extLst>
              </p:cNvPr>
              <p:cNvSpPr/>
              <p:nvPr/>
            </p:nvSpPr>
            <p:spPr>
              <a:xfrm>
                <a:off x="4348703" y="1681703"/>
                <a:ext cx="3494594" cy="3494594"/>
              </a:xfrm>
              <a:custGeom>
                <a:avLst/>
                <a:gdLst/>
                <a:ahLst/>
                <a:cxnLst/>
                <a:rect l="0" t="0" r="0" b="0"/>
                <a:pathLst>
                  <a:path>
                    <a:moveTo>
                      <a:pt x="11601" y="1948311"/>
                    </a:moveTo>
                    <a:arcTo wR="1747297" hR="1747297" stAng="10403635" swAng="3648625"/>
                  </a:path>
                </a:pathLst>
              </a:custGeom>
              <a:noFill/>
              <a:ln w="41275"/>
            </p:spPr>
            <p:style>
              <a:lnRef idx="1">
                <a:schemeClr val="accent4">
                  <a:hueOff val="0"/>
                  <a:satOff val="0"/>
                  <a:lumOff val="0"/>
                  <a:alphaOff val="0"/>
                </a:schemeClr>
              </a:lnRef>
              <a:fillRef idx="0">
                <a:scrgbClr r="0" g="0" b="0"/>
              </a:fillRef>
              <a:effectRef idx="0">
                <a:schemeClr val="accent4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07" name="그룹 106">
              <a:extLst>
                <a:ext uri="{FF2B5EF4-FFF2-40B4-BE49-F238E27FC236}">
                  <a16:creationId xmlns:a16="http://schemas.microsoft.com/office/drawing/2014/main" id="{CA1B57EA-336B-7C13-8B8D-EA1A8741193D}"/>
                </a:ext>
              </a:extLst>
            </p:cNvPr>
            <p:cNvGrpSpPr/>
            <p:nvPr/>
          </p:nvGrpSpPr>
          <p:grpSpPr>
            <a:xfrm>
              <a:off x="3575459" y="1041297"/>
              <a:ext cx="5041082" cy="3915244"/>
              <a:chOff x="3575459" y="1041297"/>
              <a:chExt cx="5041082" cy="3915244"/>
            </a:xfrm>
          </p:grpSpPr>
          <p:grpSp>
            <p:nvGrpSpPr>
              <p:cNvPr id="69" name="그룹 68">
                <a:extLst>
                  <a:ext uri="{FF2B5EF4-FFF2-40B4-BE49-F238E27FC236}">
                    <a16:creationId xmlns:a16="http://schemas.microsoft.com/office/drawing/2014/main" id="{32E76FE8-54FA-4347-634E-CDD4690767C0}"/>
                  </a:ext>
                </a:extLst>
              </p:cNvPr>
              <p:cNvGrpSpPr/>
              <p:nvPr/>
            </p:nvGrpSpPr>
            <p:grpSpPr>
              <a:xfrm>
                <a:off x="6601867" y="3647003"/>
                <a:ext cx="2014674" cy="1309538"/>
                <a:chOff x="7412736" y="5076039"/>
                <a:chExt cx="2014674" cy="1309538"/>
              </a:xfrm>
            </p:grpSpPr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9D7E9FEC-87D0-9504-8C50-47DE9A1B892F}"/>
                    </a:ext>
                  </a:extLst>
                </p:cNvPr>
                <p:cNvSpPr/>
                <p:nvPr/>
              </p:nvSpPr>
              <p:spPr>
                <a:xfrm>
                  <a:off x="7412736" y="5076039"/>
                  <a:ext cx="2014674" cy="130953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60" name="자유형: 도형 59">
                  <a:extLst>
                    <a:ext uri="{FF2B5EF4-FFF2-40B4-BE49-F238E27FC236}">
                      <a16:creationId xmlns:a16="http://schemas.microsoft.com/office/drawing/2014/main" id="{E14476F2-A840-6ACE-C2C1-931FEC21BB12}"/>
                    </a:ext>
                  </a:extLst>
                </p:cNvPr>
                <p:cNvSpPr/>
                <p:nvPr/>
              </p:nvSpPr>
              <p:spPr>
                <a:xfrm>
                  <a:off x="7412736" y="5076039"/>
                  <a:ext cx="2014674" cy="370332"/>
                </a:xfrm>
                <a:custGeom>
                  <a:avLst/>
                  <a:gdLst>
                    <a:gd name="connsiteX0" fmla="*/ 218261 w 2014674"/>
                    <a:gd name="connsiteY0" fmla="*/ 0 h 370332"/>
                    <a:gd name="connsiteX1" fmla="*/ 1796413 w 2014674"/>
                    <a:gd name="connsiteY1" fmla="*/ 0 h 370332"/>
                    <a:gd name="connsiteX2" fmla="*/ 2014674 w 2014674"/>
                    <a:gd name="connsiteY2" fmla="*/ 218261 h 370332"/>
                    <a:gd name="connsiteX3" fmla="*/ 2014674 w 2014674"/>
                    <a:gd name="connsiteY3" fmla="*/ 370332 h 370332"/>
                    <a:gd name="connsiteX4" fmla="*/ 0 w 2014674"/>
                    <a:gd name="connsiteY4" fmla="*/ 370332 h 370332"/>
                    <a:gd name="connsiteX5" fmla="*/ 0 w 2014674"/>
                    <a:gd name="connsiteY5" fmla="*/ 218261 h 370332"/>
                    <a:gd name="connsiteX6" fmla="*/ 218261 w 2014674"/>
                    <a:gd name="connsiteY6" fmla="*/ 0 h 37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14674" h="370332">
                      <a:moveTo>
                        <a:pt x="218261" y="0"/>
                      </a:moveTo>
                      <a:lnTo>
                        <a:pt x="1796413" y="0"/>
                      </a:lnTo>
                      <a:cubicBezTo>
                        <a:pt x="1916955" y="0"/>
                        <a:pt x="2014674" y="97719"/>
                        <a:pt x="2014674" y="218261"/>
                      </a:cubicBezTo>
                      <a:lnTo>
                        <a:pt x="2014674" y="370332"/>
                      </a:lnTo>
                      <a:lnTo>
                        <a:pt x="0" y="370332"/>
                      </a:lnTo>
                      <a:lnTo>
                        <a:pt x="0" y="218261"/>
                      </a:lnTo>
                      <a:cubicBezTo>
                        <a:pt x="0" y="97719"/>
                        <a:pt x="97719" y="0"/>
                        <a:pt x="218261" y="0"/>
                      </a:cubicBezTo>
                      <a:close/>
                    </a:path>
                  </a:pathLst>
                </a:cu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ko-KR" altLang="en-US" sz="1400" b="1" dirty="0">
                      <a:solidFill>
                        <a:schemeClr val="tx1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성장</a:t>
                  </a:r>
                </a:p>
              </p:txBody>
            </p:sp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DB60D348-453B-BBF3-F1BE-7DDE1FA9DD0B}"/>
                    </a:ext>
                  </a:extLst>
                </p:cNvPr>
                <p:cNvSpPr txBox="1"/>
                <p:nvPr/>
              </p:nvSpPr>
              <p:spPr>
                <a:xfrm>
                  <a:off x="7636044" y="5446371"/>
                  <a:ext cx="1568058" cy="846649"/>
                </a:xfrm>
                <a:prstGeom prst="rect">
                  <a:avLst/>
                </a:prstGeom>
                <a:noFill/>
              </p:spPr>
              <p:txBody>
                <a:bodyPr wrap="none" lIns="0" tIns="126000" rIns="0" bIns="72000" rtlCol="0">
                  <a:spAutoFit/>
                </a:bodyPr>
                <a:lstStyle>
                  <a:defPPr>
                    <a:defRPr lang="ko-KR"/>
                  </a:defPPr>
                  <a:lvl1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  <a:defRPr sz="120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lvl1pPr>
                </a:lstStyle>
                <a:p>
                  <a:r>
                    <a:rPr lang="ko-KR" altLang="en-US" dirty="0"/>
                    <a:t>적 처치 후 경험치 획득 </a:t>
                  </a:r>
                  <a:endParaRPr lang="en-US" altLang="ko-KR" dirty="0"/>
                </a:p>
                <a:p>
                  <a:r>
                    <a:rPr lang="ko-KR" altLang="en-US" dirty="0"/>
                    <a:t>레벨 업</a:t>
                  </a:r>
                  <a:endParaRPr lang="en-US" altLang="ko-KR" dirty="0"/>
                </a:p>
                <a:p>
                  <a:r>
                    <a:rPr lang="ko-KR" altLang="en-US" dirty="0" err="1"/>
                    <a:t>어빌리티</a:t>
                  </a:r>
                  <a:r>
                    <a:rPr lang="ko-KR" altLang="en-US" dirty="0"/>
                    <a:t> 선택</a:t>
                  </a:r>
                </a:p>
              </p:txBody>
            </p: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9F61D68E-774C-AABD-D65E-2CAB83E5A9E8}"/>
                  </a:ext>
                </a:extLst>
              </p:cNvPr>
              <p:cNvGrpSpPr/>
              <p:nvPr/>
            </p:nvGrpSpPr>
            <p:grpSpPr>
              <a:xfrm>
                <a:off x="3575459" y="3647003"/>
                <a:ext cx="2014674" cy="1309538"/>
                <a:chOff x="1979370" y="5076039"/>
                <a:chExt cx="2014674" cy="1309538"/>
              </a:xfrm>
            </p:grpSpPr>
            <p:sp>
              <p:nvSpPr>
                <p:cNvPr id="61" name="사각형: 둥근 모서리 60">
                  <a:extLst>
                    <a:ext uri="{FF2B5EF4-FFF2-40B4-BE49-F238E27FC236}">
                      <a16:creationId xmlns:a16="http://schemas.microsoft.com/office/drawing/2014/main" id="{130648F2-74DA-45DB-AE1A-6E7C5D27742E}"/>
                    </a:ext>
                  </a:extLst>
                </p:cNvPr>
                <p:cNvSpPr/>
                <p:nvPr/>
              </p:nvSpPr>
              <p:spPr>
                <a:xfrm>
                  <a:off x="1979370" y="5076039"/>
                  <a:ext cx="2014674" cy="130953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62" name="자유형: 도형 61">
                  <a:extLst>
                    <a:ext uri="{FF2B5EF4-FFF2-40B4-BE49-F238E27FC236}">
                      <a16:creationId xmlns:a16="http://schemas.microsoft.com/office/drawing/2014/main" id="{14F54665-70BF-57B5-F865-21F134AF314E}"/>
                    </a:ext>
                  </a:extLst>
                </p:cNvPr>
                <p:cNvSpPr/>
                <p:nvPr/>
              </p:nvSpPr>
              <p:spPr>
                <a:xfrm>
                  <a:off x="1979370" y="5076039"/>
                  <a:ext cx="2014674" cy="370332"/>
                </a:xfrm>
                <a:custGeom>
                  <a:avLst/>
                  <a:gdLst>
                    <a:gd name="connsiteX0" fmla="*/ 218261 w 2014674"/>
                    <a:gd name="connsiteY0" fmla="*/ 0 h 370332"/>
                    <a:gd name="connsiteX1" fmla="*/ 1796413 w 2014674"/>
                    <a:gd name="connsiteY1" fmla="*/ 0 h 370332"/>
                    <a:gd name="connsiteX2" fmla="*/ 2014674 w 2014674"/>
                    <a:gd name="connsiteY2" fmla="*/ 218261 h 370332"/>
                    <a:gd name="connsiteX3" fmla="*/ 2014674 w 2014674"/>
                    <a:gd name="connsiteY3" fmla="*/ 370332 h 370332"/>
                    <a:gd name="connsiteX4" fmla="*/ 0 w 2014674"/>
                    <a:gd name="connsiteY4" fmla="*/ 370332 h 370332"/>
                    <a:gd name="connsiteX5" fmla="*/ 0 w 2014674"/>
                    <a:gd name="connsiteY5" fmla="*/ 218261 h 370332"/>
                    <a:gd name="connsiteX6" fmla="*/ 218261 w 2014674"/>
                    <a:gd name="connsiteY6" fmla="*/ 0 h 37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14674" h="370332">
                      <a:moveTo>
                        <a:pt x="218261" y="0"/>
                      </a:moveTo>
                      <a:lnTo>
                        <a:pt x="1796413" y="0"/>
                      </a:lnTo>
                      <a:cubicBezTo>
                        <a:pt x="1916955" y="0"/>
                        <a:pt x="2014674" y="97719"/>
                        <a:pt x="2014674" y="218261"/>
                      </a:cubicBezTo>
                      <a:lnTo>
                        <a:pt x="2014674" y="370332"/>
                      </a:lnTo>
                      <a:lnTo>
                        <a:pt x="0" y="370332"/>
                      </a:lnTo>
                      <a:lnTo>
                        <a:pt x="0" y="218261"/>
                      </a:lnTo>
                      <a:cubicBezTo>
                        <a:pt x="0" y="97719"/>
                        <a:pt x="97719" y="0"/>
                        <a:pt x="218261" y="0"/>
                      </a:cubicBezTo>
                      <a:close/>
                    </a:path>
                  </a:pathLst>
                </a:cu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ko-KR" altLang="en-US" sz="1400" b="1" dirty="0">
                      <a:solidFill>
                        <a:schemeClr val="tx1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전략</a:t>
                  </a:r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92802123-26EA-7B4D-305C-2E0F325E69F0}"/>
                    </a:ext>
                  </a:extLst>
                </p:cNvPr>
                <p:cNvSpPr txBox="1"/>
                <p:nvPr/>
              </p:nvSpPr>
              <p:spPr>
                <a:xfrm>
                  <a:off x="2307675" y="5446371"/>
                  <a:ext cx="1358064" cy="846649"/>
                </a:xfrm>
                <a:prstGeom prst="rect">
                  <a:avLst/>
                </a:prstGeom>
                <a:noFill/>
              </p:spPr>
              <p:txBody>
                <a:bodyPr wrap="none" lIns="0" tIns="126000" rIns="0" bIns="72000" rtlCol="0">
                  <a:spAutoFit/>
                </a:bodyPr>
                <a:lstStyle>
                  <a:defPPr>
                    <a:defRPr lang="ko-KR"/>
                  </a:defPPr>
                  <a:lvl1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  <a:defRPr sz="120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lvl1pPr>
                </a:lstStyle>
                <a:p>
                  <a:r>
                    <a:rPr lang="ko-KR" altLang="en-US" dirty="0"/>
                    <a:t>전투 전략 구상</a:t>
                  </a:r>
                </a:p>
                <a:p>
                  <a:r>
                    <a:rPr lang="ko-KR" altLang="en-US" dirty="0" err="1"/>
                    <a:t>어빌리티</a:t>
                  </a:r>
                  <a:r>
                    <a:rPr lang="ko-KR" altLang="en-US" dirty="0"/>
                    <a:t> 조합 활용</a:t>
                  </a:r>
                </a:p>
                <a:p>
                  <a:r>
                    <a:rPr lang="ko-KR" altLang="en-US" dirty="0"/>
                    <a:t>스킬 발동 확률 조절</a:t>
                  </a:r>
                </a:p>
              </p:txBody>
            </p:sp>
          </p:grpSp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7FE1D7BD-ED4B-5DEA-E71B-EAA90E562FB3}"/>
                  </a:ext>
                </a:extLst>
              </p:cNvPr>
              <p:cNvGrpSpPr/>
              <p:nvPr/>
            </p:nvGrpSpPr>
            <p:grpSpPr>
              <a:xfrm>
                <a:off x="5088663" y="1041297"/>
                <a:ext cx="2014674" cy="1309538"/>
                <a:chOff x="7412736" y="1041297"/>
                <a:chExt cx="2014674" cy="1309538"/>
              </a:xfrm>
            </p:grpSpPr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927B315C-609F-D8D9-F67F-CEFB719DF92F}"/>
                    </a:ext>
                  </a:extLst>
                </p:cNvPr>
                <p:cNvSpPr/>
                <p:nvPr/>
              </p:nvSpPr>
              <p:spPr>
                <a:xfrm>
                  <a:off x="7412736" y="1041297"/>
                  <a:ext cx="2014674" cy="130953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58" name="자유형: 도형 57">
                  <a:extLst>
                    <a:ext uri="{FF2B5EF4-FFF2-40B4-BE49-F238E27FC236}">
                      <a16:creationId xmlns:a16="http://schemas.microsoft.com/office/drawing/2014/main" id="{F1895F8F-B635-1D40-1AC4-01705FAEB284}"/>
                    </a:ext>
                  </a:extLst>
                </p:cNvPr>
                <p:cNvSpPr/>
                <p:nvPr/>
              </p:nvSpPr>
              <p:spPr>
                <a:xfrm>
                  <a:off x="7412736" y="1041297"/>
                  <a:ext cx="2014674" cy="370332"/>
                </a:xfrm>
                <a:custGeom>
                  <a:avLst/>
                  <a:gdLst>
                    <a:gd name="connsiteX0" fmla="*/ 218261 w 2014674"/>
                    <a:gd name="connsiteY0" fmla="*/ 0 h 370332"/>
                    <a:gd name="connsiteX1" fmla="*/ 1796413 w 2014674"/>
                    <a:gd name="connsiteY1" fmla="*/ 0 h 370332"/>
                    <a:gd name="connsiteX2" fmla="*/ 2014674 w 2014674"/>
                    <a:gd name="connsiteY2" fmla="*/ 218261 h 370332"/>
                    <a:gd name="connsiteX3" fmla="*/ 2014674 w 2014674"/>
                    <a:gd name="connsiteY3" fmla="*/ 370332 h 370332"/>
                    <a:gd name="connsiteX4" fmla="*/ 0 w 2014674"/>
                    <a:gd name="connsiteY4" fmla="*/ 370332 h 370332"/>
                    <a:gd name="connsiteX5" fmla="*/ 0 w 2014674"/>
                    <a:gd name="connsiteY5" fmla="*/ 218261 h 370332"/>
                    <a:gd name="connsiteX6" fmla="*/ 218261 w 2014674"/>
                    <a:gd name="connsiteY6" fmla="*/ 0 h 37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14674" h="370332">
                      <a:moveTo>
                        <a:pt x="218261" y="0"/>
                      </a:moveTo>
                      <a:lnTo>
                        <a:pt x="1796413" y="0"/>
                      </a:lnTo>
                      <a:cubicBezTo>
                        <a:pt x="1916955" y="0"/>
                        <a:pt x="2014674" y="97719"/>
                        <a:pt x="2014674" y="218261"/>
                      </a:cubicBezTo>
                      <a:lnTo>
                        <a:pt x="2014674" y="370332"/>
                      </a:lnTo>
                      <a:lnTo>
                        <a:pt x="0" y="370332"/>
                      </a:lnTo>
                      <a:lnTo>
                        <a:pt x="0" y="218261"/>
                      </a:lnTo>
                      <a:cubicBezTo>
                        <a:pt x="0" y="97719"/>
                        <a:pt x="97719" y="0"/>
                        <a:pt x="218261" y="0"/>
                      </a:cubicBezTo>
                      <a:close/>
                    </a:path>
                  </a:pathLst>
                </a:custGeom>
                <a:solidFill>
                  <a:srgbClr val="FFDDDD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ko-KR" altLang="en-US" sz="1400" b="1" dirty="0">
                      <a:solidFill>
                        <a:schemeClr val="tx1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전투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F3F5A742-2EC2-8FE5-E38F-727EFF021E5F}"/>
                    </a:ext>
                  </a:extLst>
                </p:cNvPr>
                <p:cNvSpPr txBox="1"/>
                <p:nvPr/>
              </p:nvSpPr>
              <p:spPr>
                <a:xfrm>
                  <a:off x="7721805" y="1411629"/>
                  <a:ext cx="1396536" cy="84664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126000" rIns="0" bIns="72000" rtlCol="0">
                  <a:spAutoFit/>
                </a:bodyPr>
                <a:lstStyle/>
                <a:p>
                  <a: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적 대상 탐색 및 이동</a:t>
                  </a:r>
                </a:p>
                <a:p>
                  <a: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자동 공격 </a:t>
                  </a:r>
                  <a:r>
                    <a:rPr lang="en-US" altLang="ko-KR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&amp; </a:t>
                  </a: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스킬</a:t>
                  </a:r>
                </a:p>
                <a:p>
                  <a: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적 공격 회피</a:t>
                  </a:r>
                </a:p>
              </p:txBody>
            </p:sp>
          </p:grpSp>
        </p:grp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E544EB9D-F39E-7894-EFCA-CD6DB0A55E9E}"/>
              </a:ext>
            </a:extLst>
          </p:cNvPr>
          <p:cNvGrpSpPr/>
          <p:nvPr/>
        </p:nvGrpSpPr>
        <p:grpSpPr>
          <a:xfrm flipH="1" flipV="1">
            <a:off x="7609204" y="3435089"/>
            <a:ext cx="3494594" cy="3494594"/>
            <a:chOff x="4348703" y="1681703"/>
            <a:chExt cx="3494594" cy="3494594"/>
          </a:xfrm>
        </p:grpSpPr>
        <p:sp>
          <p:nvSpPr>
            <p:cNvPr id="74" name="직선 연결선 3">
              <a:extLst>
                <a:ext uri="{FF2B5EF4-FFF2-40B4-BE49-F238E27FC236}">
                  <a16:creationId xmlns:a16="http://schemas.microsoft.com/office/drawing/2014/main" id="{C40D5713-BECA-0EDF-015A-95EF550F469F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2769285" y="330050"/>
                  </a:moveTo>
                  <a:arcTo wR="1747297" hR="1747297" stAng="18347740" swAng="3648625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2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 dirty="0"/>
            </a:p>
          </p:txBody>
        </p:sp>
        <p:sp>
          <p:nvSpPr>
            <p:cNvPr id="75" name="직선 연결선 4">
              <a:extLst>
                <a:ext uri="{FF2B5EF4-FFF2-40B4-BE49-F238E27FC236}">
                  <a16:creationId xmlns:a16="http://schemas.microsoft.com/office/drawing/2014/main" id="{F4A59190-5FFF-B663-AEC3-B86151C65782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2579194" y="3283849"/>
                  </a:moveTo>
                  <a:arcTo wR="1747297" hR="1747297" stAng="3694119" swAng="3411761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3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76" name="직선 연결선 5">
              <a:extLst>
                <a:ext uri="{FF2B5EF4-FFF2-40B4-BE49-F238E27FC236}">
                  <a16:creationId xmlns:a16="http://schemas.microsoft.com/office/drawing/2014/main" id="{2C6B0D49-5007-BA51-88CE-FB2883B06422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11601" y="1948311"/>
                  </a:moveTo>
                  <a:arcTo wR="1747297" hR="1747297" stAng="10403635" swAng="3648625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4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38D3A607-2BC6-EEA7-6E35-D0CC06156372}"/>
              </a:ext>
            </a:extLst>
          </p:cNvPr>
          <p:cNvGrpSpPr/>
          <p:nvPr/>
        </p:nvGrpSpPr>
        <p:grpSpPr>
          <a:xfrm flipH="1" flipV="1">
            <a:off x="1088202" y="3435089"/>
            <a:ext cx="3494594" cy="3494594"/>
            <a:chOff x="4348703" y="1681703"/>
            <a:chExt cx="3494594" cy="3494594"/>
          </a:xfrm>
        </p:grpSpPr>
        <p:sp>
          <p:nvSpPr>
            <p:cNvPr id="78" name="직선 연결선 3">
              <a:extLst>
                <a:ext uri="{FF2B5EF4-FFF2-40B4-BE49-F238E27FC236}">
                  <a16:creationId xmlns:a16="http://schemas.microsoft.com/office/drawing/2014/main" id="{8E28398C-AC10-9C4E-2991-2B7D020CF84F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2769285" y="330050"/>
                  </a:moveTo>
                  <a:arcTo wR="1747297" hR="1747297" stAng="18347740" swAng="3648625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2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 dirty="0"/>
            </a:p>
          </p:txBody>
        </p:sp>
        <p:sp>
          <p:nvSpPr>
            <p:cNvPr id="79" name="직선 연결선 4">
              <a:extLst>
                <a:ext uri="{FF2B5EF4-FFF2-40B4-BE49-F238E27FC236}">
                  <a16:creationId xmlns:a16="http://schemas.microsoft.com/office/drawing/2014/main" id="{40B73C5D-DC38-F194-1D94-2ABF9CFAAE83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2579194" y="3283849"/>
                  </a:moveTo>
                  <a:arcTo wR="1747297" hR="1747297" stAng="3694119" swAng="3411761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3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/>
            </a:p>
          </p:txBody>
        </p:sp>
        <p:sp>
          <p:nvSpPr>
            <p:cNvPr id="80" name="직선 연결선 5">
              <a:extLst>
                <a:ext uri="{FF2B5EF4-FFF2-40B4-BE49-F238E27FC236}">
                  <a16:creationId xmlns:a16="http://schemas.microsoft.com/office/drawing/2014/main" id="{42CDF1BC-067C-75AE-AAA9-016FDD4ACF82}"/>
                </a:ext>
              </a:extLst>
            </p:cNvPr>
            <p:cNvSpPr/>
            <p:nvPr/>
          </p:nvSpPr>
          <p:spPr>
            <a:xfrm>
              <a:off x="4348703" y="1681703"/>
              <a:ext cx="3494594" cy="3494594"/>
            </a:xfrm>
            <a:custGeom>
              <a:avLst/>
              <a:gdLst/>
              <a:ahLst/>
              <a:cxnLst/>
              <a:rect l="0" t="0" r="0" b="0"/>
              <a:pathLst>
                <a:path>
                  <a:moveTo>
                    <a:pt x="11601" y="1948311"/>
                  </a:moveTo>
                  <a:arcTo wR="1747297" hR="1747297" stAng="10403635" swAng="3648625"/>
                </a:path>
              </a:pathLst>
            </a:custGeom>
            <a:noFill/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4">
                <a:hueOff val="0"/>
                <a:satOff val="0"/>
                <a:lumOff val="0"/>
                <a:alphaOff val="0"/>
              </a:schemeClr>
            </a:lnRef>
            <a:fillRef idx="0">
              <a:scrgbClr r="0" g="0" b="0"/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092090AE-161F-D38B-E01B-54B72D20DB42}"/>
              </a:ext>
            </a:extLst>
          </p:cNvPr>
          <p:cNvGrpSpPr/>
          <p:nvPr/>
        </p:nvGrpSpPr>
        <p:grpSpPr>
          <a:xfrm>
            <a:off x="3575459" y="-1336763"/>
            <a:ext cx="2014674" cy="1309538"/>
            <a:chOff x="7412736" y="1041297"/>
            <a:chExt cx="2014674" cy="1309538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C3B711EC-6A4F-C514-BF95-7B6C2315B937}"/>
                </a:ext>
              </a:extLst>
            </p:cNvPr>
            <p:cNvSpPr/>
            <p:nvPr/>
          </p:nvSpPr>
          <p:spPr>
            <a:xfrm>
              <a:off x="7412736" y="1041297"/>
              <a:ext cx="2014674" cy="130953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자유형: 도형 86">
              <a:extLst>
                <a:ext uri="{FF2B5EF4-FFF2-40B4-BE49-F238E27FC236}">
                  <a16:creationId xmlns:a16="http://schemas.microsoft.com/office/drawing/2014/main" id="{C4AAE2D6-6C27-CE05-B386-7C6AD6A71A8E}"/>
                </a:ext>
              </a:extLst>
            </p:cNvPr>
            <p:cNvSpPr/>
            <p:nvPr/>
          </p:nvSpPr>
          <p:spPr>
            <a:xfrm>
              <a:off x="7412736" y="1041297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다양한 전투 스타일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679FC6CE-B2EE-97AB-7F59-AA91F027EB7C}"/>
                </a:ext>
              </a:extLst>
            </p:cNvPr>
            <p:cNvSpPr txBox="1"/>
            <p:nvPr/>
          </p:nvSpPr>
          <p:spPr>
            <a:xfrm>
              <a:off x="7721805" y="1411629"/>
              <a:ext cx="1396536" cy="8466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000" rIns="0" bIns="72000" rtlCol="0">
              <a:spAutoFit/>
            </a:bodyPr>
            <a:lstStyle/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34BA63EC-6F4A-9011-94BF-9098E2BFE54B}"/>
              </a:ext>
            </a:extLst>
          </p:cNvPr>
          <p:cNvGrpSpPr/>
          <p:nvPr/>
        </p:nvGrpSpPr>
        <p:grpSpPr>
          <a:xfrm>
            <a:off x="6601867" y="-1336763"/>
            <a:ext cx="2014674" cy="1309538"/>
            <a:chOff x="7412736" y="1041297"/>
            <a:chExt cx="2014674" cy="1309538"/>
          </a:xfrm>
        </p:grpSpPr>
        <p:sp>
          <p:nvSpPr>
            <p:cNvPr id="90" name="사각형: 둥근 모서리 89">
              <a:extLst>
                <a:ext uri="{FF2B5EF4-FFF2-40B4-BE49-F238E27FC236}">
                  <a16:creationId xmlns:a16="http://schemas.microsoft.com/office/drawing/2014/main" id="{F98065EA-DCF5-D9BD-F219-694AC83A1257}"/>
                </a:ext>
              </a:extLst>
            </p:cNvPr>
            <p:cNvSpPr/>
            <p:nvPr/>
          </p:nvSpPr>
          <p:spPr>
            <a:xfrm>
              <a:off x="7412736" y="1041297"/>
              <a:ext cx="2014674" cy="130953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1" name="자유형: 도형 90">
              <a:extLst>
                <a:ext uri="{FF2B5EF4-FFF2-40B4-BE49-F238E27FC236}">
                  <a16:creationId xmlns:a16="http://schemas.microsoft.com/office/drawing/2014/main" id="{4521890B-AD93-E990-E7D1-5F4B828BF1E8}"/>
                </a:ext>
              </a:extLst>
            </p:cNvPr>
            <p:cNvSpPr/>
            <p:nvPr/>
          </p:nvSpPr>
          <p:spPr>
            <a:xfrm>
              <a:off x="7412736" y="1041297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쉬운 조작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1FBC183A-F306-EDF7-8277-C92E799D97A9}"/>
                </a:ext>
              </a:extLst>
            </p:cNvPr>
            <p:cNvSpPr txBox="1"/>
            <p:nvPr/>
          </p:nvSpPr>
          <p:spPr>
            <a:xfrm>
              <a:off x="7721805" y="1411629"/>
              <a:ext cx="1396536" cy="8466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000" rIns="0" bIns="72000" rtlCol="0">
              <a:spAutoFit/>
            </a:bodyPr>
            <a:lstStyle/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456568A-2EA1-744C-FA66-A74D3F2B5E84}"/>
              </a:ext>
            </a:extLst>
          </p:cNvPr>
          <p:cNvGrpSpPr/>
          <p:nvPr/>
        </p:nvGrpSpPr>
        <p:grpSpPr>
          <a:xfrm>
            <a:off x="549051" y="3675103"/>
            <a:ext cx="2014674" cy="1309538"/>
            <a:chOff x="7412736" y="1041297"/>
            <a:chExt cx="2014674" cy="1309538"/>
          </a:xfrm>
        </p:grpSpPr>
        <p:sp>
          <p:nvSpPr>
            <p:cNvPr id="109" name="사각형: 둥근 모서리 108">
              <a:extLst>
                <a:ext uri="{FF2B5EF4-FFF2-40B4-BE49-F238E27FC236}">
                  <a16:creationId xmlns:a16="http://schemas.microsoft.com/office/drawing/2014/main" id="{4C8FC4A3-AA0F-1352-2D9B-DC1BF92E87AD}"/>
                </a:ext>
              </a:extLst>
            </p:cNvPr>
            <p:cNvSpPr/>
            <p:nvPr/>
          </p:nvSpPr>
          <p:spPr>
            <a:xfrm>
              <a:off x="7412736" y="1041297"/>
              <a:ext cx="2014674" cy="130953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자유형: 도형 109">
              <a:extLst>
                <a:ext uri="{FF2B5EF4-FFF2-40B4-BE49-F238E27FC236}">
                  <a16:creationId xmlns:a16="http://schemas.microsoft.com/office/drawing/2014/main" id="{C6442781-0E8F-7B3E-3E4E-452DC3E8313E}"/>
                </a:ext>
              </a:extLst>
            </p:cNvPr>
            <p:cNvSpPr/>
            <p:nvPr/>
          </p:nvSpPr>
          <p:spPr>
            <a:xfrm>
              <a:off x="7412736" y="1041297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반복 플레이 유도</a:t>
              </a: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9424D6E1-F6FB-8DFA-6BA5-69E6427854D3}"/>
                </a:ext>
              </a:extLst>
            </p:cNvPr>
            <p:cNvSpPr txBox="1"/>
            <p:nvPr/>
          </p:nvSpPr>
          <p:spPr>
            <a:xfrm>
              <a:off x="7721805" y="1411629"/>
              <a:ext cx="1396536" cy="8466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000" rIns="0" bIns="72000" rtlCol="0">
              <a:spAutoFit/>
            </a:bodyPr>
            <a:lstStyle/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4889AC52-E906-DDC4-7A13-5BD7641379DE}"/>
              </a:ext>
            </a:extLst>
          </p:cNvPr>
          <p:cNvGrpSpPr/>
          <p:nvPr/>
        </p:nvGrpSpPr>
        <p:grpSpPr>
          <a:xfrm>
            <a:off x="1869854" y="5951947"/>
            <a:ext cx="2014674" cy="1309538"/>
            <a:chOff x="7412736" y="1041297"/>
            <a:chExt cx="2014674" cy="1309538"/>
          </a:xfrm>
        </p:grpSpPr>
        <p:sp>
          <p:nvSpPr>
            <p:cNvPr id="113" name="사각형: 둥근 모서리 112">
              <a:extLst>
                <a:ext uri="{FF2B5EF4-FFF2-40B4-BE49-F238E27FC236}">
                  <a16:creationId xmlns:a16="http://schemas.microsoft.com/office/drawing/2014/main" id="{C5EFF985-9B32-15A6-01EB-0E0C24C67B9C}"/>
                </a:ext>
              </a:extLst>
            </p:cNvPr>
            <p:cNvSpPr/>
            <p:nvPr/>
          </p:nvSpPr>
          <p:spPr>
            <a:xfrm>
              <a:off x="7412736" y="1041297"/>
              <a:ext cx="2014674" cy="130953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4" name="자유형: 도형 113">
              <a:extLst>
                <a:ext uri="{FF2B5EF4-FFF2-40B4-BE49-F238E27FC236}">
                  <a16:creationId xmlns:a16="http://schemas.microsoft.com/office/drawing/2014/main" id="{7813C5E7-B91F-7105-8B58-34BF5EBA4632}"/>
                </a:ext>
              </a:extLst>
            </p:cNvPr>
            <p:cNvSpPr/>
            <p:nvPr/>
          </p:nvSpPr>
          <p:spPr>
            <a:xfrm>
              <a:off x="7412736" y="1041297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핵심 유저층으로 변화</a:t>
              </a: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CCD4F928-9800-02CD-DB32-0A612A0D2964}"/>
                </a:ext>
              </a:extLst>
            </p:cNvPr>
            <p:cNvSpPr txBox="1"/>
            <p:nvPr/>
          </p:nvSpPr>
          <p:spPr>
            <a:xfrm>
              <a:off x="7721805" y="1411629"/>
              <a:ext cx="1396536" cy="8466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000" rIns="0" bIns="72000" rtlCol="0">
              <a:spAutoFit/>
            </a:bodyPr>
            <a:lstStyle/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48B3BB95-0204-6CA5-38B3-DA45EC3E844E}"/>
              </a:ext>
            </a:extLst>
          </p:cNvPr>
          <p:cNvGrpSpPr/>
          <p:nvPr/>
        </p:nvGrpSpPr>
        <p:grpSpPr>
          <a:xfrm>
            <a:off x="9628275" y="3675103"/>
            <a:ext cx="2014674" cy="1309538"/>
            <a:chOff x="7412736" y="1041297"/>
            <a:chExt cx="2014674" cy="1309538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1944F87F-49B5-ECA0-D36F-811797EF73B9}"/>
                </a:ext>
              </a:extLst>
            </p:cNvPr>
            <p:cNvSpPr/>
            <p:nvPr/>
          </p:nvSpPr>
          <p:spPr>
            <a:xfrm>
              <a:off x="7412736" y="1041297"/>
              <a:ext cx="2014674" cy="130953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8" name="자유형: 도형 117">
              <a:extLst>
                <a:ext uri="{FF2B5EF4-FFF2-40B4-BE49-F238E27FC236}">
                  <a16:creationId xmlns:a16="http://schemas.microsoft.com/office/drawing/2014/main" id="{3E594868-5543-2A60-79B7-7061E9646DDD}"/>
                </a:ext>
              </a:extLst>
            </p:cNvPr>
            <p:cNvSpPr/>
            <p:nvPr/>
          </p:nvSpPr>
          <p:spPr>
            <a:xfrm>
              <a:off x="7412736" y="1041297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전투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08A254D2-C3EA-00C6-3C6C-B238EFEC8FC9}"/>
                </a:ext>
              </a:extLst>
            </p:cNvPr>
            <p:cNvSpPr txBox="1"/>
            <p:nvPr/>
          </p:nvSpPr>
          <p:spPr>
            <a:xfrm>
              <a:off x="7721805" y="1411629"/>
              <a:ext cx="1396536" cy="8466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000" rIns="0" bIns="72000" rtlCol="0">
              <a:spAutoFit/>
            </a:bodyPr>
            <a:lstStyle/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  <p:grpSp>
        <p:nvGrpSpPr>
          <p:cNvPr id="120" name="그룹 119">
            <a:extLst>
              <a:ext uri="{FF2B5EF4-FFF2-40B4-BE49-F238E27FC236}">
                <a16:creationId xmlns:a16="http://schemas.microsoft.com/office/drawing/2014/main" id="{B9582EE8-533F-02D2-70AA-20441D487B01}"/>
              </a:ext>
            </a:extLst>
          </p:cNvPr>
          <p:cNvGrpSpPr/>
          <p:nvPr/>
        </p:nvGrpSpPr>
        <p:grpSpPr>
          <a:xfrm>
            <a:off x="8393233" y="5951947"/>
            <a:ext cx="2014674" cy="1309538"/>
            <a:chOff x="7412736" y="1041297"/>
            <a:chExt cx="2014674" cy="1309538"/>
          </a:xfrm>
        </p:grpSpPr>
        <p:sp>
          <p:nvSpPr>
            <p:cNvPr id="121" name="사각형: 둥근 모서리 120">
              <a:extLst>
                <a:ext uri="{FF2B5EF4-FFF2-40B4-BE49-F238E27FC236}">
                  <a16:creationId xmlns:a16="http://schemas.microsoft.com/office/drawing/2014/main" id="{F9A2A09E-9A46-460E-45F4-38A34AF4F4D4}"/>
                </a:ext>
              </a:extLst>
            </p:cNvPr>
            <p:cNvSpPr/>
            <p:nvPr/>
          </p:nvSpPr>
          <p:spPr>
            <a:xfrm>
              <a:off x="7412736" y="1041297"/>
              <a:ext cx="2014674" cy="130953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2" name="자유형: 도형 121">
              <a:extLst>
                <a:ext uri="{FF2B5EF4-FFF2-40B4-BE49-F238E27FC236}">
                  <a16:creationId xmlns:a16="http://schemas.microsoft.com/office/drawing/2014/main" id="{460F07CC-7B61-08E2-0D43-9723ED6386C0}"/>
                </a:ext>
              </a:extLst>
            </p:cNvPr>
            <p:cNvSpPr/>
            <p:nvPr/>
          </p:nvSpPr>
          <p:spPr>
            <a:xfrm>
              <a:off x="7412736" y="1041297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400" b="1" dirty="0">
                  <a:solidFill>
                    <a:schemeClr val="tx1"/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전투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33270053-E909-2E4C-FA3B-03DA357984E4}"/>
                </a:ext>
              </a:extLst>
            </p:cNvPr>
            <p:cNvSpPr txBox="1"/>
            <p:nvPr/>
          </p:nvSpPr>
          <p:spPr>
            <a:xfrm>
              <a:off x="7721805" y="1411629"/>
              <a:ext cx="1396536" cy="8466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126000" rIns="0" bIns="72000" rtlCol="0">
              <a:spAutoFit/>
            </a:bodyPr>
            <a:lstStyle/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3374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89554-FF6E-6BBD-36D5-D708A6672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타원 9">
            <a:extLst>
              <a:ext uri="{FF2B5EF4-FFF2-40B4-BE49-F238E27FC236}">
                <a16:creationId xmlns:a16="http://schemas.microsoft.com/office/drawing/2014/main" id="{19A87837-C076-F3DA-12F4-0E1E7353868A}"/>
              </a:ext>
            </a:extLst>
          </p:cNvPr>
          <p:cNvSpPr/>
          <p:nvPr/>
        </p:nvSpPr>
        <p:spPr>
          <a:xfrm>
            <a:off x="5112173" y="-615818"/>
            <a:ext cx="1991164" cy="1991164"/>
          </a:xfrm>
          <a:prstGeom prst="ellipse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FD790F2F-AF66-40DC-3B1B-CE7003FFD2A7}"/>
              </a:ext>
            </a:extLst>
          </p:cNvPr>
          <p:cNvSpPr/>
          <p:nvPr/>
        </p:nvSpPr>
        <p:spPr>
          <a:xfrm>
            <a:off x="2591632" y="4045435"/>
            <a:ext cx="1991164" cy="1991164"/>
          </a:xfrm>
          <a:prstGeom prst="ellipse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AC8CC822-5E85-22E0-A02C-DCFAC31C39C0}"/>
              </a:ext>
            </a:extLst>
          </p:cNvPr>
          <p:cNvSpPr/>
          <p:nvPr/>
        </p:nvSpPr>
        <p:spPr>
          <a:xfrm>
            <a:off x="7609204" y="4045435"/>
            <a:ext cx="1991164" cy="1991164"/>
          </a:xfrm>
          <a:prstGeom prst="ellipse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11DDB3DB-59AF-6E41-1987-D7353A23D29A}"/>
              </a:ext>
            </a:extLst>
          </p:cNvPr>
          <p:cNvGrpSpPr/>
          <p:nvPr/>
        </p:nvGrpSpPr>
        <p:grpSpPr>
          <a:xfrm>
            <a:off x="3575459" y="1041297"/>
            <a:ext cx="5041082" cy="4135000"/>
            <a:chOff x="3575459" y="1041297"/>
            <a:chExt cx="5041082" cy="4135000"/>
          </a:xfrm>
        </p:grpSpPr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47E5CB50-C33F-F339-AD32-46FA79159F1D}"/>
                </a:ext>
              </a:extLst>
            </p:cNvPr>
            <p:cNvGrpSpPr/>
            <p:nvPr/>
          </p:nvGrpSpPr>
          <p:grpSpPr>
            <a:xfrm>
              <a:off x="4348703" y="1661383"/>
              <a:ext cx="3494594" cy="3514914"/>
              <a:chOff x="4348703" y="1661383"/>
              <a:chExt cx="3494594" cy="3514914"/>
            </a:xfrm>
          </p:grpSpPr>
          <p:sp>
            <p:nvSpPr>
              <p:cNvPr id="16" name="직선 연결선 3">
                <a:extLst>
                  <a:ext uri="{FF2B5EF4-FFF2-40B4-BE49-F238E27FC236}">
                    <a16:creationId xmlns:a16="http://schemas.microsoft.com/office/drawing/2014/main" id="{D3F75BB3-8148-71F4-602A-31CA14E45308}"/>
                  </a:ext>
                </a:extLst>
              </p:cNvPr>
              <p:cNvSpPr/>
              <p:nvPr/>
            </p:nvSpPr>
            <p:spPr>
              <a:xfrm>
                <a:off x="4348703" y="1681703"/>
                <a:ext cx="3494594" cy="3494594"/>
              </a:xfrm>
              <a:custGeom>
                <a:avLst/>
                <a:gdLst/>
                <a:ahLst/>
                <a:cxnLst/>
                <a:rect l="0" t="0" r="0" b="0"/>
                <a:pathLst>
                  <a:path>
                    <a:moveTo>
                      <a:pt x="2769285" y="330050"/>
                    </a:moveTo>
                    <a:arcTo wR="1747297" hR="1747297" stAng="18347740" swAng="3648625"/>
                  </a:path>
                </a:pathLst>
              </a:custGeom>
              <a:noFill/>
              <a:ln w="41275">
                <a:solidFill>
                  <a:srgbClr val="FF0000"/>
                </a:solidFill>
              </a:ln>
            </p:spPr>
            <p:style>
              <a:lnRef idx="1">
                <a:schemeClr val="accent2">
                  <a:hueOff val="0"/>
                  <a:satOff val="0"/>
                  <a:lumOff val="0"/>
                  <a:alphaOff val="0"/>
                </a:schemeClr>
              </a:lnRef>
              <a:fillRef idx="0">
                <a:scrgbClr r="0" g="0" b="0"/>
              </a:fillRef>
              <a:effectRef idx="0">
                <a:schemeClr val="accent2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ko-KR" altLang="en-US" dirty="0"/>
              </a:p>
            </p:txBody>
          </p:sp>
          <p:sp>
            <p:nvSpPr>
              <p:cNvPr id="17" name="직선 연결선 4">
                <a:extLst>
                  <a:ext uri="{FF2B5EF4-FFF2-40B4-BE49-F238E27FC236}">
                    <a16:creationId xmlns:a16="http://schemas.microsoft.com/office/drawing/2014/main" id="{2E934192-9260-CE78-677E-82226DCCFE76}"/>
                  </a:ext>
                </a:extLst>
              </p:cNvPr>
              <p:cNvSpPr/>
              <p:nvPr/>
            </p:nvSpPr>
            <p:spPr>
              <a:xfrm>
                <a:off x="4348703" y="1661383"/>
                <a:ext cx="3494594" cy="3494594"/>
              </a:xfrm>
              <a:custGeom>
                <a:avLst/>
                <a:gdLst/>
                <a:ahLst/>
                <a:cxnLst/>
                <a:rect l="0" t="0" r="0" b="0"/>
                <a:pathLst>
                  <a:path>
                    <a:moveTo>
                      <a:pt x="2579194" y="3283849"/>
                    </a:moveTo>
                    <a:arcTo wR="1747297" hR="1747297" stAng="3694119" swAng="3411761"/>
                  </a:path>
                </a:pathLst>
              </a:custGeom>
              <a:noFill/>
              <a:ln w="41275">
                <a:solidFill>
                  <a:srgbClr val="00B050"/>
                </a:solidFill>
              </a:ln>
            </p:spPr>
            <p:style>
              <a:lnRef idx="1">
                <a:schemeClr val="accent3">
                  <a:hueOff val="0"/>
                  <a:satOff val="0"/>
                  <a:lumOff val="0"/>
                  <a:alphaOff val="0"/>
                </a:schemeClr>
              </a:lnRef>
              <a:fillRef idx="0">
                <a:scrgbClr r="0" g="0" b="0"/>
              </a:fillRef>
              <a:effectRef idx="0">
                <a:schemeClr val="accent3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8" name="직선 연결선 5">
                <a:extLst>
                  <a:ext uri="{FF2B5EF4-FFF2-40B4-BE49-F238E27FC236}">
                    <a16:creationId xmlns:a16="http://schemas.microsoft.com/office/drawing/2014/main" id="{CEE34DE0-730D-F992-E218-DF679C43CE74}"/>
                  </a:ext>
                </a:extLst>
              </p:cNvPr>
              <p:cNvSpPr/>
              <p:nvPr/>
            </p:nvSpPr>
            <p:spPr>
              <a:xfrm>
                <a:off x="4348703" y="1681703"/>
                <a:ext cx="3494594" cy="3494594"/>
              </a:xfrm>
              <a:custGeom>
                <a:avLst/>
                <a:gdLst/>
                <a:ahLst/>
                <a:cxnLst/>
                <a:rect l="0" t="0" r="0" b="0"/>
                <a:pathLst>
                  <a:path>
                    <a:moveTo>
                      <a:pt x="11601" y="1948311"/>
                    </a:moveTo>
                    <a:arcTo wR="1747297" hR="1747297" stAng="10403635" swAng="3648625"/>
                  </a:path>
                </a:pathLst>
              </a:custGeom>
              <a:noFill/>
              <a:ln w="41275"/>
            </p:spPr>
            <p:style>
              <a:lnRef idx="1">
                <a:schemeClr val="accent4">
                  <a:hueOff val="0"/>
                  <a:satOff val="0"/>
                  <a:lumOff val="0"/>
                  <a:alphaOff val="0"/>
                </a:schemeClr>
              </a:lnRef>
              <a:fillRef idx="0">
                <a:scrgbClr r="0" g="0" b="0"/>
              </a:fillRef>
              <a:effectRef idx="0">
                <a:schemeClr val="accent4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tx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07" name="그룹 106">
              <a:extLst>
                <a:ext uri="{FF2B5EF4-FFF2-40B4-BE49-F238E27FC236}">
                  <a16:creationId xmlns:a16="http://schemas.microsoft.com/office/drawing/2014/main" id="{750ED4D3-E71F-9399-5E65-374C4E13C121}"/>
                </a:ext>
              </a:extLst>
            </p:cNvPr>
            <p:cNvGrpSpPr/>
            <p:nvPr/>
          </p:nvGrpSpPr>
          <p:grpSpPr>
            <a:xfrm>
              <a:off x="3575459" y="1041297"/>
              <a:ext cx="5041082" cy="3915244"/>
              <a:chOff x="3575459" y="1041297"/>
              <a:chExt cx="5041082" cy="3915244"/>
            </a:xfrm>
          </p:grpSpPr>
          <p:grpSp>
            <p:nvGrpSpPr>
              <p:cNvPr id="69" name="그룹 68">
                <a:extLst>
                  <a:ext uri="{FF2B5EF4-FFF2-40B4-BE49-F238E27FC236}">
                    <a16:creationId xmlns:a16="http://schemas.microsoft.com/office/drawing/2014/main" id="{2C7C09CD-E397-77C4-9020-78ABD7E4FE30}"/>
                  </a:ext>
                </a:extLst>
              </p:cNvPr>
              <p:cNvGrpSpPr/>
              <p:nvPr/>
            </p:nvGrpSpPr>
            <p:grpSpPr>
              <a:xfrm>
                <a:off x="6601867" y="3647003"/>
                <a:ext cx="2014674" cy="1309538"/>
                <a:chOff x="7412736" y="5076039"/>
                <a:chExt cx="2014674" cy="1309538"/>
              </a:xfrm>
            </p:grpSpPr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4E2F9492-76EF-D879-13FE-642D2E1BEF62}"/>
                    </a:ext>
                  </a:extLst>
                </p:cNvPr>
                <p:cNvSpPr/>
                <p:nvPr/>
              </p:nvSpPr>
              <p:spPr>
                <a:xfrm>
                  <a:off x="7412736" y="5076039"/>
                  <a:ext cx="2014674" cy="130953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60" name="자유형: 도형 59">
                  <a:extLst>
                    <a:ext uri="{FF2B5EF4-FFF2-40B4-BE49-F238E27FC236}">
                      <a16:creationId xmlns:a16="http://schemas.microsoft.com/office/drawing/2014/main" id="{02F59F6D-5223-7A6E-0DED-E0806F510485}"/>
                    </a:ext>
                  </a:extLst>
                </p:cNvPr>
                <p:cNvSpPr/>
                <p:nvPr/>
              </p:nvSpPr>
              <p:spPr>
                <a:xfrm>
                  <a:off x="7412736" y="5076039"/>
                  <a:ext cx="2014674" cy="370332"/>
                </a:xfrm>
                <a:custGeom>
                  <a:avLst/>
                  <a:gdLst>
                    <a:gd name="connsiteX0" fmla="*/ 218261 w 2014674"/>
                    <a:gd name="connsiteY0" fmla="*/ 0 h 370332"/>
                    <a:gd name="connsiteX1" fmla="*/ 1796413 w 2014674"/>
                    <a:gd name="connsiteY1" fmla="*/ 0 h 370332"/>
                    <a:gd name="connsiteX2" fmla="*/ 2014674 w 2014674"/>
                    <a:gd name="connsiteY2" fmla="*/ 218261 h 370332"/>
                    <a:gd name="connsiteX3" fmla="*/ 2014674 w 2014674"/>
                    <a:gd name="connsiteY3" fmla="*/ 370332 h 370332"/>
                    <a:gd name="connsiteX4" fmla="*/ 0 w 2014674"/>
                    <a:gd name="connsiteY4" fmla="*/ 370332 h 370332"/>
                    <a:gd name="connsiteX5" fmla="*/ 0 w 2014674"/>
                    <a:gd name="connsiteY5" fmla="*/ 218261 h 370332"/>
                    <a:gd name="connsiteX6" fmla="*/ 218261 w 2014674"/>
                    <a:gd name="connsiteY6" fmla="*/ 0 h 37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14674" h="370332">
                      <a:moveTo>
                        <a:pt x="218261" y="0"/>
                      </a:moveTo>
                      <a:lnTo>
                        <a:pt x="1796413" y="0"/>
                      </a:lnTo>
                      <a:cubicBezTo>
                        <a:pt x="1916955" y="0"/>
                        <a:pt x="2014674" y="97719"/>
                        <a:pt x="2014674" y="218261"/>
                      </a:cubicBezTo>
                      <a:lnTo>
                        <a:pt x="2014674" y="370332"/>
                      </a:lnTo>
                      <a:lnTo>
                        <a:pt x="0" y="370332"/>
                      </a:lnTo>
                      <a:lnTo>
                        <a:pt x="0" y="218261"/>
                      </a:lnTo>
                      <a:cubicBezTo>
                        <a:pt x="0" y="97719"/>
                        <a:pt x="97719" y="0"/>
                        <a:pt x="218261" y="0"/>
                      </a:cubicBezTo>
                      <a:close/>
                    </a:path>
                  </a:pathLst>
                </a:custGeom>
                <a:solidFill>
                  <a:schemeClr val="accent3">
                    <a:lumMod val="20000"/>
                    <a:lumOff val="80000"/>
                  </a:schemeClr>
                </a:solidFill>
                <a:ln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ko-KR" altLang="en-US" sz="1400" b="1" dirty="0">
                      <a:solidFill>
                        <a:schemeClr val="tx1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성장</a:t>
                  </a:r>
                </a:p>
              </p:txBody>
            </p:sp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08105AF-6C09-7280-A78D-5B8D70FCD1E3}"/>
                    </a:ext>
                  </a:extLst>
                </p:cNvPr>
                <p:cNvSpPr txBox="1"/>
                <p:nvPr/>
              </p:nvSpPr>
              <p:spPr>
                <a:xfrm>
                  <a:off x="7636044" y="5446371"/>
                  <a:ext cx="1568058" cy="846649"/>
                </a:xfrm>
                <a:prstGeom prst="rect">
                  <a:avLst/>
                </a:prstGeom>
                <a:noFill/>
              </p:spPr>
              <p:txBody>
                <a:bodyPr wrap="none" lIns="0" tIns="126000" rIns="0" bIns="72000" rtlCol="0">
                  <a:spAutoFit/>
                </a:bodyPr>
                <a:lstStyle>
                  <a:defPPr>
                    <a:defRPr lang="ko-KR"/>
                  </a:defPPr>
                  <a:lvl1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  <a:defRPr sz="120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lvl1pPr>
                </a:lstStyle>
                <a:p>
                  <a:r>
                    <a:rPr lang="ko-KR" altLang="en-US" dirty="0"/>
                    <a:t>적 처치 후 경험치 획득 </a:t>
                  </a:r>
                  <a:endParaRPr lang="en-US" altLang="ko-KR" dirty="0"/>
                </a:p>
                <a:p>
                  <a:r>
                    <a:rPr lang="ko-KR" altLang="en-US" dirty="0"/>
                    <a:t>레벨 업</a:t>
                  </a:r>
                  <a:endParaRPr lang="en-US" altLang="ko-KR" dirty="0"/>
                </a:p>
                <a:p>
                  <a:r>
                    <a:rPr lang="ko-KR" altLang="en-US" dirty="0" err="1"/>
                    <a:t>어빌리티</a:t>
                  </a:r>
                  <a:r>
                    <a:rPr lang="ko-KR" altLang="en-US" dirty="0"/>
                    <a:t> 선택</a:t>
                  </a:r>
                </a:p>
              </p:txBody>
            </p: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602FE9A8-8E0C-30FA-B733-A2D34529FF87}"/>
                  </a:ext>
                </a:extLst>
              </p:cNvPr>
              <p:cNvGrpSpPr/>
              <p:nvPr/>
            </p:nvGrpSpPr>
            <p:grpSpPr>
              <a:xfrm>
                <a:off x="3575459" y="3647003"/>
                <a:ext cx="2014674" cy="1309538"/>
                <a:chOff x="1979370" y="5076039"/>
                <a:chExt cx="2014674" cy="1309538"/>
              </a:xfrm>
            </p:grpSpPr>
            <p:sp>
              <p:nvSpPr>
                <p:cNvPr id="61" name="사각형: 둥근 모서리 60">
                  <a:extLst>
                    <a:ext uri="{FF2B5EF4-FFF2-40B4-BE49-F238E27FC236}">
                      <a16:creationId xmlns:a16="http://schemas.microsoft.com/office/drawing/2014/main" id="{11188E27-1313-614C-8249-E626A312559D}"/>
                    </a:ext>
                  </a:extLst>
                </p:cNvPr>
                <p:cNvSpPr/>
                <p:nvPr/>
              </p:nvSpPr>
              <p:spPr>
                <a:xfrm>
                  <a:off x="1979370" y="5076039"/>
                  <a:ext cx="2014674" cy="130953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62" name="자유형: 도형 61">
                  <a:extLst>
                    <a:ext uri="{FF2B5EF4-FFF2-40B4-BE49-F238E27FC236}">
                      <a16:creationId xmlns:a16="http://schemas.microsoft.com/office/drawing/2014/main" id="{A872AD38-8819-5996-E505-8E280B7BE372}"/>
                    </a:ext>
                  </a:extLst>
                </p:cNvPr>
                <p:cNvSpPr/>
                <p:nvPr/>
              </p:nvSpPr>
              <p:spPr>
                <a:xfrm>
                  <a:off x="1979370" y="5076039"/>
                  <a:ext cx="2014674" cy="370332"/>
                </a:xfrm>
                <a:custGeom>
                  <a:avLst/>
                  <a:gdLst>
                    <a:gd name="connsiteX0" fmla="*/ 218261 w 2014674"/>
                    <a:gd name="connsiteY0" fmla="*/ 0 h 370332"/>
                    <a:gd name="connsiteX1" fmla="*/ 1796413 w 2014674"/>
                    <a:gd name="connsiteY1" fmla="*/ 0 h 370332"/>
                    <a:gd name="connsiteX2" fmla="*/ 2014674 w 2014674"/>
                    <a:gd name="connsiteY2" fmla="*/ 218261 h 370332"/>
                    <a:gd name="connsiteX3" fmla="*/ 2014674 w 2014674"/>
                    <a:gd name="connsiteY3" fmla="*/ 370332 h 370332"/>
                    <a:gd name="connsiteX4" fmla="*/ 0 w 2014674"/>
                    <a:gd name="connsiteY4" fmla="*/ 370332 h 370332"/>
                    <a:gd name="connsiteX5" fmla="*/ 0 w 2014674"/>
                    <a:gd name="connsiteY5" fmla="*/ 218261 h 370332"/>
                    <a:gd name="connsiteX6" fmla="*/ 218261 w 2014674"/>
                    <a:gd name="connsiteY6" fmla="*/ 0 h 37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14674" h="370332">
                      <a:moveTo>
                        <a:pt x="218261" y="0"/>
                      </a:moveTo>
                      <a:lnTo>
                        <a:pt x="1796413" y="0"/>
                      </a:lnTo>
                      <a:cubicBezTo>
                        <a:pt x="1916955" y="0"/>
                        <a:pt x="2014674" y="97719"/>
                        <a:pt x="2014674" y="218261"/>
                      </a:cubicBezTo>
                      <a:lnTo>
                        <a:pt x="2014674" y="370332"/>
                      </a:lnTo>
                      <a:lnTo>
                        <a:pt x="0" y="370332"/>
                      </a:lnTo>
                      <a:lnTo>
                        <a:pt x="0" y="218261"/>
                      </a:lnTo>
                      <a:cubicBezTo>
                        <a:pt x="0" y="97719"/>
                        <a:pt x="97719" y="0"/>
                        <a:pt x="218261" y="0"/>
                      </a:cubicBezTo>
                      <a:close/>
                    </a:path>
                  </a:pathLst>
                </a:cu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ko-KR" altLang="en-US" sz="1400" b="1" dirty="0">
                      <a:solidFill>
                        <a:schemeClr val="tx1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전략</a:t>
                  </a:r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F136DB-77C5-9991-50DD-F163F4AB02FD}"/>
                    </a:ext>
                  </a:extLst>
                </p:cNvPr>
                <p:cNvSpPr txBox="1"/>
                <p:nvPr/>
              </p:nvSpPr>
              <p:spPr>
                <a:xfrm>
                  <a:off x="2307675" y="5446371"/>
                  <a:ext cx="1358064" cy="846649"/>
                </a:xfrm>
                <a:prstGeom prst="rect">
                  <a:avLst/>
                </a:prstGeom>
                <a:noFill/>
              </p:spPr>
              <p:txBody>
                <a:bodyPr wrap="none" lIns="0" tIns="126000" rIns="0" bIns="72000" rtlCol="0">
                  <a:spAutoFit/>
                </a:bodyPr>
                <a:lstStyle>
                  <a:defPPr>
                    <a:defRPr lang="ko-KR"/>
                  </a:defPPr>
                  <a:lvl1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  <a:defRPr sz="120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defRPr>
                  </a:lvl1pPr>
                </a:lstStyle>
                <a:p>
                  <a:r>
                    <a:rPr lang="ko-KR" altLang="en-US" dirty="0"/>
                    <a:t>전투 전략 구상</a:t>
                  </a:r>
                </a:p>
                <a:p>
                  <a:r>
                    <a:rPr lang="ko-KR" altLang="en-US" dirty="0" err="1"/>
                    <a:t>어빌리티</a:t>
                  </a:r>
                  <a:r>
                    <a:rPr lang="ko-KR" altLang="en-US" dirty="0"/>
                    <a:t> 조합 활용</a:t>
                  </a:r>
                </a:p>
                <a:p>
                  <a:r>
                    <a:rPr lang="ko-KR" altLang="en-US" dirty="0"/>
                    <a:t>스킬 발동 확률 조절</a:t>
                  </a:r>
                </a:p>
              </p:txBody>
            </p:sp>
          </p:grpSp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FA5BFB2D-CE1F-B9D0-647B-8A466A4A3AC0}"/>
                  </a:ext>
                </a:extLst>
              </p:cNvPr>
              <p:cNvGrpSpPr/>
              <p:nvPr/>
            </p:nvGrpSpPr>
            <p:grpSpPr>
              <a:xfrm>
                <a:off x="5088663" y="1041297"/>
                <a:ext cx="2014674" cy="1309538"/>
                <a:chOff x="7412736" y="1041297"/>
                <a:chExt cx="2014674" cy="1309538"/>
              </a:xfrm>
            </p:grpSpPr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651131F0-25CE-9D03-7254-40FC098BED9D}"/>
                    </a:ext>
                  </a:extLst>
                </p:cNvPr>
                <p:cNvSpPr/>
                <p:nvPr/>
              </p:nvSpPr>
              <p:spPr>
                <a:xfrm>
                  <a:off x="7412736" y="1041297"/>
                  <a:ext cx="2014674" cy="1309538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58" name="자유형: 도형 57">
                  <a:extLst>
                    <a:ext uri="{FF2B5EF4-FFF2-40B4-BE49-F238E27FC236}">
                      <a16:creationId xmlns:a16="http://schemas.microsoft.com/office/drawing/2014/main" id="{DEBD63C6-67EC-7550-76B9-8CE0DB7C6516}"/>
                    </a:ext>
                  </a:extLst>
                </p:cNvPr>
                <p:cNvSpPr/>
                <p:nvPr/>
              </p:nvSpPr>
              <p:spPr>
                <a:xfrm>
                  <a:off x="7412736" y="1041297"/>
                  <a:ext cx="2014674" cy="370332"/>
                </a:xfrm>
                <a:custGeom>
                  <a:avLst/>
                  <a:gdLst>
                    <a:gd name="connsiteX0" fmla="*/ 218261 w 2014674"/>
                    <a:gd name="connsiteY0" fmla="*/ 0 h 370332"/>
                    <a:gd name="connsiteX1" fmla="*/ 1796413 w 2014674"/>
                    <a:gd name="connsiteY1" fmla="*/ 0 h 370332"/>
                    <a:gd name="connsiteX2" fmla="*/ 2014674 w 2014674"/>
                    <a:gd name="connsiteY2" fmla="*/ 218261 h 370332"/>
                    <a:gd name="connsiteX3" fmla="*/ 2014674 w 2014674"/>
                    <a:gd name="connsiteY3" fmla="*/ 370332 h 370332"/>
                    <a:gd name="connsiteX4" fmla="*/ 0 w 2014674"/>
                    <a:gd name="connsiteY4" fmla="*/ 370332 h 370332"/>
                    <a:gd name="connsiteX5" fmla="*/ 0 w 2014674"/>
                    <a:gd name="connsiteY5" fmla="*/ 218261 h 370332"/>
                    <a:gd name="connsiteX6" fmla="*/ 218261 w 2014674"/>
                    <a:gd name="connsiteY6" fmla="*/ 0 h 3703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14674" h="370332">
                      <a:moveTo>
                        <a:pt x="218261" y="0"/>
                      </a:moveTo>
                      <a:lnTo>
                        <a:pt x="1796413" y="0"/>
                      </a:lnTo>
                      <a:cubicBezTo>
                        <a:pt x="1916955" y="0"/>
                        <a:pt x="2014674" y="97719"/>
                        <a:pt x="2014674" y="218261"/>
                      </a:cubicBezTo>
                      <a:lnTo>
                        <a:pt x="2014674" y="370332"/>
                      </a:lnTo>
                      <a:lnTo>
                        <a:pt x="0" y="370332"/>
                      </a:lnTo>
                      <a:lnTo>
                        <a:pt x="0" y="218261"/>
                      </a:lnTo>
                      <a:cubicBezTo>
                        <a:pt x="0" y="97719"/>
                        <a:pt x="97719" y="0"/>
                        <a:pt x="218261" y="0"/>
                      </a:cubicBezTo>
                      <a:close/>
                    </a:path>
                  </a:pathLst>
                </a:custGeom>
                <a:solidFill>
                  <a:srgbClr val="FFDDDD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r>
                    <a:rPr lang="ko-KR" altLang="en-US" sz="1400" b="1" dirty="0">
                      <a:solidFill>
                        <a:schemeClr val="tx1"/>
                      </a:solidFill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전투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B5D6FA1F-8520-0BA0-B325-91F7AE5CC415}"/>
                    </a:ext>
                  </a:extLst>
                </p:cNvPr>
                <p:cNvSpPr txBox="1"/>
                <p:nvPr/>
              </p:nvSpPr>
              <p:spPr>
                <a:xfrm>
                  <a:off x="7721805" y="1411629"/>
                  <a:ext cx="1396536" cy="84664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126000" rIns="0" bIns="72000" rtlCol="0">
                  <a:spAutoFit/>
                </a:bodyPr>
                <a:lstStyle/>
                <a:p>
                  <a: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적 대상 탐색 및 이동</a:t>
                  </a:r>
                </a:p>
                <a:p>
                  <a: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자동 공격 </a:t>
                  </a:r>
                  <a:r>
                    <a:rPr lang="en-US" altLang="ko-KR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&amp; </a:t>
                  </a: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스킬</a:t>
                  </a:r>
                </a:p>
                <a:p>
                  <a:pPr marL="176213" lvl="0" indent="-176213">
                    <a:lnSpc>
                      <a:spcPct val="120000"/>
                    </a:lnSpc>
                    <a:buFont typeface="Arial" panose="020B0604020202020204" pitchFamily="34" charset="0"/>
                    <a:buChar char="•"/>
                  </a:pPr>
                  <a:r>
                    <a:rPr lang="ko-KR" altLang="en-US" sz="12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적 공격 회피</a:t>
                  </a:r>
                </a:p>
              </p:txBody>
            </p:sp>
          </p:grpSp>
        </p:grp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470CD0A9-7F56-03CA-F510-123C7DB169E7}"/>
              </a:ext>
            </a:extLst>
          </p:cNvPr>
          <p:cNvSpPr txBox="1"/>
          <p:nvPr/>
        </p:nvSpPr>
        <p:spPr>
          <a:xfrm>
            <a:off x="3066222" y="5944072"/>
            <a:ext cx="1171795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반복 플레이 유도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924112-85F8-BFBA-2F90-8DAE359A4505}"/>
              </a:ext>
            </a:extLst>
          </p:cNvPr>
          <p:cNvSpPr txBox="1"/>
          <p:nvPr/>
        </p:nvSpPr>
        <p:spPr>
          <a:xfrm>
            <a:off x="1799645" y="4728340"/>
            <a:ext cx="1482778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14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핵심 유저층으로 변화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F6457B-6D93-D04C-363B-CC6C8CB8E162}"/>
              </a:ext>
            </a:extLst>
          </p:cNvPr>
          <p:cNvSpPr txBox="1"/>
          <p:nvPr/>
        </p:nvSpPr>
        <p:spPr>
          <a:xfrm>
            <a:off x="10447644" y="3850604"/>
            <a:ext cx="1171795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반복 플레이 유도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506983-1671-A357-5586-B61AC47495E6}"/>
              </a:ext>
            </a:extLst>
          </p:cNvPr>
          <p:cNvSpPr txBox="1"/>
          <p:nvPr/>
        </p:nvSpPr>
        <p:spPr>
          <a:xfrm>
            <a:off x="8284719" y="5928877"/>
            <a:ext cx="663643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14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메타 성장</a:t>
            </a:r>
            <a:endParaRPr lang="en-US" altLang="ko-KR" sz="14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BAD381-C4DA-92EB-4FDC-29EE3A1B3182}"/>
              </a:ext>
            </a:extLst>
          </p:cNvPr>
          <p:cNvSpPr txBox="1"/>
          <p:nvPr/>
        </p:nvSpPr>
        <p:spPr>
          <a:xfrm>
            <a:off x="4348703" y="-274679"/>
            <a:ext cx="1327286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다양한 전투 스타일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ECFD18-335A-2E37-AB0A-FAB67E451D0B}"/>
              </a:ext>
            </a:extLst>
          </p:cNvPr>
          <p:cNvSpPr txBox="1"/>
          <p:nvPr/>
        </p:nvSpPr>
        <p:spPr>
          <a:xfrm>
            <a:off x="6385458" y="-274679"/>
            <a:ext cx="1482778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쉬운 조작</a:t>
            </a:r>
            <a:endParaRPr lang="ko-KR" altLang="en-US" sz="14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AB1DAA-FB08-8A17-ABFD-3C5FBF90F24C}"/>
              </a:ext>
            </a:extLst>
          </p:cNvPr>
          <p:cNvSpPr txBox="1"/>
          <p:nvPr/>
        </p:nvSpPr>
        <p:spPr>
          <a:xfrm>
            <a:off x="9121296" y="1457824"/>
            <a:ext cx="663644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확률 활용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D9D3F3-ED99-AD0B-FC28-133859E8314C}"/>
              </a:ext>
            </a:extLst>
          </p:cNvPr>
          <p:cNvSpPr txBox="1"/>
          <p:nvPr/>
        </p:nvSpPr>
        <p:spPr>
          <a:xfrm>
            <a:off x="9121297" y="2111953"/>
            <a:ext cx="663644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메타 성장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82C731-C90E-A5DC-626E-0E15DCF90D9B}"/>
              </a:ext>
            </a:extLst>
          </p:cNvPr>
          <p:cNvSpPr txBox="1"/>
          <p:nvPr/>
        </p:nvSpPr>
        <p:spPr>
          <a:xfrm>
            <a:off x="9292056" y="4866540"/>
            <a:ext cx="663644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14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과금 유도</a:t>
            </a:r>
            <a:endParaRPr lang="en-US" altLang="ko-KR" sz="14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995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E28EF-F6FA-057B-B385-533031DA6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그림 89" descr="흑백, 모노크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37B2657-B8E8-FB66-8092-467E90510D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2162">
            <a:off x="11280290" y="3095939"/>
            <a:ext cx="1706897" cy="800801"/>
          </a:xfrm>
          <a:prstGeom prst="rect">
            <a:avLst/>
          </a:prstGeom>
        </p:spPr>
      </p:pic>
      <p:sp>
        <p:nvSpPr>
          <p:cNvPr id="52" name="직선 연결선 3">
            <a:extLst>
              <a:ext uri="{FF2B5EF4-FFF2-40B4-BE49-F238E27FC236}">
                <a16:creationId xmlns:a16="http://schemas.microsoft.com/office/drawing/2014/main" id="{E0B03429-751F-CE7C-E0EE-48388121DE47}"/>
              </a:ext>
            </a:extLst>
          </p:cNvPr>
          <p:cNvSpPr/>
          <p:nvPr/>
        </p:nvSpPr>
        <p:spPr>
          <a:xfrm rot="18077724">
            <a:off x="17447546" y="975042"/>
            <a:ext cx="3494594" cy="3494594"/>
          </a:xfrm>
          <a:custGeom>
            <a:avLst/>
            <a:gdLst/>
            <a:ahLst/>
            <a:cxnLst/>
            <a:rect l="0" t="0" r="0" b="0"/>
            <a:pathLst>
              <a:path>
                <a:moveTo>
                  <a:pt x="2769285" y="330050"/>
                </a:moveTo>
                <a:arcTo wR="1747297" hR="1747297" stAng="18347740" swAng="3648625"/>
              </a:path>
            </a:pathLst>
          </a:custGeom>
          <a:noFill/>
          <a:ln w="1905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2"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013B894E-9EFB-A271-537C-2E216F42C003}"/>
              </a:ext>
            </a:extLst>
          </p:cNvPr>
          <p:cNvSpPr/>
          <p:nvPr/>
        </p:nvSpPr>
        <p:spPr>
          <a:xfrm>
            <a:off x="5112173" y="-3543555"/>
            <a:ext cx="1991164" cy="1991164"/>
          </a:xfrm>
          <a:prstGeom prst="ellipse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8EC26EFF-BAC0-491B-AA48-AD88B103C51F}"/>
              </a:ext>
            </a:extLst>
          </p:cNvPr>
          <p:cNvSpPr/>
          <p:nvPr/>
        </p:nvSpPr>
        <p:spPr>
          <a:xfrm>
            <a:off x="-1858448" y="4045435"/>
            <a:ext cx="1991164" cy="1991164"/>
          </a:xfrm>
          <a:prstGeom prst="ellipse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F630F5B-9CFE-A9A2-6386-CD0C24E6A71D}"/>
              </a:ext>
            </a:extLst>
          </p:cNvPr>
          <p:cNvSpPr/>
          <p:nvPr/>
        </p:nvSpPr>
        <p:spPr>
          <a:xfrm>
            <a:off x="11525884" y="4045435"/>
            <a:ext cx="1991164" cy="1991164"/>
          </a:xfrm>
          <a:prstGeom prst="ellipse">
            <a:avLst/>
          </a:prstGeom>
          <a:noFill/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E7BCCB2-88A4-EAE5-452E-BA9EFDF5B0D2}"/>
              </a:ext>
            </a:extLst>
          </p:cNvPr>
          <p:cNvSpPr txBox="1"/>
          <p:nvPr/>
        </p:nvSpPr>
        <p:spPr>
          <a:xfrm>
            <a:off x="-1383858" y="5944072"/>
            <a:ext cx="1171795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반복 플레이 유도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11F42B-02CF-023F-5531-6C3A4EE0C775}"/>
              </a:ext>
            </a:extLst>
          </p:cNvPr>
          <p:cNvSpPr txBox="1"/>
          <p:nvPr/>
        </p:nvSpPr>
        <p:spPr>
          <a:xfrm>
            <a:off x="-2650435" y="4728340"/>
            <a:ext cx="1482778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14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핵심 유저층으로 변화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52BA18-8583-D329-C0F6-667C8D6A95DF}"/>
              </a:ext>
            </a:extLst>
          </p:cNvPr>
          <p:cNvSpPr txBox="1"/>
          <p:nvPr/>
        </p:nvSpPr>
        <p:spPr>
          <a:xfrm>
            <a:off x="14364324" y="3850604"/>
            <a:ext cx="1171795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반복 플레이 유도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D6CDDA-2421-E24A-ADD0-451A2BF0771E}"/>
              </a:ext>
            </a:extLst>
          </p:cNvPr>
          <p:cNvSpPr txBox="1"/>
          <p:nvPr/>
        </p:nvSpPr>
        <p:spPr>
          <a:xfrm>
            <a:off x="12201399" y="5928877"/>
            <a:ext cx="663643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14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메타 성장</a:t>
            </a:r>
            <a:endParaRPr lang="en-US" altLang="ko-KR" sz="14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2ABC6E-4003-992B-F06C-11B926F58367}"/>
              </a:ext>
            </a:extLst>
          </p:cNvPr>
          <p:cNvSpPr txBox="1"/>
          <p:nvPr/>
        </p:nvSpPr>
        <p:spPr>
          <a:xfrm>
            <a:off x="4348703" y="-3202416"/>
            <a:ext cx="1327286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다양한 전투 스타일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FDF526-C9BD-112D-7C03-94F941DE4C91}"/>
              </a:ext>
            </a:extLst>
          </p:cNvPr>
          <p:cNvSpPr txBox="1"/>
          <p:nvPr/>
        </p:nvSpPr>
        <p:spPr>
          <a:xfrm>
            <a:off x="6385458" y="-3202416"/>
            <a:ext cx="1482778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쉬운 조작</a:t>
            </a:r>
            <a:endParaRPr lang="ko-KR" altLang="en-US" sz="14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7CB597-4035-F60A-DFA1-98BA1D518D0D}"/>
              </a:ext>
            </a:extLst>
          </p:cNvPr>
          <p:cNvSpPr txBox="1"/>
          <p:nvPr/>
        </p:nvSpPr>
        <p:spPr>
          <a:xfrm>
            <a:off x="9121296" y="-1469913"/>
            <a:ext cx="663644" cy="2154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algn="ctr">
              <a:defRPr sz="14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defRPr>
            </a:lvl1pPr>
          </a:lstStyle>
          <a:p>
            <a:r>
              <a:rPr lang="ko-KR" altLang="en-US" dirty="0"/>
              <a:t>확률 활용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0397337E-173F-2347-6B12-56DF075030C2}"/>
              </a:ext>
            </a:extLst>
          </p:cNvPr>
          <p:cNvGrpSpPr/>
          <p:nvPr/>
        </p:nvGrpSpPr>
        <p:grpSpPr>
          <a:xfrm>
            <a:off x="5088663" y="8428165"/>
            <a:ext cx="2014674" cy="1309538"/>
            <a:chOff x="7412736" y="5076039"/>
            <a:chExt cx="2014674" cy="1309538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E0C3A405-232F-870B-9A6E-175B02CBE975}"/>
                </a:ext>
              </a:extLst>
            </p:cNvPr>
            <p:cNvSpPr/>
            <p:nvPr/>
          </p:nvSpPr>
          <p:spPr>
            <a:xfrm>
              <a:off x="7412736" y="5076039"/>
              <a:ext cx="2014674" cy="1309538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337D0E96-34B9-6E5A-7DD3-C46082994A2F}"/>
                </a:ext>
              </a:extLst>
            </p:cNvPr>
            <p:cNvSpPr/>
            <p:nvPr/>
          </p:nvSpPr>
          <p:spPr>
            <a:xfrm>
              <a:off x="7412736" y="5076039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성장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803A120-9A85-FB6C-16BB-F5AF52F79EB8}"/>
                </a:ext>
              </a:extLst>
            </p:cNvPr>
            <p:cNvSpPr txBox="1"/>
            <p:nvPr/>
          </p:nvSpPr>
          <p:spPr>
            <a:xfrm>
              <a:off x="7636044" y="5446371"/>
              <a:ext cx="1568058" cy="84664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none" lIns="0" tIns="126000" rIns="0" bIns="72000" rtlCol="0">
              <a:spAutoFit/>
            </a:bodyPr>
            <a:lstStyle>
              <a:defPPr>
                <a:defRPr lang="ko-KR"/>
              </a:defPPr>
              <a:lvl1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  <a:defRPr sz="120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defRPr>
              </a:lvl1pPr>
            </a:lstStyle>
            <a:p>
              <a:r>
                <a:rPr lang="ko-KR" altLang="en-US" dirty="0"/>
                <a:t>적 처치 후 경험치 획득 </a:t>
              </a:r>
              <a:endParaRPr lang="en-US" altLang="ko-KR" dirty="0"/>
            </a:p>
            <a:p>
              <a:r>
                <a:rPr lang="ko-KR" altLang="en-US" dirty="0"/>
                <a:t>레벨 업</a:t>
              </a:r>
              <a:endParaRPr lang="en-US" altLang="ko-KR" dirty="0"/>
            </a:p>
            <a:p>
              <a:r>
                <a:rPr lang="ko-KR" altLang="en-US" dirty="0" err="1"/>
                <a:t>어빌리티</a:t>
              </a:r>
              <a:r>
                <a:rPr lang="ko-KR" altLang="en-US" dirty="0"/>
                <a:t> 선택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C0BFA921-53E7-BC6B-8E11-A75F61711F16}"/>
              </a:ext>
            </a:extLst>
          </p:cNvPr>
          <p:cNvGrpSpPr/>
          <p:nvPr/>
        </p:nvGrpSpPr>
        <p:grpSpPr>
          <a:xfrm>
            <a:off x="12694310" y="1370397"/>
            <a:ext cx="2014674" cy="1309538"/>
            <a:chOff x="1979370" y="5076039"/>
            <a:chExt cx="2014674" cy="1309538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33D76DE2-CBB8-F03B-046E-9B35B4492D05}"/>
                </a:ext>
              </a:extLst>
            </p:cNvPr>
            <p:cNvSpPr/>
            <p:nvPr/>
          </p:nvSpPr>
          <p:spPr>
            <a:xfrm>
              <a:off x="1979370" y="5076039"/>
              <a:ext cx="2014674" cy="1309538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365F7B8-12E3-8765-EF60-D9857B53162F}"/>
                </a:ext>
              </a:extLst>
            </p:cNvPr>
            <p:cNvSpPr/>
            <p:nvPr/>
          </p:nvSpPr>
          <p:spPr>
            <a:xfrm>
              <a:off x="1979370" y="5076039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메타 성장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2D04251-5E7B-C427-AC44-7ACD862164D7}"/>
                </a:ext>
              </a:extLst>
            </p:cNvPr>
            <p:cNvSpPr txBox="1"/>
            <p:nvPr/>
          </p:nvSpPr>
          <p:spPr>
            <a:xfrm>
              <a:off x="2307675" y="5446371"/>
              <a:ext cx="1312860" cy="84664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none" lIns="0" tIns="126000" rIns="0" bIns="72000" rtlCol="0">
              <a:spAutoFit/>
            </a:bodyPr>
            <a:lstStyle>
              <a:defPPr>
                <a:defRPr lang="ko-KR"/>
              </a:defPPr>
              <a:lvl1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  <a:defRPr sz="120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defRPr>
              </a:lvl1pPr>
            </a:lstStyle>
            <a:p>
              <a:r>
                <a:rPr lang="ko-KR" altLang="en-US" dirty="0"/>
                <a:t>전투를 진행하며</a:t>
              </a:r>
              <a:r>
                <a:rPr lang="en-US" altLang="ko-KR" dirty="0"/>
                <a:t> </a:t>
              </a:r>
            </a:p>
            <a:p>
              <a:pPr marL="0" indent="0">
                <a:buNone/>
              </a:pPr>
              <a:r>
                <a:rPr lang="ko-KR" altLang="en-US" dirty="0"/>
                <a:t>메타 성장의 재료 획득</a:t>
              </a:r>
              <a:endParaRPr lang="en-US" altLang="ko-KR" dirty="0"/>
            </a:p>
            <a:p>
              <a:endParaRPr lang="ko-KR" altLang="en-US" dirty="0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AB90120C-6C81-429D-3315-EB8E93E694CF}"/>
              </a:ext>
            </a:extLst>
          </p:cNvPr>
          <p:cNvGrpSpPr/>
          <p:nvPr/>
        </p:nvGrpSpPr>
        <p:grpSpPr>
          <a:xfrm>
            <a:off x="-3652063" y="1370397"/>
            <a:ext cx="2014674" cy="1309538"/>
            <a:chOff x="7412736" y="1041297"/>
            <a:chExt cx="2014674" cy="1309538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8C87EF62-169D-91DA-DFF2-E8658718EC35}"/>
                </a:ext>
              </a:extLst>
            </p:cNvPr>
            <p:cNvSpPr/>
            <p:nvPr/>
          </p:nvSpPr>
          <p:spPr>
            <a:xfrm>
              <a:off x="7412736" y="1041297"/>
              <a:ext cx="2014674" cy="1309538"/>
            </a:xfrm>
            <a:prstGeom prst="roundRect">
              <a:avLst/>
            </a:prstGeom>
            <a:solidFill>
              <a:schemeClr val="bg1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E950EBB-842D-0C44-308C-1D8E581E1BD1}"/>
                </a:ext>
              </a:extLst>
            </p:cNvPr>
            <p:cNvSpPr/>
            <p:nvPr/>
          </p:nvSpPr>
          <p:spPr>
            <a:xfrm>
              <a:off x="7412736" y="1041297"/>
              <a:ext cx="2014674" cy="370332"/>
            </a:xfrm>
            <a:custGeom>
              <a:avLst/>
              <a:gdLst>
                <a:gd name="connsiteX0" fmla="*/ 218261 w 2014674"/>
                <a:gd name="connsiteY0" fmla="*/ 0 h 370332"/>
                <a:gd name="connsiteX1" fmla="*/ 1796413 w 2014674"/>
                <a:gd name="connsiteY1" fmla="*/ 0 h 370332"/>
                <a:gd name="connsiteX2" fmla="*/ 2014674 w 2014674"/>
                <a:gd name="connsiteY2" fmla="*/ 218261 h 370332"/>
                <a:gd name="connsiteX3" fmla="*/ 2014674 w 2014674"/>
                <a:gd name="connsiteY3" fmla="*/ 370332 h 370332"/>
                <a:gd name="connsiteX4" fmla="*/ 0 w 2014674"/>
                <a:gd name="connsiteY4" fmla="*/ 370332 h 370332"/>
                <a:gd name="connsiteX5" fmla="*/ 0 w 2014674"/>
                <a:gd name="connsiteY5" fmla="*/ 218261 h 370332"/>
                <a:gd name="connsiteX6" fmla="*/ 218261 w 2014674"/>
                <a:gd name="connsiteY6" fmla="*/ 0 h 37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14674" h="370332">
                  <a:moveTo>
                    <a:pt x="218261" y="0"/>
                  </a:moveTo>
                  <a:lnTo>
                    <a:pt x="1796413" y="0"/>
                  </a:lnTo>
                  <a:cubicBezTo>
                    <a:pt x="1916955" y="0"/>
                    <a:pt x="2014674" y="97719"/>
                    <a:pt x="2014674" y="218261"/>
                  </a:cubicBezTo>
                  <a:lnTo>
                    <a:pt x="2014674" y="370332"/>
                  </a:lnTo>
                  <a:lnTo>
                    <a:pt x="0" y="370332"/>
                  </a:lnTo>
                  <a:lnTo>
                    <a:pt x="0" y="218261"/>
                  </a:lnTo>
                  <a:cubicBezTo>
                    <a:pt x="0" y="97719"/>
                    <a:pt x="97719" y="0"/>
                    <a:pt x="218261" y="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r>
                <a:rPr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반복 플레이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281A6A-9FE3-C008-5C72-4A137448311D}"/>
                </a:ext>
              </a:extLst>
            </p:cNvPr>
            <p:cNvSpPr txBox="1"/>
            <p:nvPr/>
          </p:nvSpPr>
          <p:spPr>
            <a:xfrm>
              <a:off x="7721805" y="1411629"/>
              <a:ext cx="1396536" cy="84664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none" lIns="0" tIns="126000" rIns="0" bIns="72000" rtlCol="0">
              <a:spAutoFit/>
            </a:bodyPr>
            <a:lstStyle/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대상 탐색 및 이동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자동 공격 </a:t>
              </a:r>
              <a:r>
                <a:rPr lang="en-US" altLang="ko-KR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&amp; </a:t>
              </a: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스킬</a:t>
              </a:r>
            </a:p>
            <a:p>
              <a:pPr marL="176213" lvl="0" indent="-176213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lang="ko-KR" altLang="en-US" sz="12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적 공격 회피</a:t>
              </a:r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AF536A8E-00D2-B30B-B34A-AA1ACF87641D}"/>
              </a:ext>
            </a:extLst>
          </p:cNvPr>
          <p:cNvGrpSpPr/>
          <p:nvPr/>
        </p:nvGrpSpPr>
        <p:grpSpPr>
          <a:xfrm>
            <a:off x="1986382" y="860538"/>
            <a:ext cx="8215994" cy="6045565"/>
            <a:chOff x="1986382" y="860538"/>
            <a:chExt cx="8215994" cy="6045565"/>
          </a:xfrm>
        </p:grpSpPr>
        <p:pic>
          <p:nvPicPr>
            <p:cNvPr id="100" name="그림 99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53AC6FA-7DFA-8B61-3E9B-9566AE25B2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52" t="1" r="-2" b="-154"/>
            <a:stretch>
              <a:fillRect/>
            </a:stretch>
          </p:blipFill>
          <p:spPr>
            <a:xfrm rot="1795969">
              <a:off x="7253807" y="931216"/>
              <a:ext cx="1709499" cy="802022"/>
            </a:xfrm>
            <a:prstGeom prst="rect">
              <a:avLst/>
            </a:prstGeom>
          </p:spPr>
        </p:pic>
        <p:pic>
          <p:nvPicPr>
            <p:cNvPr id="101" name="그림 100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8B091F0-CA47-A4B2-1582-ACD3D45DF1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5579642" flipH="1">
              <a:off x="8303999" y="2704142"/>
              <a:ext cx="1636727" cy="694717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2D47B76-716A-4CBF-772E-D4B84338F362}"/>
                </a:ext>
              </a:extLst>
            </p:cNvPr>
            <p:cNvSpPr txBox="1"/>
            <p:nvPr/>
          </p:nvSpPr>
          <p:spPr>
            <a:xfrm>
              <a:off x="7325758" y="869027"/>
              <a:ext cx="1388201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메타 성장이 필요한 난이도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2475013D-0B78-261E-91AF-AAD37BC9A4BF}"/>
                </a:ext>
              </a:extLst>
            </p:cNvPr>
            <p:cNvGrpSpPr/>
            <p:nvPr/>
          </p:nvGrpSpPr>
          <p:grpSpPr>
            <a:xfrm>
              <a:off x="3575459" y="1048981"/>
              <a:ext cx="5041082" cy="4206120"/>
              <a:chOff x="3575459" y="1361500"/>
              <a:chExt cx="5041082" cy="4206120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F930C800-20A0-EF4E-635C-3B62B424D9FD}"/>
                  </a:ext>
                </a:extLst>
              </p:cNvPr>
              <p:cNvGrpSpPr/>
              <p:nvPr/>
            </p:nvGrpSpPr>
            <p:grpSpPr>
              <a:xfrm>
                <a:off x="4348703" y="2001906"/>
                <a:ext cx="3494594" cy="3565714"/>
                <a:chOff x="4348703" y="1681703"/>
                <a:chExt cx="3494594" cy="3565714"/>
              </a:xfrm>
            </p:grpSpPr>
            <p:sp>
              <p:nvSpPr>
                <p:cNvPr id="16" name="직선 연결선 3">
                  <a:extLst>
                    <a:ext uri="{FF2B5EF4-FFF2-40B4-BE49-F238E27FC236}">
                      <a16:creationId xmlns:a16="http://schemas.microsoft.com/office/drawing/2014/main" id="{D0713F14-CC40-B539-B9BC-754601BFA8C8}"/>
                    </a:ext>
                  </a:extLst>
                </p:cNvPr>
                <p:cNvSpPr/>
                <p:nvPr/>
              </p:nvSpPr>
              <p:spPr>
                <a:xfrm>
                  <a:off x="4348703" y="1681703"/>
                  <a:ext cx="3494594" cy="34945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>
                      <a:moveTo>
                        <a:pt x="2769285" y="330050"/>
                      </a:moveTo>
                      <a:arcTo wR="1747297" hR="1747297" stAng="18347740" swAng="3648625"/>
                    </a:path>
                  </a:pathLst>
                </a:custGeom>
                <a:noFill/>
                <a:ln w="41275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2"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rgbClr r="0" g="0" b="0"/>
                </a:fillRef>
                <a:effectRef idx="0">
                  <a:schemeClr val="accent2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17" name="직선 연결선 4">
                  <a:extLst>
                    <a:ext uri="{FF2B5EF4-FFF2-40B4-BE49-F238E27FC236}">
                      <a16:creationId xmlns:a16="http://schemas.microsoft.com/office/drawing/2014/main" id="{194DD644-2D60-6EC4-AD2F-1F689947C984}"/>
                    </a:ext>
                  </a:extLst>
                </p:cNvPr>
                <p:cNvSpPr/>
                <p:nvPr/>
              </p:nvSpPr>
              <p:spPr>
                <a:xfrm>
                  <a:off x="4348703" y="1752823"/>
                  <a:ext cx="3494594" cy="34945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>
                      <a:moveTo>
                        <a:pt x="2579194" y="3283849"/>
                      </a:moveTo>
                      <a:arcTo wR="1747297" hR="1747297" stAng="3694119" swAng="3411761"/>
                    </a:path>
                  </a:pathLst>
                </a:custGeom>
                <a:noFill/>
                <a:ln w="41275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3"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rgbClr r="0" g="0" b="0"/>
                </a:fillRef>
                <a:effectRef idx="0">
                  <a:schemeClr val="accent3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18" name="직선 연결선 5">
                  <a:extLst>
                    <a:ext uri="{FF2B5EF4-FFF2-40B4-BE49-F238E27FC236}">
                      <a16:creationId xmlns:a16="http://schemas.microsoft.com/office/drawing/2014/main" id="{08A6A0EC-E468-B350-1345-54CF9C3B5B16}"/>
                    </a:ext>
                  </a:extLst>
                </p:cNvPr>
                <p:cNvSpPr/>
                <p:nvPr/>
              </p:nvSpPr>
              <p:spPr>
                <a:xfrm>
                  <a:off x="4348703" y="1681703"/>
                  <a:ext cx="3494594" cy="34945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>
                      <a:moveTo>
                        <a:pt x="11601" y="1948311"/>
                      </a:moveTo>
                      <a:arcTo wR="1747297" hR="1747297" stAng="10403635" swAng="3648625"/>
                    </a:path>
                  </a:pathLst>
                </a:custGeom>
                <a:noFill/>
                <a:ln w="41275">
                  <a:headEnd type="none"/>
                  <a:tailEnd type="triangle"/>
                </a:ln>
              </p:spPr>
              <p:style>
                <a:lnRef idx="1">
                  <a:schemeClr val="accent4"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rgbClr r="0" g="0" b="0"/>
                </a:fillRef>
                <a:effectRef idx="0">
                  <a:schemeClr val="accent4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ko-KR" altLang="en-US"/>
                </a:p>
              </p:txBody>
            </p:sp>
          </p:grpSp>
          <p:grpSp>
            <p:nvGrpSpPr>
              <p:cNvPr id="107" name="그룹 106">
                <a:extLst>
                  <a:ext uri="{FF2B5EF4-FFF2-40B4-BE49-F238E27FC236}">
                    <a16:creationId xmlns:a16="http://schemas.microsoft.com/office/drawing/2014/main" id="{FB1B1668-ED33-F780-FC81-5EC14AE6D88C}"/>
                  </a:ext>
                </a:extLst>
              </p:cNvPr>
              <p:cNvGrpSpPr/>
              <p:nvPr/>
            </p:nvGrpSpPr>
            <p:grpSpPr>
              <a:xfrm>
                <a:off x="3575459" y="1361500"/>
                <a:ext cx="5041082" cy="3915244"/>
                <a:chOff x="3575459" y="1041297"/>
                <a:chExt cx="5041082" cy="3915244"/>
              </a:xfrm>
            </p:grpSpPr>
            <p:grpSp>
              <p:nvGrpSpPr>
                <p:cNvPr id="69" name="그룹 68">
                  <a:extLst>
                    <a:ext uri="{FF2B5EF4-FFF2-40B4-BE49-F238E27FC236}">
                      <a16:creationId xmlns:a16="http://schemas.microsoft.com/office/drawing/2014/main" id="{7ECAB2C1-C4BB-0B76-B75B-10CA345125DF}"/>
                    </a:ext>
                  </a:extLst>
                </p:cNvPr>
                <p:cNvGrpSpPr/>
                <p:nvPr/>
              </p:nvGrpSpPr>
              <p:grpSpPr>
                <a:xfrm>
                  <a:off x="6601867" y="3647003"/>
                  <a:ext cx="2014674" cy="1309538"/>
                  <a:chOff x="7412736" y="5076039"/>
                  <a:chExt cx="2014674" cy="1309538"/>
                </a:xfrm>
              </p:grpSpPr>
              <p:sp>
                <p:nvSpPr>
                  <p:cNvPr id="59" name="사각형: 둥근 모서리 58">
                    <a:extLst>
                      <a:ext uri="{FF2B5EF4-FFF2-40B4-BE49-F238E27FC236}">
                        <a16:creationId xmlns:a16="http://schemas.microsoft.com/office/drawing/2014/main" id="{8BF74A11-87A5-D340-2077-90F04A220123}"/>
                      </a:ext>
                    </a:extLst>
                  </p:cNvPr>
                  <p:cNvSpPr/>
                  <p:nvPr/>
                </p:nvSpPr>
                <p:spPr>
                  <a:xfrm>
                    <a:off x="7412736" y="5076039"/>
                    <a:ext cx="2014674" cy="130953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60" name="자유형: 도형 59">
                    <a:extLst>
                      <a:ext uri="{FF2B5EF4-FFF2-40B4-BE49-F238E27FC236}">
                        <a16:creationId xmlns:a16="http://schemas.microsoft.com/office/drawing/2014/main" id="{EB018144-06F3-BF17-7CC8-661CFF749C42}"/>
                      </a:ext>
                    </a:extLst>
                  </p:cNvPr>
                  <p:cNvSpPr/>
                  <p:nvPr/>
                </p:nvSpPr>
                <p:spPr>
                  <a:xfrm>
                    <a:off x="7412736" y="5076039"/>
                    <a:ext cx="2014674" cy="370332"/>
                  </a:xfrm>
                  <a:custGeom>
                    <a:avLst/>
                    <a:gdLst>
                      <a:gd name="connsiteX0" fmla="*/ 218261 w 2014674"/>
                      <a:gd name="connsiteY0" fmla="*/ 0 h 370332"/>
                      <a:gd name="connsiteX1" fmla="*/ 1796413 w 2014674"/>
                      <a:gd name="connsiteY1" fmla="*/ 0 h 370332"/>
                      <a:gd name="connsiteX2" fmla="*/ 2014674 w 2014674"/>
                      <a:gd name="connsiteY2" fmla="*/ 218261 h 370332"/>
                      <a:gd name="connsiteX3" fmla="*/ 2014674 w 2014674"/>
                      <a:gd name="connsiteY3" fmla="*/ 370332 h 370332"/>
                      <a:gd name="connsiteX4" fmla="*/ 0 w 2014674"/>
                      <a:gd name="connsiteY4" fmla="*/ 370332 h 370332"/>
                      <a:gd name="connsiteX5" fmla="*/ 0 w 2014674"/>
                      <a:gd name="connsiteY5" fmla="*/ 218261 h 370332"/>
                      <a:gd name="connsiteX6" fmla="*/ 218261 w 2014674"/>
                      <a:gd name="connsiteY6" fmla="*/ 0 h 3703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014674" h="370332">
                        <a:moveTo>
                          <a:pt x="218261" y="0"/>
                        </a:moveTo>
                        <a:lnTo>
                          <a:pt x="1796413" y="0"/>
                        </a:lnTo>
                        <a:cubicBezTo>
                          <a:pt x="1916955" y="0"/>
                          <a:pt x="2014674" y="97719"/>
                          <a:pt x="2014674" y="218261"/>
                        </a:cubicBezTo>
                        <a:lnTo>
                          <a:pt x="2014674" y="370332"/>
                        </a:lnTo>
                        <a:lnTo>
                          <a:pt x="0" y="370332"/>
                        </a:lnTo>
                        <a:lnTo>
                          <a:pt x="0" y="218261"/>
                        </a:lnTo>
                        <a:cubicBezTo>
                          <a:pt x="0" y="97719"/>
                          <a:pt x="97719" y="0"/>
                          <a:pt x="218261" y="0"/>
                        </a:cubicBezTo>
                        <a:close/>
                      </a:path>
                    </a:pathLst>
                  </a:custGeom>
                  <a:solidFill>
                    <a:schemeClr val="accent3">
                      <a:lumMod val="20000"/>
                      <a:lumOff val="80000"/>
                    </a:schemeClr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r>
                      <a:rPr lang="ko-KR" altLang="en-US" sz="1400" b="1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성장</a:t>
                    </a:r>
                  </a:p>
                </p:txBody>
              </p:sp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E5C48A65-F052-8659-3E37-EBF54C5E3C92}"/>
                      </a:ext>
                    </a:extLst>
                  </p:cNvPr>
                  <p:cNvSpPr txBox="1"/>
                  <p:nvPr/>
                </p:nvSpPr>
                <p:spPr>
                  <a:xfrm>
                    <a:off x="7636044" y="5446371"/>
                    <a:ext cx="1491114" cy="846649"/>
                  </a:xfrm>
                  <a:prstGeom prst="rect">
                    <a:avLst/>
                  </a:prstGeom>
                  <a:noFill/>
                </p:spPr>
                <p:txBody>
                  <a:bodyPr wrap="none" lIns="0" tIns="126000" rIns="0" bIns="72000" rtlCol="0">
                    <a:spAutoFit/>
                  </a:bodyPr>
                  <a:lstStyle>
                    <a:defPPr>
                      <a:defRPr lang="ko-KR"/>
                    </a:defPPr>
                    <a:lvl1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  <a:defRPr sz="12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lvl1pPr>
                  </a:lstStyle>
                  <a:p>
                    <a:r>
                      <a:rPr lang="ko-KR" altLang="en-US" dirty="0"/>
                      <a:t>경험치 획득 </a:t>
                    </a:r>
                    <a:r>
                      <a:rPr lang="en-US" altLang="ko-KR" dirty="0"/>
                      <a:t>&amp; </a:t>
                    </a:r>
                    <a:r>
                      <a:rPr lang="ko-KR" altLang="en-US" dirty="0"/>
                      <a:t>레벨 업</a:t>
                    </a:r>
                    <a:endParaRPr lang="en-US" altLang="ko-KR" dirty="0"/>
                  </a:p>
                  <a:p>
                    <a:r>
                      <a:rPr lang="ko-KR" altLang="en-US" dirty="0" err="1"/>
                      <a:t>어빌리티</a:t>
                    </a:r>
                    <a:r>
                      <a:rPr lang="ko-KR" altLang="en-US" dirty="0"/>
                      <a:t> 선택</a:t>
                    </a:r>
                    <a:endParaRPr lang="en-US" altLang="ko-KR" dirty="0"/>
                  </a:p>
                  <a:p>
                    <a:r>
                      <a:rPr lang="ko-KR" altLang="en-US" dirty="0"/>
                      <a:t>숙련도 상승</a:t>
                    </a:r>
                  </a:p>
                </p:txBody>
              </p:sp>
            </p:grpSp>
            <p:grpSp>
              <p:nvGrpSpPr>
                <p:cNvPr id="68" name="그룹 67">
                  <a:extLst>
                    <a:ext uri="{FF2B5EF4-FFF2-40B4-BE49-F238E27FC236}">
                      <a16:creationId xmlns:a16="http://schemas.microsoft.com/office/drawing/2014/main" id="{9762698F-BA15-CBA6-FF6E-94954EEA2182}"/>
                    </a:ext>
                  </a:extLst>
                </p:cNvPr>
                <p:cNvGrpSpPr/>
                <p:nvPr/>
              </p:nvGrpSpPr>
              <p:grpSpPr>
                <a:xfrm>
                  <a:off x="3575459" y="3647003"/>
                  <a:ext cx="2014674" cy="1309538"/>
                  <a:chOff x="1979370" y="5076039"/>
                  <a:chExt cx="2014674" cy="1309538"/>
                </a:xfrm>
              </p:grpSpPr>
              <p:sp>
                <p:nvSpPr>
                  <p:cNvPr id="61" name="사각형: 둥근 모서리 60">
                    <a:extLst>
                      <a:ext uri="{FF2B5EF4-FFF2-40B4-BE49-F238E27FC236}">
                        <a16:creationId xmlns:a16="http://schemas.microsoft.com/office/drawing/2014/main" id="{5BADF21B-052C-4EF7-3346-DFE63EE60A05}"/>
                      </a:ext>
                    </a:extLst>
                  </p:cNvPr>
                  <p:cNvSpPr/>
                  <p:nvPr/>
                </p:nvSpPr>
                <p:spPr>
                  <a:xfrm>
                    <a:off x="1979370" y="5076039"/>
                    <a:ext cx="2014674" cy="130953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62" name="자유형: 도형 61">
                    <a:extLst>
                      <a:ext uri="{FF2B5EF4-FFF2-40B4-BE49-F238E27FC236}">
                        <a16:creationId xmlns:a16="http://schemas.microsoft.com/office/drawing/2014/main" id="{413B7C25-20E9-0FBE-AEE2-1957FD6558C5}"/>
                      </a:ext>
                    </a:extLst>
                  </p:cNvPr>
                  <p:cNvSpPr/>
                  <p:nvPr/>
                </p:nvSpPr>
                <p:spPr>
                  <a:xfrm>
                    <a:off x="1979370" y="5076039"/>
                    <a:ext cx="2014674" cy="370332"/>
                  </a:xfrm>
                  <a:custGeom>
                    <a:avLst/>
                    <a:gdLst>
                      <a:gd name="connsiteX0" fmla="*/ 218261 w 2014674"/>
                      <a:gd name="connsiteY0" fmla="*/ 0 h 370332"/>
                      <a:gd name="connsiteX1" fmla="*/ 1796413 w 2014674"/>
                      <a:gd name="connsiteY1" fmla="*/ 0 h 370332"/>
                      <a:gd name="connsiteX2" fmla="*/ 2014674 w 2014674"/>
                      <a:gd name="connsiteY2" fmla="*/ 218261 h 370332"/>
                      <a:gd name="connsiteX3" fmla="*/ 2014674 w 2014674"/>
                      <a:gd name="connsiteY3" fmla="*/ 370332 h 370332"/>
                      <a:gd name="connsiteX4" fmla="*/ 0 w 2014674"/>
                      <a:gd name="connsiteY4" fmla="*/ 370332 h 370332"/>
                      <a:gd name="connsiteX5" fmla="*/ 0 w 2014674"/>
                      <a:gd name="connsiteY5" fmla="*/ 218261 h 370332"/>
                      <a:gd name="connsiteX6" fmla="*/ 218261 w 2014674"/>
                      <a:gd name="connsiteY6" fmla="*/ 0 h 3703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014674" h="370332">
                        <a:moveTo>
                          <a:pt x="218261" y="0"/>
                        </a:moveTo>
                        <a:lnTo>
                          <a:pt x="1796413" y="0"/>
                        </a:lnTo>
                        <a:cubicBezTo>
                          <a:pt x="1916955" y="0"/>
                          <a:pt x="2014674" y="97719"/>
                          <a:pt x="2014674" y="218261"/>
                        </a:cubicBezTo>
                        <a:lnTo>
                          <a:pt x="2014674" y="370332"/>
                        </a:lnTo>
                        <a:lnTo>
                          <a:pt x="0" y="370332"/>
                        </a:lnTo>
                        <a:lnTo>
                          <a:pt x="0" y="218261"/>
                        </a:lnTo>
                        <a:cubicBezTo>
                          <a:pt x="0" y="97719"/>
                          <a:pt x="97719" y="0"/>
                          <a:pt x="218261" y="0"/>
                        </a:cubicBezTo>
                        <a:close/>
                      </a:path>
                    </a:pathLst>
                  </a:cu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r>
                      <a:rPr lang="ko-KR" altLang="en-US" sz="1400" b="1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전략</a:t>
                    </a:r>
                  </a:p>
                </p:txBody>
              </p:sp>
              <p:sp>
                <p:nvSpPr>
                  <p:cNvPr id="66" name="TextBox 65">
                    <a:extLst>
                      <a:ext uri="{FF2B5EF4-FFF2-40B4-BE49-F238E27FC236}">
                        <a16:creationId xmlns:a16="http://schemas.microsoft.com/office/drawing/2014/main" id="{D7BBDBD3-0DEC-7690-ADC6-A9AA41593E11}"/>
                      </a:ext>
                    </a:extLst>
                  </p:cNvPr>
                  <p:cNvSpPr txBox="1"/>
                  <p:nvPr/>
                </p:nvSpPr>
                <p:spPr>
                  <a:xfrm>
                    <a:off x="2307675" y="5446371"/>
                    <a:ext cx="1358064" cy="846649"/>
                  </a:xfrm>
                  <a:prstGeom prst="rect">
                    <a:avLst/>
                  </a:prstGeom>
                  <a:noFill/>
                </p:spPr>
                <p:txBody>
                  <a:bodyPr wrap="none" lIns="0" tIns="126000" rIns="0" bIns="72000" rtlCol="0">
                    <a:spAutoFit/>
                  </a:bodyPr>
                  <a:lstStyle>
                    <a:defPPr>
                      <a:defRPr lang="ko-KR"/>
                    </a:defPPr>
                    <a:lvl1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  <a:defRPr sz="12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lvl1pPr>
                  </a:lstStyle>
                  <a:p>
                    <a:r>
                      <a:rPr lang="ko-KR" altLang="en-US" dirty="0"/>
                      <a:t>전투 전략 구상</a:t>
                    </a:r>
                  </a:p>
                  <a:p>
                    <a:r>
                      <a:rPr lang="ko-KR" altLang="en-US" dirty="0" err="1"/>
                      <a:t>어빌리티</a:t>
                    </a:r>
                    <a:r>
                      <a:rPr lang="ko-KR" altLang="en-US" dirty="0"/>
                      <a:t> 조합 활용</a:t>
                    </a:r>
                  </a:p>
                  <a:p>
                    <a:r>
                      <a:rPr lang="ko-KR" altLang="en-US" dirty="0"/>
                      <a:t>스킬 발동 확률 조절</a:t>
                    </a:r>
                  </a:p>
                </p:txBody>
              </p:sp>
            </p:grpSp>
            <p:grpSp>
              <p:nvGrpSpPr>
                <p:cNvPr id="70" name="그룹 69">
                  <a:extLst>
                    <a:ext uri="{FF2B5EF4-FFF2-40B4-BE49-F238E27FC236}">
                      <a16:creationId xmlns:a16="http://schemas.microsoft.com/office/drawing/2014/main" id="{9889AF20-DEC1-7102-B90F-8A3F3AEAA650}"/>
                    </a:ext>
                  </a:extLst>
                </p:cNvPr>
                <p:cNvGrpSpPr/>
                <p:nvPr/>
              </p:nvGrpSpPr>
              <p:grpSpPr>
                <a:xfrm>
                  <a:off x="5088663" y="1041297"/>
                  <a:ext cx="2014674" cy="1309538"/>
                  <a:chOff x="7412736" y="1041297"/>
                  <a:chExt cx="2014674" cy="1309538"/>
                </a:xfrm>
              </p:grpSpPr>
              <p:sp>
                <p:nvSpPr>
                  <p:cNvPr id="57" name="사각형: 둥근 모서리 56">
                    <a:extLst>
                      <a:ext uri="{FF2B5EF4-FFF2-40B4-BE49-F238E27FC236}">
                        <a16:creationId xmlns:a16="http://schemas.microsoft.com/office/drawing/2014/main" id="{2EBEF855-A5FE-7125-571C-364739A28B4B}"/>
                      </a:ext>
                    </a:extLst>
                  </p:cNvPr>
                  <p:cNvSpPr/>
                  <p:nvPr/>
                </p:nvSpPr>
                <p:spPr>
                  <a:xfrm>
                    <a:off x="7412736" y="1041297"/>
                    <a:ext cx="2014674" cy="130953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58" name="자유형: 도형 57">
                    <a:extLst>
                      <a:ext uri="{FF2B5EF4-FFF2-40B4-BE49-F238E27FC236}">
                        <a16:creationId xmlns:a16="http://schemas.microsoft.com/office/drawing/2014/main" id="{4BEF0E6D-B637-5D5F-A97B-7ECB5B12DEC6}"/>
                      </a:ext>
                    </a:extLst>
                  </p:cNvPr>
                  <p:cNvSpPr/>
                  <p:nvPr/>
                </p:nvSpPr>
                <p:spPr>
                  <a:xfrm>
                    <a:off x="7412736" y="1041297"/>
                    <a:ext cx="2014674" cy="370332"/>
                  </a:xfrm>
                  <a:custGeom>
                    <a:avLst/>
                    <a:gdLst>
                      <a:gd name="connsiteX0" fmla="*/ 218261 w 2014674"/>
                      <a:gd name="connsiteY0" fmla="*/ 0 h 370332"/>
                      <a:gd name="connsiteX1" fmla="*/ 1796413 w 2014674"/>
                      <a:gd name="connsiteY1" fmla="*/ 0 h 370332"/>
                      <a:gd name="connsiteX2" fmla="*/ 2014674 w 2014674"/>
                      <a:gd name="connsiteY2" fmla="*/ 218261 h 370332"/>
                      <a:gd name="connsiteX3" fmla="*/ 2014674 w 2014674"/>
                      <a:gd name="connsiteY3" fmla="*/ 370332 h 370332"/>
                      <a:gd name="connsiteX4" fmla="*/ 0 w 2014674"/>
                      <a:gd name="connsiteY4" fmla="*/ 370332 h 370332"/>
                      <a:gd name="connsiteX5" fmla="*/ 0 w 2014674"/>
                      <a:gd name="connsiteY5" fmla="*/ 218261 h 370332"/>
                      <a:gd name="connsiteX6" fmla="*/ 218261 w 2014674"/>
                      <a:gd name="connsiteY6" fmla="*/ 0 h 3703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014674" h="370332">
                        <a:moveTo>
                          <a:pt x="218261" y="0"/>
                        </a:moveTo>
                        <a:lnTo>
                          <a:pt x="1796413" y="0"/>
                        </a:lnTo>
                        <a:cubicBezTo>
                          <a:pt x="1916955" y="0"/>
                          <a:pt x="2014674" y="97719"/>
                          <a:pt x="2014674" y="218261"/>
                        </a:cubicBezTo>
                        <a:lnTo>
                          <a:pt x="2014674" y="370332"/>
                        </a:lnTo>
                        <a:lnTo>
                          <a:pt x="0" y="370332"/>
                        </a:lnTo>
                        <a:lnTo>
                          <a:pt x="0" y="218261"/>
                        </a:lnTo>
                        <a:cubicBezTo>
                          <a:pt x="0" y="97719"/>
                          <a:pt x="97719" y="0"/>
                          <a:pt x="218261" y="0"/>
                        </a:cubicBezTo>
                        <a:close/>
                      </a:path>
                    </a:pathLst>
                  </a:custGeom>
                  <a:solidFill>
                    <a:srgbClr val="FFDDDD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r>
                      <a:rPr lang="ko-KR" altLang="en-US" sz="1400" b="1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전투</a:t>
                    </a:r>
                  </a:p>
                </p:txBody>
              </p:sp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15593C9E-7379-3800-4268-7770513283BA}"/>
                      </a:ext>
                    </a:extLst>
                  </p:cNvPr>
                  <p:cNvSpPr txBox="1"/>
                  <p:nvPr/>
                </p:nvSpPr>
                <p:spPr>
                  <a:xfrm>
                    <a:off x="7721805" y="1411629"/>
                    <a:ext cx="1396536" cy="84664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126000" rIns="0" bIns="72000" rtlCol="0">
                    <a:spAutoFit/>
                  </a:bodyPr>
                  <a:lstStyle/>
                  <a:p>
                    <a: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</a:pP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적 대상 탐색 및 이동</a:t>
                    </a:r>
                  </a:p>
                  <a:p>
                    <a: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</a:pP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자동 공격 </a:t>
                    </a:r>
                    <a:r>
                      <a:rPr lang="en-US" altLang="ko-KR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&amp; </a:t>
                    </a: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스킬</a:t>
                    </a:r>
                  </a:p>
                  <a:p>
                    <a: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</a:pP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적 공격 회피</a:t>
                    </a:r>
                  </a:p>
                </p:txBody>
              </p:sp>
            </p:grpSp>
          </p:grpSp>
        </p:grp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45BB3B4E-98BA-9D1D-616F-8EAD43D544F9}"/>
                </a:ext>
              </a:extLst>
            </p:cNvPr>
            <p:cNvGrpSpPr/>
            <p:nvPr/>
          </p:nvGrpSpPr>
          <p:grpSpPr>
            <a:xfrm>
              <a:off x="3960670" y="2691097"/>
              <a:ext cx="1001877" cy="184666"/>
              <a:chOff x="3960670" y="3116288"/>
              <a:chExt cx="1001877" cy="184666"/>
            </a:xfrm>
          </p:grpSpPr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08949E5-9457-C2DB-8064-BC8065D17070}"/>
                  </a:ext>
                </a:extLst>
              </p:cNvPr>
              <p:cNvSpPr txBox="1"/>
              <p:nvPr/>
            </p:nvSpPr>
            <p:spPr>
              <a:xfrm>
                <a:off x="3960670" y="3116288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ln w="38100">
                      <a:solidFill>
                        <a:srgbClr val="0070C0"/>
                      </a:solidFill>
                    </a:ln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반복 플레이 유도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981DCE06-A760-FCFF-4C51-141C6E9E590E}"/>
                  </a:ext>
                </a:extLst>
              </p:cNvPr>
              <p:cNvSpPr txBox="1"/>
              <p:nvPr/>
            </p:nvSpPr>
            <p:spPr>
              <a:xfrm>
                <a:off x="3960670" y="3116288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반복 플레이 유도</a:t>
                </a:r>
              </a:p>
            </p:txBody>
          </p:sp>
        </p:grp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AC22B2AE-177E-D1C1-0EB8-FFD36B036F82}"/>
                </a:ext>
              </a:extLst>
            </p:cNvPr>
            <p:cNvGrpSpPr/>
            <p:nvPr/>
          </p:nvGrpSpPr>
          <p:grpSpPr>
            <a:xfrm>
              <a:off x="7069449" y="2691097"/>
              <a:ext cx="1170192" cy="184666"/>
              <a:chOff x="7149597" y="3116288"/>
              <a:chExt cx="1170192" cy="184666"/>
            </a:xfrm>
          </p:grpSpPr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E7CE33D-1546-052E-15C6-D26919F08F0B}"/>
                  </a:ext>
                </a:extLst>
              </p:cNvPr>
              <p:cNvSpPr txBox="1"/>
              <p:nvPr/>
            </p:nvSpPr>
            <p:spPr>
              <a:xfrm>
                <a:off x="7149597" y="3116288"/>
                <a:ext cx="1170192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ln w="38100">
                      <a:solidFill>
                        <a:srgbClr val="FF0000"/>
                      </a:solidFill>
                    </a:ln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운에 의한 재미 유지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E7BCC6BA-B80B-C782-0C1C-4A067211E5D9}"/>
                  </a:ext>
                </a:extLst>
              </p:cNvPr>
              <p:cNvSpPr txBox="1"/>
              <p:nvPr/>
            </p:nvSpPr>
            <p:spPr>
              <a:xfrm>
                <a:off x="7149597" y="3116288"/>
                <a:ext cx="1170192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운에 의한 재미 유지</a:t>
                </a:r>
              </a:p>
            </p:txBody>
          </p: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B0E21232-7C05-EC3E-06C5-4205C0767ACA}"/>
                </a:ext>
              </a:extLst>
            </p:cNvPr>
            <p:cNvGrpSpPr/>
            <p:nvPr/>
          </p:nvGrpSpPr>
          <p:grpSpPr>
            <a:xfrm>
              <a:off x="5595065" y="5308206"/>
              <a:ext cx="1001881" cy="184666"/>
              <a:chOff x="5595072" y="5308206"/>
              <a:chExt cx="1001881" cy="184666"/>
            </a:xfrm>
          </p:grpSpPr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C4B7D68-A5DA-8D41-3B4E-E2AE9FC80D90}"/>
                  </a:ext>
                </a:extLst>
              </p:cNvPr>
              <p:cNvSpPr txBox="1"/>
              <p:nvPr/>
            </p:nvSpPr>
            <p:spPr>
              <a:xfrm>
                <a:off x="5595072" y="5308206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ln w="38100">
                      <a:solidFill>
                        <a:srgbClr val="00B050"/>
                      </a:solidFill>
                    </a:ln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다양한 전략 설계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3BCEB796-B71B-FE45-7B77-E5B43BF99795}"/>
                  </a:ext>
                </a:extLst>
              </p:cNvPr>
              <p:cNvSpPr txBox="1"/>
              <p:nvPr/>
            </p:nvSpPr>
            <p:spPr>
              <a:xfrm>
                <a:off x="5595076" y="5308206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다양한 전략 설계</a:t>
                </a:r>
              </a:p>
            </p:txBody>
          </p:sp>
        </p:grpSp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B1942122-7046-68C7-3510-3E0F222CA3DF}"/>
                </a:ext>
              </a:extLst>
            </p:cNvPr>
            <p:cNvSpPr/>
            <p:nvPr/>
          </p:nvSpPr>
          <p:spPr>
            <a:xfrm>
              <a:off x="8580015" y="1615452"/>
              <a:ext cx="1622361" cy="540000"/>
            </a:xfrm>
            <a:prstGeom prst="roundRect">
              <a:avLst>
                <a:gd name="adj" fmla="val 29424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메타 성장에 대한</a:t>
              </a:r>
              <a:endParaRPr lang="en-US" altLang="ko-KR" sz="1200" dirty="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endParaRP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욕구 상승</a:t>
              </a:r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F9F9DE7E-E617-A5E1-4424-15A1D632F032}"/>
                </a:ext>
              </a:extLst>
            </p:cNvPr>
            <p:cNvSpPr/>
            <p:nvPr/>
          </p:nvSpPr>
          <p:spPr>
            <a:xfrm>
              <a:off x="1986382" y="1615452"/>
              <a:ext cx="1622361" cy="540000"/>
            </a:xfrm>
            <a:prstGeom prst="roundRect">
              <a:avLst>
                <a:gd name="adj" fmla="val 29424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핵심 유저층으로 변화</a:t>
              </a:r>
            </a:p>
          </p:txBody>
        </p:sp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7577B79C-247B-10E4-B2D7-6BB52BB6CA4B}"/>
                </a:ext>
              </a:extLst>
            </p:cNvPr>
            <p:cNvSpPr/>
            <p:nvPr/>
          </p:nvSpPr>
          <p:spPr>
            <a:xfrm>
              <a:off x="5284820" y="6366103"/>
              <a:ext cx="1622361" cy="540000"/>
            </a:xfrm>
            <a:prstGeom prst="roundRect">
              <a:avLst>
                <a:gd name="adj" fmla="val 29424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도전 욕구 자극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493D7B3-5EBF-C889-8868-F728ED9BBDF9}"/>
                </a:ext>
              </a:extLst>
            </p:cNvPr>
            <p:cNvSpPr txBox="1"/>
            <p:nvPr/>
          </p:nvSpPr>
          <p:spPr>
            <a:xfrm>
              <a:off x="3569650" y="860538"/>
              <a:ext cx="1154163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다양한 전투 경험 제공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pic>
          <p:nvPicPr>
            <p:cNvPr id="91" name="그림 90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62F971A-9897-30AA-C629-B74083157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52" t="1" r="-2" b="-154"/>
            <a:stretch>
              <a:fillRect/>
            </a:stretch>
          </p:blipFill>
          <p:spPr>
            <a:xfrm rot="19804031" flipH="1">
              <a:off x="3228695" y="931216"/>
              <a:ext cx="1709499" cy="802022"/>
            </a:xfrm>
            <a:prstGeom prst="rect">
              <a:avLst/>
            </a:prstGeom>
          </p:spPr>
        </p:pic>
        <p:pic>
          <p:nvPicPr>
            <p:cNvPr id="96" name="그림 95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0798C6F-360A-09F0-208C-14C27F1A38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16020358">
              <a:off x="2251275" y="2704142"/>
              <a:ext cx="1636727" cy="694717"/>
            </a:xfrm>
            <a:prstGeom prst="rect">
              <a:avLst/>
            </a:prstGeom>
          </p:spPr>
        </p:pic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89B9369-7013-2723-1B25-8DF2DCE1E831}"/>
                </a:ext>
              </a:extLst>
            </p:cNvPr>
            <p:cNvSpPr txBox="1"/>
            <p:nvPr/>
          </p:nvSpPr>
          <p:spPr>
            <a:xfrm>
              <a:off x="2019853" y="3173174"/>
              <a:ext cx="886460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자기 효능감 획득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A4F7D8FC-8B4F-031B-56EC-7C164D61853A}"/>
                </a:ext>
              </a:extLst>
            </p:cNvPr>
            <p:cNvSpPr txBox="1"/>
            <p:nvPr/>
          </p:nvSpPr>
          <p:spPr>
            <a:xfrm>
              <a:off x="9335665" y="3092382"/>
              <a:ext cx="852798" cy="3231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메타 성장을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간접적으로</a:t>
              </a:r>
              <a:r>
                <a:rPr lang="en-US" altLang="ko-KR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체험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pic>
          <p:nvPicPr>
            <p:cNvPr id="109" name="그림 108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D57767D3-03E1-81A4-E49F-F5B8881E36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12779642" flipH="1">
              <a:off x="3909176" y="5461659"/>
              <a:ext cx="1636727" cy="694717"/>
            </a:xfrm>
            <a:prstGeom prst="rect">
              <a:avLst/>
            </a:prstGeom>
          </p:spPr>
        </p:pic>
        <p:pic>
          <p:nvPicPr>
            <p:cNvPr id="113" name="그림 112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468FC43-ACBE-306B-8C64-49716F4AE6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8820358">
              <a:off x="6646100" y="5461658"/>
              <a:ext cx="1636727" cy="694717"/>
            </a:xfrm>
            <a:prstGeom prst="rect">
              <a:avLst/>
            </a:prstGeom>
          </p:spPr>
        </p:pic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0EB9CCE-D421-BFCD-4488-7DCC2DA50B95}"/>
                </a:ext>
              </a:extLst>
            </p:cNvPr>
            <p:cNvSpPr txBox="1"/>
            <p:nvPr/>
          </p:nvSpPr>
          <p:spPr>
            <a:xfrm>
              <a:off x="3539274" y="5849660"/>
              <a:ext cx="1003480" cy="3231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운을 통제한다는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심리적 만족감 제공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BE391E7-CE08-380B-520F-7606C7BD8B3E}"/>
                </a:ext>
              </a:extLst>
            </p:cNvPr>
            <p:cNvSpPr txBox="1"/>
            <p:nvPr/>
          </p:nvSpPr>
          <p:spPr>
            <a:xfrm>
              <a:off x="7773783" y="5839943"/>
              <a:ext cx="351058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성취감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77321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직사각형 46">
            <a:extLst>
              <a:ext uri="{FF2B5EF4-FFF2-40B4-BE49-F238E27FC236}">
                <a16:creationId xmlns:a16="http://schemas.microsoft.com/office/drawing/2014/main" id="{EB23767E-E52F-C7E5-864B-2BAEEE43FF49}"/>
              </a:ext>
            </a:extLst>
          </p:cNvPr>
          <p:cNvSpPr/>
          <p:nvPr/>
        </p:nvSpPr>
        <p:spPr>
          <a:xfrm rot="5400000">
            <a:off x="2718941" y="-1162516"/>
            <a:ext cx="6754119" cy="907915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9F29EB67-6441-E69C-65FF-B372BEF81E8D}"/>
              </a:ext>
            </a:extLst>
          </p:cNvPr>
          <p:cNvGrpSpPr/>
          <p:nvPr/>
        </p:nvGrpSpPr>
        <p:grpSpPr>
          <a:xfrm>
            <a:off x="1988003" y="354281"/>
            <a:ext cx="8215994" cy="6045565"/>
            <a:chOff x="1986382" y="860538"/>
            <a:chExt cx="8215994" cy="6045565"/>
          </a:xfrm>
        </p:grpSpPr>
        <p:pic>
          <p:nvPicPr>
            <p:cNvPr id="5" name="그림 4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EE655D64-E2C7-307C-E945-C38B2AEAF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52" t="1" r="-2" b="-154"/>
            <a:stretch>
              <a:fillRect/>
            </a:stretch>
          </p:blipFill>
          <p:spPr>
            <a:xfrm rot="1795969">
              <a:off x="7253807" y="931216"/>
              <a:ext cx="1709499" cy="802022"/>
            </a:xfrm>
            <a:prstGeom prst="rect">
              <a:avLst/>
            </a:prstGeom>
          </p:spPr>
        </p:pic>
        <p:pic>
          <p:nvPicPr>
            <p:cNvPr id="6" name="그림 5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D796B02-2855-95A4-E846-EF0AF2CF9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5579642" flipH="1">
              <a:off x="8303999" y="2704142"/>
              <a:ext cx="1636727" cy="694717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D307093-2916-6AA1-F65C-2875E97C5092}"/>
                </a:ext>
              </a:extLst>
            </p:cNvPr>
            <p:cNvSpPr txBox="1"/>
            <p:nvPr/>
          </p:nvSpPr>
          <p:spPr>
            <a:xfrm>
              <a:off x="7325758" y="869027"/>
              <a:ext cx="1388201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메타 성장이 필요한 난이도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F44D1CDA-6F2C-BEC6-3612-FE5AE6C75D58}"/>
                </a:ext>
              </a:extLst>
            </p:cNvPr>
            <p:cNvGrpSpPr/>
            <p:nvPr/>
          </p:nvGrpSpPr>
          <p:grpSpPr>
            <a:xfrm>
              <a:off x="3575459" y="1048981"/>
              <a:ext cx="5041082" cy="4206120"/>
              <a:chOff x="3575459" y="1361500"/>
              <a:chExt cx="5041082" cy="4206120"/>
            </a:xfrm>
          </p:grpSpPr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602F0B56-F504-8029-2ADE-DD48D8FCA0B9}"/>
                  </a:ext>
                </a:extLst>
              </p:cNvPr>
              <p:cNvGrpSpPr/>
              <p:nvPr/>
            </p:nvGrpSpPr>
            <p:grpSpPr>
              <a:xfrm>
                <a:off x="4348703" y="2001906"/>
                <a:ext cx="3494594" cy="3565714"/>
                <a:chOff x="4348703" y="1681703"/>
                <a:chExt cx="3494594" cy="3565714"/>
              </a:xfrm>
            </p:grpSpPr>
            <p:sp>
              <p:nvSpPr>
                <p:cNvPr id="44" name="직선 연결선 3">
                  <a:extLst>
                    <a:ext uri="{FF2B5EF4-FFF2-40B4-BE49-F238E27FC236}">
                      <a16:creationId xmlns:a16="http://schemas.microsoft.com/office/drawing/2014/main" id="{6DBCC93D-055D-EFF8-0BE5-1220A4FAC3DE}"/>
                    </a:ext>
                  </a:extLst>
                </p:cNvPr>
                <p:cNvSpPr/>
                <p:nvPr/>
              </p:nvSpPr>
              <p:spPr>
                <a:xfrm>
                  <a:off x="4348703" y="1681703"/>
                  <a:ext cx="3494594" cy="34945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>
                      <a:moveTo>
                        <a:pt x="2769285" y="330050"/>
                      </a:moveTo>
                      <a:arcTo wR="1747297" hR="1747297" stAng="18347740" swAng="3648625"/>
                    </a:path>
                  </a:pathLst>
                </a:custGeom>
                <a:noFill/>
                <a:ln w="41275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2"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rgbClr r="0" g="0" b="0"/>
                </a:fillRef>
                <a:effectRef idx="0">
                  <a:schemeClr val="accent2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ko-KR" altLang="en-US" dirty="0"/>
                </a:p>
              </p:txBody>
            </p:sp>
            <p:sp>
              <p:nvSpPr>
                <p:cNvPr id="45" name="직선 연결선 4">
                  <a:extLst>
                    <a:ext uri="{FF2B5EF4-FFF2-40B4-BE49-F238E27FC236}">
                      <a16:creationId xmlns:a16="http://schemas.microsoft.com/office/drawing/2014/main" id="{6FE85FE3-E3FD-560D-E422-80CF61C1CA62}"/>
                    </a:ext>
                  </a:extLst>
                </p:cNvPr>
                <p:cNvSpPr/>
                <p:nvPr/>
              </p:nvSpPr>
              <p:spPr>
                <a:xfrm>
                  <a:off x="4348703" y="1752823"/>
                  <a:ext cx="3494594" cy="34945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>
                      <a:moveTo>
                        <a:pt x="2579194" y="3283849"/>
                      </a:moveTo>
                      <a:arcTo wR="1747297" hR="1747297" stAng="3694119" swAng="3411761"/>
                    </a:path>
                  </a:pathLst>
                </a:custGeom>
                <a:noFill/>
                <a:ln w="41275">
                  <a:solidFill>
                    <a:srgbClr val="00B050"/>
                  </a:solidFill>
                  <a:tailEnd type="triangle"/>
                </a:ln>
              </p:spPr>
              <p:style>
                <a:lnRef idx="1">
                  <a:schemeClr val="accent3"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rgbClr r="0" g="0" b="0"/>
                </a:fillRef>
                <a:effectRef idx="0">
                  <a:schemeClr val="accent3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46" name="직선 연결선 5">
                  <a:extLst>
                    <a:ext uri="{FF2B5EF4-FFF2-40B4-BE49-F238E27FC236}">
                      <a16:creationId xmlns:a16="http://schemas.microsoft.com/office/drawing/2014/main" id="{1C78A707-FAD0-4C94-F946-CF12AED63AC8}"/>
                    </a:ext>
                  </a:extLst>
                </p:cNvPr>
                <p:cNvSpPr/>
                <p:nvPr/>
              </p:nvSpPr>
              <p:spPr>
                <a:xfrm>
                  <a:off x="4348703" y="1681703"/>
                  <a:ext cx="3494594" cy="3494594"/>
                </a:xfrm>
                <a:custGeom>
                  <a:avLst/>
                  <a:gdLst/>
                  <a:ahLst/>
                  <a:cxnLst/>
                  <a:rect l="0" t="0" r="0" b="0"/>
                  <a:pathLst>
                    <a:path>
                      <a:moveTo>
                        <a:pt x="11601" y="1948311"/>
                      </a:moveTo>
                      <a:arcTo wR="1747297" hR="1747297" stAng="10403635" swAng="3648625"/>
                    </a:path>
                  </a:pathLst>
                </a:custGeom>
                <a:noFill/>
                <a:ln w="41275">
                  <a:headEnd type="none"/>
                  <a:tailEnd type="triangle"/>
                </a:ln>
              </p:spPr>
              <p:style>
                <a:lnRef idx="1">
                  <a:schemeClr val="accent4">
                    <a:hueOff val="0"/>
                    <a:satOff val="0"/>
                    <a:lumOff val="0"/>
                    <a:alphaOff val="0"/>
                  </a:schemeClr>
                </a:lnRef>
                <a:fillRef idx="0">
                  <a:scrgbClr r="0" g="0" b="0"/>
                </a:fillRef>
                <a:effectRef idx="0">
                  <a:schemeClr val="accent4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tx1">
                    <a:hueOff val="0"/>
                    <a:satOff val="0"/>
                    <a:lumOff val="0"/>
                    <a:alphaOff val="0"/>
                  </a:schemeClr>
                </a:fontRef>
              </p:style>
              <p:txBody>
                <a:bodyPr/>
                <a:lstStyle/>
                <a:p>
                  <a:endParaRPr lang="ko-KR" altLang="en-US"/>
                </a:p>
              </p:txBody>
            </p:sp>
          </p:grp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78CEC6BC-D392-2E1A-1318-7FD04824CE2E}"/>
                  </a:ext>
                </a:extLst>
              </p:cNvPr>
              <p:cNvGrpSpPr/>
              <p:nvPr/>
            </p:nvGrpSpPr>
            <p:grpSpPr>
              <a:xfrm>
                <a:off x="3575459" y="1361500"/>
                <a:ext cx="5041082" cy="3915244"/>
                <a:chOff x="3575459" y="1041297"/>
                <a:chExt cx="5041082" cy="3915244"/>
              </a:xfrm>
            </p:grpSpPr>
            <p:grpSp>
              <p:nvGrpSpPr>
                <p:cNvPr id="32" name="그룹 31">
                  <a:extLst>
                    <a:ext uri="{FF2B5EF4-FFF2-40B4-BE49-F238E27FC236}">
                      <a16:creationId xmlns:a16="http://schemas.microsoft.com/office/drawing/2014/main" id="{ED4CF15F-7133-A9E4-5873-592A920EE110}"/>
                    </a:ext>
                  </a:extLst>
                </p:cNvPr>
                <p:cNvGrpSpPr/>
                <p:nvPr/>
              </p:nvGrpSpPr>
              <p:grpSpPr>
                <a:xfrm>
                  <a:off x="6601867" y="3647003"/>
                  <a:ext cx="2014674" cy="1309538"/>
                  <a:chOff x="7412736" y="5076039"/>
                  <a:chExt cx="2014674" cy="1309538"/>
                </a:xfrm>
              </p:grpSpPr>
              <p:sp>
                <p:nvSpPr>
                  <p:cNvPr id="41" name="사각형: 둥근 모서리 40">
                    <a:extLst>
                      <a:ext uri="{FF2B5EF4-FFF2-40B4-BE49-F238E27FC236}">
                        <a16:creationId xmlns:a16="http://schemas.microsoft.com/office/drawing/2014/main" id="{F2BE0F43-AC5F-CAC9-53AB-ED3565434DA7}"/>
                      </a:ext>
                    </a:extLst>
                  </p:cNvPr>
                  <p:cNvSpPr/>
                  <p:nvPr/>
                </p:nvSpPr>
                <p:spPr>
                  <a:xfrm>
                    <a:off x="7412736" y="5076039"/>
                    <a:ext cx="2014674" cy="130953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42" name="자유형: 도형 41">
                    <a:extLst>
                      <a:ext uri="{FF2B5EF4-FFF2-40B4-BE49-F238E27FC236}">
                        <a16:creationId xmlns:a16="http://schemas.microsoft.com/office/drawing/2014/main" id="{BAE5AE66-22AB-EEB8-0A05-60DDF158A354}"/>
                      </a:ext>
                    </a:extLst>
                  </p:cNvPr>
                  <p:cNvSpPr/>
                  <p:nvPr/>
                </p:nvSpPr>
                <p:spPr>
                  <a:xfrm>
                    <a:off x="7412736" y="5076039"/>
                    <a:ext cx="2014674" cy="370332"/>
                  </a:xfrm>
                  <a:custGeom>
                    <a:avLst/>
                    <a:gdLst>
                      <a:gd name="connsiteX0" fmla="*/ 218261 w 2014674"/>
                      <a:gd name="connsiteY0" fmla="*/ 0 h 370332"/>
                      <a:gd name="connsiteX1" fmla="*/ 1796413 w 2014674"/>
                      <a:gd name="connsiteY1" fmla="*/ 0 h 370332"/>
                      <a:gd name="connsiteX2" fmla="*/ 2014674 w 2014674"/>
                      <a:gd name="connsiteY2" fmla="*/ 218261 h 370332"/>
                      <a:gd name="connsiteX3" fmla="*/ 2014674 w 2014674"/>
                      <a:gd name="connsiteY3" fmla="*/ 370332 h 370332"/>
                      <a:gd name="connsiteX4" fmla="*/ 0 w 2014674"/>
                      <a:gd name="connsiteY4" fmla="*/ 370332 h 370332"/>
                      <a:gd name="connsiteX5" fmla="*/ 0 w 2014674"/>
                      <a:gd name="connsiteY5" fmla="*/ 218261 h 370332"/>
                      <a:gd name="connsiteX6" fmla="*/ 218261 w 2014674"/>
                      <a:gd name="connsiteY6" fmla="*/ 0 h 3703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014674" h="370332">
                        <a:moveTo>
                          <a:pt x="218261" y="0"/>
                        </a:moveTo>
                        <a:lnTo>
                          <a:pt x="1796413" y="0"/>
                        </a:lnTo>
                        <a:cubicBezTo>
                          <a:pt x="1916955" y="0"/>
                          <a:pt x="2014674" y="97719"/>
                          <a:pt x="2014674" y="218261"/>
                        </a:cubicBezTo>
                        <a:lnTo>
                          <a:pt x="2014674" y="370332"/>
                        </a:lnTo>
                        <a:lnTo>
                          <a:pt x="0" y="370332"/>
                        </a:lnTo>
                        <a:lnTo>
                          <a:pt x="0" y="218261"/>
                        </a:lnTo>
                        <a:cubicBezTo>
                          <a:pt x="0" y="97719"/>
                          <a:pt x="97719" y="0"/>
                          <a:pt x="218261" y="0"/>
                        </a:cubicBezTo>
                        <a:close/>
                      </a:path>
                    </a:pathLst>
                  </a:custGeom>
                  <a:solidFill>
                    <a:schemeClr val="accent3">
                      <a:lumMod val="20000"/>
                      <a:lumOff val="80000"/>
                    </a:schemeClr>
                  </a:solidFill>
                  <a:ln>
                    <a:solidFill>
                      <a:srgbClr val="00B05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r>
                      <a:rPr lang="ko-KR" altLang="en-US" sz="1400" b="1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성장</a:t>
                    </a:r>
                  </a:p>
                </p:txBody>
              </p:sp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5AE3DCBA-52F0-A822-4C83-D9CAF4A38793}"/>
                      </a:ext>
                    </a:extLst>
                  </p:cNvPr>
                  <p:cNvSpPr txBox="1"/>
                  <p:nvPr/>
                </p:nvSpPr>
                <p:spPr>
                  <a:xfrm>
                    <a:off x="7636044" y="5446371"/>
                    <a:ext cx="1491114" cy="846649"/>
                  </a:xfrm>
                  <a:prstGeom prst="rect">
                    <a:avLst/>
                  </a:prstGeom>
                  <a:noFill/>
                </p:spPr>
                <p:txBody>
                  <a:bodyPr wrap="none" lIns="0" tIns="126000" rIns="0" bIns="72000" rtlCol="0">
                    <a:spAutoFit/>
                  </a:bodyPr>
                  <a:lstStyle>
                    <a:defPPr>
                      <a:defRPr lang="ko-KR"/>
                    </a:defPPr>
                    <a:lvl1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  <a:defRPr sz="12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lvl1pPr>
                  </a:lstStyle>
                  <a:p>
                    <a:r>
                      <a:rPr lang="ko-KR" altLang="en-US" dirty="0"/>
                      <a:t>경험치 획득 </a:t>
                    </a:r>
                    <a:r>
                      <a:rPr lang="en-US" altLang="ko-KR" dirty="0"/>
                      <a:t>&amp; </a:t>
                    </a:r>
                    <a:r>
                      <a:rPr lang="ko-KR" altLang="en-US" dirty="0"/>
                      <a:t>레벨 업</a:t>
                    </a:r>
                    <a:endParaRPr lang="en-US" altLang="ko-KR" dirty="0"/>
                  </a:p>
                  <a:p>
                    <a:r>
                      <a:rPr lang="ko-KR" altLang="en-US" dirty="0" err="1"/>
                      <a:t>어빌리티</a:t>
                    </a:r>
                    <a:r>
                      <a:rPr lang="ko-KR" altLang="en-US" dirty="0"/>
                      <a:t> 선택</a:t>
                    </a:r>
                    <a:endParaRPr lang="en-US" altLang="ko-KR" dirty="0"/>
                  </a:p>
                  <a:p>
                    <a:r>
                      <a:rPr lang="ko-KR" altLang="en-US" dirty="0"/>
                      <a:t>숙련도 상승</a:t>
                    </a:r>
                  </a:p>
                </p:txBody>
              </p:sp>
            </p:grpSp>
            <p:grpSp>
              <p:nvGrpSpPr>
                <p:cNvPr id="33" name="그룹 32">
                  <a:extLst>
                    <a:ext uri="{FF2B5EF4-FFF2-40B4-BE49-F238E27FC236}">
                      <a16:creationId xmlns:a16="http://schemas.microsoft.com/office/drawing/2014/main" id="{2C663357-73FD-BF45-FA56-A561EF426645}"/>
                    </a:ext>
                  </a:extLst>
                </p:cNvPr>
                <p:cNvGrpSpPr/>
                <p:nvPr/>
              </p:nvGrpSpPr>
              <p:grpSpPr>
                <a:xfrm>
                  <a:off x="3575459" y="3647003"/>
                  <a:ext cx="2014674" cy="1309538"/>
                  <a:chOff x="1979370" y="5076039"/>
                  <a:chExt cx="2014674" cy="1309538"/>
                </a:xfrm>
              </p:grpSpPr>
              <p:sp>
                <p:nvSpPr>
                  <p:cNvPr id="38" name="사각형: 둥근 모서리 37">
                    <a:extLst>
                      <a:ext uri="{FF2B5EF4-FFF2-40B4-BE49-F238E27FC236}">
                        <a16:creationId xmlns:a16="http://schemas.microsoft.com/office/drawing/2014/main" id="{5ACE1621-84ED-52D2-B56F-3754D3FAAB5F}"/>
                      </a:ext>
                    </a:extLst>
                  </p:cNvPr>
                  <p:cNvSpPr/>
                  <p:nvPr/>
                </p:nvSpPr>
                <p:spPr>
                  <a:xfrm>
                    <a:off x="1979370" y="5076039"/>
                    <a:ext cx="2014674" cy="130953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9" name="자유형: 도형 38">
                    <a:extLst>
                      <a:ext uri="{FF2B5EF4-FFF2-40B4-BE49-F238E27FC236}">
                        <a16:creationId xmlns:a16="http://schemas.microsoft.com/office/drawing/2014/main" id="{E0598760-8C76-F34D-B8F2-40ECA2A77B39}"/>
                      </a:ext>
                    </a:extLst>
                  </p:cNvPr>
                  <p:cNvSpPr/>
                  <p:nvPr/>
                </p:nvSpPr>
                <p:spPr>
                  <a:xfrm>
                    <a:off x="1979370" y="5076039"/>
                    <a:ext cx="2014674" cy="370332"/>
                  </a:xfrm>
                  <a:custGeom>
                    <a:avLst/>
                    <a:gdLst>
                      <a:gd name="connsiteX0" fmla="*/ 218261 w 2014674"/>
                      <a:gd name="connsiteY0" fmla="*/ 0 h 370332"/>
                      <a:gd name="connsiteX1" fmla="*/ 1796413 w 2014674"/>
                      <a:gd name="connsiteY1" fmla="*/ 0 h 370332"/>
                      <a:gd name="connsiteX2" fmla="*/ 2014674 w 2014674"/>
                      <a:gd name="connsiteY2" fmla="*/ 218261 h 370332"/>
                      <a:gd name="connsiteX3" fmla="*/ 2014674 w 2014674"/>
                      <a:gd name="connsiteY3" fmla="*/ 370332 h 370332"/>
                      <a:gd name="connsiteX4" fmla="*/ 0 w 2014674"/>
                      <a:gd name="connsiteY4" fmla="*/ 370332 h 370332"/>
                      <a:gd name="connsiteX5" fmla="*/ 0 w 2014674"/>
                      <a:gd name="connsiteY5" fmla="*/ 218261 h 370332"/>
                      <a:gd name="connsiteX6" fmla="*/ 218261 w 2014674"/>
                      <a:gd name="connsiteY6" fmla="*/ 0 h 3703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014674" h="370332">
                        <a:moveTo>
                          <a:pt x="218261" y="0"/>
                        </a:moveTo>
                        <a:lnTo>
                          <a:pt x="1796413" y="0"/>
                        </a:lnTo>
                        <a:cubicBezTo>
                          <a:pt x="1916955" y="0"/>
                          <a:pt x="2014674" y="97719"/>
                          <a:pt x="2014674" y="218261"/>
                        </a:cubicBezTo>
                        <a:lnTo>
                          <a:pt x="2014674" y="370332"/>
                        </a:lnTo>
                        <a:lnTo>
                          <a:pt x="0" y="370332"/>
                        </a:lnTo>
                        <a:lnTo>
                          <a:pt x="0" y="218261"/>
                        </a:lnTo>
                        <a:cubicBezTo>
                          <a:pt x="0" y="97719"/>
                          <a:pt x="97719" y="0"/>
                          <a:pt x="218261" y="0"/>
                        </a:cubicBezTo>
                        <a:close/>
                      </a:path>
                    </a:pathLst>
                  </a:custGeom>
                  <a:solidFill>
                    <a:schemeClr val="accent4">
                      <a:lumMod val="20000"/>
                      <a:lumOff val="80000"/>
                    </a:schemeClr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r>
                      <a:rPr lang="ko-KR" altLang="en-US" sz="1400" b="1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전략</a:t>
                    </a:r>
                  </a:p>
                </p:txBody>
              </p:sp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0CF8EB4F-4518-4338-AE47-8DB0C04791A2}"/>
                      </a:ext>
                    </a:extLst>
                  </p:cNvPr>
                  <p:cNvSpPr txBox="1"/>
                  <p:nvPr/>
                </p:nvSpPr>
                <p:spPr>
                  <a:xfrm>
                    <a:off x="2307675" y="5446371"/>
                    <a:ext cx="1358064" cy="846649"/>
                  </a:xfrm>
                  <a:prstGeom prst="rect">
                    <a:avLst/>
                  </a:prstGeom>
                  <a:noFill/>
                </p:spPr>
                <p:txBody>
                  <a:bodyPr wrap="none" lIns="0" tIns="126000" rIns="0" bIns="72000" rtlCol="0">
                    <a:spAutoFit/>
                  </a:bodyPr>
                  <a:lstStyle>
                    <a:defPPr>
                      <a:defRPr lang="ko-KR"/>
                    </a:defPPr>
                    <a:lvl1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  <a:defRPr sz="120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defRPr>
                    </a:lvl1pPr>
                  </a:lstStyle>
                  <a:p>
                    <a:r>
                      <a:rPr lang="ko-KR" altLang="en-US" dirty="0"/>
                      <a:t>전투 전략 구상</a:t>
                    </a:r>
                  </a:p>
                  <a:p>
                    <a:r>
                      <a:rPr lang="ko-KR" altLang="en-US" dirty="0" err="1"/>
                      <a:t>어빌리티</a:t>
                    </a:r>
                    <a:r>
                      <a:rPr lang="ko-KR" altLang="en-US" dirty="0"/>
                      <a:t> 조합 활용</a:t>
                    </a:r>
                  </a:p>
                  <a:p>
                    <a:r>
                      <a:rPr lang="ko-KR" altLang="en-US" dirty="0"/>
                      <a:t>스킬 발동 확률 조절</a:t>
                    </a:r>
                  </a:p>
                </p:txBody>
              </p:sp>
            </p:grpSp>
            <p:grpSp>
              <p:nvGrpSpPr>
                <p:cNvPr id="34" name="그룹 33">
                  <a:extLst>
                    <a:ext uri="{FF2B5EF4-FFF2-40B4-BE49-F238E27FC236}">
                      <a16:creationId xmlns:a16="http://schemas.microsoft.com/office/drawing/2014/main" id="{5FD99E0F-FB50-8C83-4443-4A697AAB44C9}"/>
                    </a:ext>
                  </a:extLst>
                </p:cNvPr>
                <p:cNvGrpSpPr/>
                <p:nvPr/>
              </p:nvGrpSpPr>
              <p:grpSpPr>
                <a:xfrm>
                  <a:off x="5088663" y="1041297"/>
                  <a:ext cx="2014674" cy="1309538"/>
                  <a:chOff x="7412736" y="1041297"/>
                  <a:chExt cx="2014674" cy="1309538"/>
                </a:xfrm>
              </p:grpSpPr>
              <p:sp>
                <p:nvSpPr>
                  <p:cNvPr id="35" name="사각형: 둥근 모서리 34">
                    <a:extLst>
                      <a:ext uri="{FF2B5EF4-FFF2-40B4-BE49-F238E27FC236}">
                        <a16:creationId xmlns:a16="http://schemas.microsoft.com/office/drawing/2014/main" id="{DAC24FFC-2D57-71DF-E83E-EB20816B82E4}"/>
                      </a:ext>
                    </a:extLst>
                  </p:cNvPr>
                  <p:cNvSpPr/>
                  <p:nvPr/>
                </p:nvSpPr>
                <p:spPr>
                  <a:xfrm>
                    <a:off x="7412736" y="1041297"/>
                    <a:ext cx="2014674" cy="1309538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6" name="자유형: 도형 35">
                    <a:extLst>
                      <a:ext uri="{FF2B5EF4-FFF2-40B4-BE49-F238E27FC236}">
                        <a16:creationId xmlns:a16="http://schemas.microsoft.com/office/drawing/2014/main" id="{CEC3F5E9-2A8E-8DD7-550E-6EEF307A22B5}"/>
                      </a:ext>
                    </a:extLst>
                  </p:cNvPr>
                  <p:cNvSpPr/>
                  <p:nvPr/>
                </p:nvSpPr>
                <p:spPr>
                  <a:xfrm>
                    <a:off x="7412736" y="1041297"/>
                    <a:ext cx="2014674" cy="370332"/>
                  </a:xfrm>
                  <a:custGeom>
                    <a:avLst/>
                    <a:gdLst>
                      <a:gd name="connsiteX0" fmla="*/ 218261 w 2014674"/>
                      <a:gd name="connsiteY0" fmla="*/ 0 h 370332"/>
                      <a:gd name="connsiteX1" fmla="*/ 1796413 w 2014674"/>
                      <a:gd name="connsiteY1" fmla="*/ 0 h 370332"/>
                      <a:gd name="connsiteX2" fmla="*/ 2014674 w 2014674"/>
                      <a:gd name="connsiteY2" fmla="*/ 218261 h 370332"/>
                      <a:gd name="connsiteX3" fmla="*/ 2014674 w 2014674"/>
                      <a:gd name="connsiteY3" fmla="*/ 370332 h 370332"/>
                      <a:gd name="connsiteX4" fmla="*/ 0 w 2014674"/>
                      <a:gd name="connsiteY4" fmla="*/ 370332 h 370332"/>
                      <a:gd name="connsiteX5" fmla="*/ 0 w 2014674"/>
                      <a:gd name="connsiteY5" fmla="*/ 218261 h 370332"/>
                      <a:gd name="connsiteX6" fmla="*/ 218261 w 2014674"/>
                      <a:gd name="connsiteY6" fmla="*/ 0 h 3703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2014674" h="370332">
                        <a:moveTo>
                          <a:pt x="218261" y="0"/>
                        </a:moveTo>
                        <a:lnTo>
                          <a:pt x="1796413" y="0"/>
                        </a:lnTo>
                        <a:cubicBezTo>
                          <a:pt x="1916955" y="0"/>
                          <a:pt x="2014674" y="97719"/>
                          <a:pt x="2014674" y="218261"/>
                        </a:cubicBezTo>
                        <a:lnTo>
                          <a:pt x="2014674" y="370332"/>
                        </a:lnTo>
                        <a:lnTo>
                          <a:pt x="0" y="370332"/>
                        </a:lnTo>
                        <a:lnTo>
                          <a:pt x="0" y="218261"/>
                        </a:lnTo>
                        <a:cubicBezTo>
                          <a:pt x="0" y="97719"/>
                          <a:pt x="97719" y="0"/>
                          <a:pt x="218261" y="0"/>
                        </a:cubicBezTo>
                        <a:close/>
                      </a:path>
                    </a:pathLst>
                  </a:custGeom>
                  <a:solidFill>
                    <a:srgbClr val="FFDDDD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r>
                      <a:rPr lang="ko-KR" altLang="en-US" sz="1400" b="1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전투</a:t>
                    </a:r>
                  </a:p>
                </p:txBody>
              </p:sp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F073C4FE-C7E3-47A8-60F0-D1FC3FCAB944}"/>
                      </a:ext>
                    </a:extLst>
                  </p:cNvPr>
                  <p:cNvSpPr txBox="1"/>
                  <p:nvPr/>
                </p:nvSpPr>
                <p:spPr>
                  <a:xfrm>
                    <a:off x="7721805" y="1411629"/>
                    <a:ext cx="1396536" cy="84664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126000" rIns="0" bIns="72000" rtlCol="0">
                    <a:spAutoFit/>
                  </a:bodyPr>
                  <a:lstStyle/>
                  <a:p>
                    <a: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</a:pP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적 대상 탐색 및 이동</a:t>
                    </a:r>
                  </a:p>
                  <a:p>
                    <a: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</a:pP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자동 공격 </a:t>
                    </a:r>
                    <a:r>
                      <a:rPr lang="en-US" altLang="ko-KR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&amp; </a:t>
                    </a: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스킬</a:t>
                    </a:r>
                  </a:p>
                  <a:p>
                    <a:pPr marL="176213" lvl="0" indent="-176213">
                      <a:lnSpc>
                        <a:spcPct val="120000"/>
                      </a:lnSpc>
                      <a:buFont typeface="Arial" panose="020B0604020202020204" pitchFamily="34" charset="0"/>
                      <a:buChar char="•"/>
                    </a:pPr>
                    <a:r>
                      <a:rPr lang="ko-KR" altLang="en-US" sz="1200" dirty="0"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rPr>
                      <a:t>적 공격 회피</a:t>
                    </a:r>
                  </a:p>
                </p:txBody>
              </p:sp>
            </p:grpSp>
          </p:grp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1104EAD8-8BC0-1D3B-E341-4CCE188AE0AC}"/>
                </a:ext>
              </a:extLst>
            </p:cNvPr>
            <p:cNvGrpSpPr/>
            <p:nvPr/>
          </p:nvGrpSpPr>
          <p:grpSpPr>
            <a:xfrm>
              <a:off x="3960670" y="2691097"/>
              <a:ext cx="1001877" cy="184666"/>
              <a:chOff x="3960670" y="3116288"/>
              <a:chExt cx="1001877" cy="18466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4F21D6B-A053-EABC-2FFA-591C82AB6B58}"/>
                  </a:ext>
                </a:extLst>
              </p:cNvPr>
              <p:cNvSpPr txBox="1"/>
              <p:nvPr/>
            </p:nvSpPr>
            <p:spPr>
              <a:xfrm>
                <a:off x="3960670" y="3116288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ln w="38100">
                      <a:solidFill>
                        <a:srgbClr val="0070C0"/>
                      </a:solidFill>
                    </a:ln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반복 플레이 유도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387D7E2-BBB0-BEBA-E45E-3D8C1A4CB6AB}"/>
                  </a:ext>
                </a:extLst>
              </p:cNvPr>
              <p:cNvSpPr txBox="1"/>
              <p:nvPr/>
            </p:nvSpPr>
            <p:spPr>
              <a:xfrm>
                <a:off x="3960670" y="3116288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반복 플레이 유도</a:t>
                </a:r>
              </a:p>
            </p:txBody>
          </p:sp>
        </p:grp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AD3DB9EF-30C4-9944-B655-A0E832ECD25A}"/>
                </a:ext>
              </a:extLst>
            </p:cNvPr>
            <p:cNvGrpSpPr/>
            <p:nvPr/>
          </p:nvGrpSpPr>
          <p:grpSpPr>
            <a:xfrm>
              <a:off x="7069449" y="2691097"/>
              <a:ext cx="1170192" cy="184666"/>
              <a:chOff x="7149597" y="3116288"/>
              <a:chExt cx="1170192" cy="184666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2C7B687D-2799-D62F-EA15-A078E6717AD4}"/>
                  </a:ext>
                </a:extLst>
              </p:cNvPr>
              <p:cNvSpPr txBox="1"/>
              <p:nvPr/>
            </p:nvSpPr>
            <p:spPr>
              <a:xfrm>
                <a:off x="7149597" y="3116288"/>
                <a:ext cx="1170192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ln w="38100">
                      <a:solidFill>
                        <a:srgbClr val="FF0000"/>
                      </a:solidFill>
                    </a:ln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운에 의한 재미 유지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BF04061-5A96-2E22-1E16-9D192B4EC512}"/>
                  </a:ext>
                </a:extLst>
              </p:cNvPr>
              <p:cNvSpPr txBox="1"/>
              <p:nvPr/>
            </p:nvSpPr>
            <p:spPr>
              <a:xfrm>
                <a:off x="7149597" y="3116288"/>
                <a:ext cx="1170192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운에 의한 재미 유지</a:t>
                </a:r>
              </a:p>
            </p:txBody>
          </p:sp>
        </p:grp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2E76FC62-439E-CFD6-7391-4BA3B8F3B186}"/>
                </a:ext>
              </a:extLst>
            </p:cNvPr>
            <p:cNvGrpSpPr/>
            <p:nvPr/>
          </p:nvGrpSpPr>
          <p:grpSpPr>
            <a:xfrm>
              <a:off x="5595065" y="5308206"/>
              <a:ext cx="1001881" cy="184666"/>
              <a:chOff x="5595072" y="5308206"/>
              <a:chExt cx="1001881" cy="184666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7E054A3-ACFF-3ABE-9C9F-85FD82EA8A4F}"/>
                  </a:ext>
                </a:extLst>
              </p:cNvPr>
              <p:cNvSpPr txBox="1"/>
              <p:nvPr/>
            </p:nvSpPr>
            <p:spPr>
              <a:xfrm>
                <a:off x="5595072" y="5308206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ln w="38100">
                      <a:solidFill>
                        <a:srgbClr val="00B050"/>
                      </a:solidFill>
                    </a:ln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다양한 전략 설계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3F138FF3-BB4D-8707-99BA-8AF0EDCC3E17}"/>
                  </a:ext>
                </a:extLst>
              </p:cNvPr>
              <p:cNvSpPr txBox="1"/>
              <p:nvPr/>
            </p:nvSpPr>
            <p:spPr>
              <a:xfrm>
                <a:off x="5595076" y="5308206"/>
                <a:ext cx="1001877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 anchorCtr="0">
                <a:spAutoFit/>
              </a:bodyPr>
              <a:lstStyle/>
              <a:p>
                <a:pPr algn="ctr"/>
                <a:r>
                  <a:rPr lang="ko-KR" altLang="en-US" sz="1200" b="1" dirty="0">
                    <a:solidFill>
                      <a:schemeClr val="bg1"/>
                    </a:solidFill>
                    <a:effectLst/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rPr>
                  <a:t>다양한 전략 설계</a:t>
                </a:r>
              </a:p>
            </p:txBody>
          </p:sp>
        </p:grpSp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1050B08E-B4CA-9A77-7612-B175DCEC376A}"/>
                </a:ext>
              </a:extLst>
            </p:cNvPr>
            <p:cNvSpPr/>
            <p:nvPr/>
          </p:nvSpPr>
          <p:spPr>
            <a:xfrm>
              <a:off x="8580015" y="1615452"/>
              <a:ext cx="1622361" cy="540000"/>
            </a:xfrm>
            <a:prstGeom prst="roundRect">
              <a:avLst>
                <a:gd name="adj" fmla="val 29424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메타 성장에 대한</a:t>
              </a:r>
              <a:endParaRPr lang="en-US" altLang="ko-KR" sz="1200" dirty="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endParaRPr>
            </a:p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욕구 상승</a:t>
              </a:r>
            </a:p>
          </p:txBody>
        </p:sp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1E7C83E7-3EB7-A688-A130-D7F66FB09BC1}"/>
                </a:ext>
              </a:extLst>
            </p:cNvPr>
            <p:cNvSpPr/>
            <p:nvPr/>
          </p:nvSpPr>
          <p:spPr>
            <a:xfrm>
              <a:off x="1986382" y="1615452"/>
              <a:ext cx="1622361" cy="540000"/>
            </a:xfrm>
            <a:prstGeom prst="roundRect">
              <a:avLst>
                <a:gd name="adj" fmla="val 29424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핵심 유저층으로 변화</a:t>
              </a:r>
            </a:p>
          </p:txBody>
        </p:sp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66779011-8BA1-6D65-EE7F-BEAE2C0B20CA}"/>
                </a:ext>
              </a:extLst>
            </p:cNvPr>
            <p:cNvSpPr/>
            <p:nvPr/>
          </p:nvSpPr>
          <p:spPr>
            <a:xfrm>
              <a:off x="5284820" y="6366103"/>
              <a:ext cx="1622361" cy="540000"/>
            </a:xfrm>
            <a:prstGeom prst="roundRect">
              <a:avLst>
                <a:gd name="adj" fmla="val 29424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  <a:latin typeface="Pretendard Medium" panose="02000603000000020004" pitchFamily="2" charset="-127"/>
                  <a:ea typeface="Pretendard Medium" panose="02000603000000020004" pitchFamily="2" charset="-127"/>
                  <a:cs typeface="Pretendard Medium" panose="02000603000000020004" pitchFamily="2" charset="-127"/>
                </a:rPr>
                <a:t>도전 욕구 자극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A42B43A-E714-3C3D-7846-78EC1C8E774A}"/>
                </a:ext>
              </a:extLst>
            </p:cNvPr>
            <p:cNvSpPr txBox="1"/>
            <p:nvPr/>
          </p:nvSpPr>
          <p:spPr>
            <a:xfrm>
              <a:off x="3569650" y="860538"/>
              <a:ext cx="1154163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다양한 전투 경험 제공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pic>
          <p:nvPicPr>
            <p:cNvPr id="16" name="그림 15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4AF9C4D-CDCB-EDC8-C627-E98FF159E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152" t="1" r="-2" b="-154"/>
            <a:stretch>
              <a:fillRect/>
            </a:stretch>
          </p:blipFill>
          <p:spPr>
            <a:xfrm rot="19804031" flipH="1">
              <a:off x="3228695" y="931216"/>
              <a:ext cx="1709499" cy="802022"/>
            </a:xfrm>
            <a:prstGeom prst="rect">
              <a:avLst/>
            </a:prstGeom>
          </p:spPr>
        </p:pic>
        <p:pic>
          <p:nvPicPr>
            <p:cNvPr id="17" name="그림 16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48E6A56-9E76-17EC-7BA0-74B3F9C314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16020358">
              <a:off x="2251275" y="2704142"/>
              <a:ext cx="1636727" cy="694717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1C58AD0-0AB1-0C30-C2B1-54E19B6BA1E2}"/>
                </a:ext>
              </a:extLst>
            </p:cNvPr>
            <p:cNvSpPr txBox="1"/>
            <p:nvPr/>
          </p:nvSpPr>
          <p:spPr>
            <a:xfrm>
              <a:off x="2019853" y="3173174"/>
              <a:ext cx="886460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자기 효능감 획득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63C8F50-FEE3-3A6F-8ADF-42F3B0616E7C}"/>
                </a:ext>
              </a:extLst>
            </p:cNvPr>
            <p:cNvSpPr txBox="1"/>
            <p:nvPr/>
          </p:nvSpPr>
          <p:spPr>
            <a:xfrm>
              <a:off x="9335665" y="3092382"/>
              <a:ext cx="852798" cy="3231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메타 성장을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간접적으로</a:t>
              </a:r>
              <a:r>
                <a:rPr lang="en-US" altLang="ko-KR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</a:t>
              </a:r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체험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pic>
          <p:nvPicPr>
            <p:cNvPr id="20" name="그림 19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028B42F-5D16-9D71-886D-774EC37E69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12779642" flipH="1">
              <a:off x="3909176" y="5461659"/>
              <a:ext cx="1636727" cy="694717"/>
            </a:xfrm>
            <a:prstGeom prst="rect">
              <a:avLst/>
            </a:prstGeom>
          </p:spPr>
        </p:pic>
        <p:pic>
          <p:nvPicPr>
            <p:cNvPr id="21" name="그림 20" descr="흑백, 모노크롬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F234C02-2472-FD1E-CA74-E4CE9A8F4D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11" b="13247"/>
            <a:stretch>
              <a:fillRect/>
            </a:stretch>
          </p:blipFill>
          <p:spPr>
            <a:xfrm rot="8820358">
              <a:off x="6646100" y="5461658"/>
              <a:ext cx="1636727" cy="694717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C3C2720-51D1-3EE9-2D30-51A11E8D65B2}"/>
                </a:ext>
              </a:extLst>
            </p:cNvPr>
            <p:cNvSpPr txBox="1"/>
            <p:nvPr/>
          </p:nvSpPr>
          <p:spPr>
            <a:xfrm>
              <a:off x="3539274" y="5849660"/>
              <a:ext cx="1003480" cy="3231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운을 통제한다는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  <a:p>
              <a:pPr algn="ctr"/>
              <a:r>
                <a:rPr lang="ko-KR" altLang="en-US" sz="105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심리적 만족감 제공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47A6A1A-95A5-4E88-1B42-C2CA96C490CC}"/>
                </a:ext>
              </a:extLst>
            </p:cNvPr>
            <p:cNvSpPr txBox="1"/>
            <p:nvPr/>
          </p:nvSpPr>
          <p:spPr>
            <a:xfrm>
              <a:off x="7773783" y="5839943"/>
              <a:ext cx="351058" cy="161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>
              <a:spAutoFit/>
            </a:bodyPr>
            <a:lstStyle/>
            <a:p>
              <a:pPr algn="ctr"/>
              <a:r>
                <a:rPr lang="ko-KR" altLang="en-US" sz="105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성취감</a:t>
              </a:r>
              <a:endParaRPr lang="en-US" altLang="ko-KR" sz="105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81858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</TotalTime>
  <Words>832</Words>
  <Application>Microsoft Office PowerPoint</Application>
  <PresentationFormat>와이드스크린</PresentationFormat>
  <Paragraphs>245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8" baseType="lpstr">
      <vt:lpstr>Pretendard</vt:lpstr>
      <vt:lpstr>Pretendard Medium</vt:lpstr>
      <vt:lpstr>Pretendard SemiBold</vt:lpstr>
      <vt:lpstr>맑은 고딕</vt:lpstr>
      <vt:lpstr>페이퍼로지 4 Regular</vt:lpstr>
      <vt:lpstr>페이퍼로지 6 SemiBold</vt:lpstr>
      <vt:lpstr>Arial</vt:lpstr>
      <vt:lpstr>Open Sans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홍진선(2017184037)</dc:creator>
  <cp:lastModifiedBy>홍진선(2017184037)</cp:lastModifiedBy>
  <cp:revision>3</cp:revision>
  <dcterms:created xsi:type="dcterms:W3CDTF">2025-11-06T11:26:35Z</dcterms:created>
  <dcterms:modified xsi:type="dcterms:W3CDTF">2025-11-12T12:19:53Z</dcterms:modified>
</cp:coreProperties>
</file>