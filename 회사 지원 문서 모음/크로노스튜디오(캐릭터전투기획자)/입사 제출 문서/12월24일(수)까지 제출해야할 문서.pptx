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872" y="6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1879B-1312-EC06-ECAD-78AE02CD3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B3EDD4-7D20-5509-2A8D-878619E4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5D593B-22BC-3F02-0C52-7041DDD4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4D4F6D-A8E0-8476-2DDE-06A199C98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9D119-072E-9F98-232D-48A47D30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15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10802-8D6A-6BD9-4CAE-8AC4AC00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8D774-12AF-8B9F-0BB1-2DFAB682F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C5F12-86BB-320A-18AD-EA756DB89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C4C73-D6F6-36BE-BEBB-04A46DFF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6B861-2941-90A5-DA8A-5BE91A8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91D45-B095-311F-46E5-F38B6993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B1B846-22EC-8A43-0C2B-990EDE70D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C60D3-DA91-90AC-71AD-916969F99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9ACD9-6C2C-735E-3BAD-35F3C1A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7C0FF9-D798-16E2-C7A6-957979BF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69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5747E-BC50-9610-05F5-C68E5140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5D795-BCDB-3586-8606-3FA053FBE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C0417E-1BD9-73DB-E264-D4D610626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DE259-AA2D-5630-8310-68496E5D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07858-655A-0C28-B5BB-7F1456F21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C73DE9-0320-6788-A8FE-23B69F94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9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E8D14-70BC-1BCA-9D1F-868150B3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B5E8CC-EFD2-342F-50B5-415C51249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905A55-E37C-8609-0C57-04DE448A7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6FB8A4-DBB2-7EBC-72CE-3CC451B3A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A50463-9286-8EC0-F828-0B95A8237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5B44C1-B9DF-C8E1-DA19-A39D93B1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0D6081-7E2A-B7D1-6D90-510B550F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D0CDA7-2798-0702-EEFE-C609B485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71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F15D4-9F36-E36A-F054-FAAB790C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4BC4B6-23E7-FF91-1719-7AAE410B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979097-5B1F-65DB-7B5F-93619D9D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C01364-68D9-5245-25D1-6B2B5DFB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1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93AB89-00CF-FE35-30F7-F469BBF0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D6F44F-1862-A7DB-E83A-055EE5F7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FB69D-C3C5-696C-A72B-9A6A97DC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7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2C08F-00FF-A872-FC11-31F674A1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D47ED-A053-2F8F-403B-B371E8517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C5732E-F043-1883-A64B-8B87CA2C1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646D04-1147-67DE-1953-9620EE627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2714D0-C292-F5B9-2A99-35F436D5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DBC040-0906-9DFA-F4F9-B97CFBEDC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96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A4897-B954-8E38-81A0-4CB4E9B4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33B1B6-68BA-E059-0187-231D5B9BC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7415C0-61CF-5BFC-D4C6-AEEA0350A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EDDBA5-DCA3-FB60-8263-C6384F55A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D64CCF-67CD-55A6-13A0-24B4D349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29119-58CF-1B35-E219-7723E54D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E7231-E2B0-658B-EB69-5162CDCEC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F970FC-6DE3-2E1A-863B-AC7FAEA86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D55322-B624-D14C-C153-A5A1BCE0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D5B32-FAD6-2F84-0181-5551F2B6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3A922-FAEB-29D4-A93F-71AFAEEB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1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749C78-59E7-CDCB-003A-B8882961B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FEEC1B-6C93-7139-602D-0C3D93A69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09D2E-7810-40B5-1072-3F307CDB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9555D-012C-95EE-E712-9528DDE2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7C7D4-7A62-9D24-7DE4-8F3D6502A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910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20E4B2-4294-D272-07BA-B0DBFF11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7EBB92-4842-4F4F-83EB-6C78C2BE3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2F325-BF44-BF74-8716-7872F905B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CEE4E-70DC-4BB9-AEC9-31B7611D54CD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626AD-E9C0-2E4F-416A-AEA7BC163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73BBF-D82D-CDCF-77A2-F27C2165B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922BC-E2D8-4F52-B0FC-F4DB38B69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F3BC5D-CA32-D4A6-079F-2808317C062E}"/>
              </a:ext>
            </a:extLst>
          </p:cNvPr>
          <p:cNvSpPr txBox="1"/>
          <p:nvPr/>
        </p:nvSpPr>
        <p:spPr>
          <a:xfrm>
            <a:off x="1457325" y="1333500"/>
            <a:ext cx="8335936" cy="3328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주민 등록 등본 </a:t>
            </a:r>
            <a:r>
              <a:rPr lang="en-US" altLang="ko-KR" b="1" dirty="0"/>
              <a:t>(</a:t>
            </a:r>
            <a:r>
              <a:rPr lang="ko-KR" altLang="en-US" b="1" dirty="0"/>
              <a:t>주민번호 뒷자리 포함</a:t>
            </a:r>
            <a:r>
              <a:rPr lang="en-US" altLang="ko-KR" b="1" dirty="0"/>
              <a:t>, </a:t>
            </a:r>
            <a:r>
              <a:rPr lang="ko-KR" altLang="en-US" b="1" dirty="0" err="1"/>
              <a:t>마스킹</a:t>
            </a:r>
            <a:r>
              <a:rPr lang="ko-KR" altLang="en-US" b="1" dirty="0"/>
              <a:t> 해제 필수</a:t>
            </a:r>
            <a:r>
              <a:rPr lang="en-US" altLang="ko-KR" b="1" dirty="0"/>
              <a:t>)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급여통장 사본</a:t>
            </a:r>
            <a:endParaRPr lang="en-US" altLang="ko-KR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최종학력 졸업증명서</a:t>
            </a:r>
            <a:endParaRPr lang="en-US" altLang="ko-KR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b="1" dirty="0"/>
              <a:t>신분증 사본</a:t>
            </a:r>
            <a:endParaRPr lang="en-US" altLang="ko-KR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/>
              <a:t>(</a:t>
            </a:r>
            <a:r>
              <a:rPr lang="ko-KR" altLang="en-US" b="1" dirty="0"/>
              <a:t>남성만 해당</a:t>
            </a:r>
            <a:r>
              <a:rPr lang="en-US" altLang="ko-KR" b="1" dirty="0"/>
              <a:t>) </a:t>
            </a:r>
            <a:r>
              <a:rPr lang="ko-KR" altLang="en-US" b="1" dirty="0"/>
              <a:t>병적증명서</a:t>
            </a:r>
            <a:endParaRPr lang="en-US" altLang="ko-KR" b="1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strike="sngStrike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trike="sngStrike" dirty="0">
                <a:solidFill>
                  <a:schemeClr val="bg1">
                    <a:lumMod val="65000"/>
                  </a:schemeClr>
                </a:solidFill>
              </a:rPr>
              <a:t>경력직만 해당</a:t>
            </a:r>
            <a:r>
              <a:rPr lang="en-US" altLang="ko-KR" strike="sngStrike" dirty="0">
                <a:solidFill>
                  <a:schemeClr val="bg1">
                    <a:lumMod val="65000"/>
                  </a:schemeClr>
                </a:solidFill>
              </a:rPr>
              <a:t>) </a:t>
            </a:r>
            <a:r>
              <a:rPr lang="ko-KR" altLang="en-US" strike="sngStrike" dirty="0" err="1">
                <a:solidFill>
                  <a:schemeClr val="bg1">
                    <a:lumMod val="65000"/>
                  </a:schemeClr>
                </a:solidFill>
              </a:rPr>
              <a:t>직전년도</a:t>
            </a:r>
            <a:r>
              <a:rPr lang="en-US" altLang="ko-KR" strike="sngStrike" dirty="0">
                <a:solidFill>
                  <a:schemeClr val="bg1">
                    <a:lumMod val="65000"/>
                  </a:schemeClr>
                </a:solidFill>
              </a:rPr>
              <a:t>(2024), </a:t>
            </a:r>
            <a:r>
              <a:rPr lang="ko-KR" altLang="en-US" strike="sngStrike" dirty="0" err="1">
                <a:solidFill>
                  <a:schemeClr val="bg1">
                    <a:lumMod val="65000"/>
                  </a:schemeClr>
                </a:solidFill>
              </a:rPr>
              <a:t>당해년도</a:t>
            </a:r>
            <a:r>
              <a:rPr lang="en-US" altLang="ko-KR" strike="sngStrike" dirty="0">
                <a:solidFill>
                  <a:schemeClr val="bg1">
                    <a:lumMod val="65000"/>
                  </a:schemeClr>
                </a:solidFill>
              </a:rPr>
              <a:t>(2025) </a:t>
            </a:r>
            <a:r>
              <a:rPr lang="ko-KR" altLang="en-US" strike="sngStrike" dirty="0">
                <a:solidFill>
                  <a:schemeClr val="bg1">
                    <a:lumMod val="65000"/>
                  </a:schemeClr>
                </a:solidFill>
              </a:rPr>
              <a:t>근로소득 원천징수영수증</a:t>
            </a:r>
            <a:endParaRPr lang="en-US" altLang="ko-KR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0BA28-271F-1BCD-BB40-59BD7E70E4F3}"/>
              </a:ext>
            </a:extLst>
          </p:cNvPr>
          <p:cNvSpPr txBox="1"/>
          <p:nvPr/>
        </p:nvSpPr>
        <p:spPr>
          <a:xfrm>
            <a:off x="1457325" y="428625"/>
            <a:ext cx="4676280" cy="7134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12</a:t>
            </a:r>
            <a:r>
              <a:rPr lang="ko-KR" altLang="en-US" sz="2400" dirty="0"/>
              <a:t>월 </a:t>
            </a:r>
            <a:r>
              <a:rPr lang="en-US" altLang="ko-KR" sz="2400" dirty="0"/>
              <a:t>24</a:t>
            </a:r>
            <a:r>
              <a:rPr lang="ko-KR" altLang="en-US" sz="2400" dirty="0"/>
              <a:t>일 </a:t>
            </a:r>
            <a:r>
              <a:rPr lang="en-US" altLang="ko-KR" sz="2400" dirty="0"/>
              <a:t>(</a:t>
            </a:r>
            <a:r>
              <a:rPr lang="ko-KR" altLang="en-US" sz="2400" dirty="0"/>
              <a:t>수</a:t>
            </a:r>
            <a:r>
              <a:rPr lang="en-US" altLang="ko-KR" sz="2400" dirty="0"/>
              <a:t>) </a:t>
            </a:r>
            <a:r>
              <a:rPr lang="ko-KR" altLang="en-US" sz="2400" dirty="0"/>
              <a:t>까지 제출할 서류</a:t>
            </a:r>
            <a:endParaRPr lang="en-US" altLang="ko-KR" sz="24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A19D521-A970-1FB7-316B-3807B43617ED}"/>
              </a:ext>
            </a:extLst>
          </p:cNvPr>
          <p:cNvSpPr/>
          <p:nvPr/>
        </p:nvSpPr>
        <p:spPr>
          <a:xfrm>
            <a:off x="1295400" y="2533650"/>
            <a:ext cx="3076576" cy="523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A966ACE-ADD3-089F-9A25-E9DD520A34C5}"/>
              </a:ext>
            </a:extLst>
          </p:cNvPr>
          <p:cNvSpPr/>
          <p:nvPr/>
        </p:nvSpPr>
        <p:spPr>
          <a:xfrm>
            <a:off x="1295399" y="1409700"/>
            <a:ext cx="6886575" cy="523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B06CFEA-C76D-DA45-D1FC-2FBC3BD976F4}"/>
              </a:ext>
            </a:extLst>
          </p:cNvPr>
          <p:cNvSpPr/>
          <p:nvPr/>
        </p:nvSpPr>
        <p:spPr>
          <a:xfrm>
            <a:off x="1295400" y="1971675"/>
            <a:ext cx="2349500" cy="523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0F14340-3EDF-F583-826F-82E31AFCFE73}"/>
              </a:ext>
            </a:extLst>
          </p:cNvPr>
          <p:cNvSpPr/>
          <p:nvPr/>
        </p:nvSpPr>
        <p:spPr>
          <a:xfrm>
            <a:off x="1295400" y="3083302"/>
            <a:ext cx="3076576" cy="523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B61C5-17A8-D7ED-AE72-7C04ABAA90C8}"/>
              </a:ext>
            </a:extLst>
          </p:cNvPr>
          <p:cNvSpPr txBox="1"/>
          <p:nvPr/>
        </p:nvSpPr>
        <p:spPr>
          <a:xfrm>
            <a:off x="4307195" y="3160573"/>
            <a:ext cx="437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-&gt; </a:t>
            </a:r>
            <a:r>
              <a:rPr lang="ko-KR" altLang="en-US" dirty="0" err="1">
                <a:solidFill>
                  <a:srgbClr val="FF0000"/>
                </a:solidFill>
              </a:rPr>
              <a:t>촬영본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필요하면 스캔본으로 만들기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62A4223-366C-18CF-8E25-9100E0EF9095}"/>
              </a:ext>
            </a:extLst>
          </p:cNvPr>
          <p:cNvSpPr/>
          <p:nvPr/>
        </p:nvSpPr>
        <p:spPr>
          <a:xfrm>
            <a:off x="1295400" y="3627953"/>
            <a:ext cx="3606800" cy="523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55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54</Words>
  <Application>Microsoft Office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5</cp:revision>
  <dcterms:created xsi:type="dcterms:W3CDTF">2025-12-17T11:30:51Z</dcterms:created>
  <dcterms:modified xsi:type="dcterms:W3CDTF">2025-12-17T12:23:41Z</dcterms:modified>
</cp:coreProperties>
</file>