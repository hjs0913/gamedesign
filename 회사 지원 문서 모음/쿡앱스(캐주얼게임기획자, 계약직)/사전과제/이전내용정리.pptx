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15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1D81A-B8C2-35F0-22E5-DF4582FAE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47C6E1-BBCF-16AF-8E4E-6BBCE7AC5B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7D9164-ABE4-57FE-17C2-AA559B6F3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6899A-200C-4531-8552-25A236C7159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9D4631-4952-FA42-6F48-2A6EF3993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3BB96E-6CAE-2570-C434-7684A8841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0A46C-5F48-47D8-8C02-08C9CB573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333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3547CF-DAD4-82DF-5404-F9AA9DE35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B5A66B-D8D1-AA66-17A5-9128B1664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313814-0803-6910-865D-49E977FA2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6899A-200C-4531-8552-25A236C7159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272204-DB28-8F2D-F335-3446BE19A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58A434-F53A-D368-04E4-C7E8F5A0D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0A46C-5F48-47D8-8C02-08C9CB573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35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DD7FA1-3512-2AAE-1209-A7506C248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5639B5-941D-488B-142F-4A0E08267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BFFB9A-4193-DE35-CD7F-ACFF0AF67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6899A-200C-4531-8552-25A236C7159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B34A33-BC94-5481-15AA-E594A4383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9B6793-E96E-124E-43B4-178FEA98C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0A46C-5F48-47D8-8C02-08C9CB573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446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D165B9-71E2-12A1-5577-81C335104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99F394-235D-9F3B-D5B0-50698F70EC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EA33F0-2B7A-B501-D379-F5424F549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72A875-DE0D-D1BC-16B3-145BBE9E6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6899A-200C-4531-8552-25A236C7159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422E93-EF31-34D2-DF1C-6DE8DD57B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E9F1B6-DAD3-C18B-EB1F-7FBE86BD3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0A46C-5F48-47D8-8C02-08C9CB573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77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F1913D-2FAB-C668-992F-82EF3A89E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D3FFA7-CBD0-F541-B644-1BA4D92FA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EE0298-9CC3-D21E-B0CD-3E64C50A20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5C3DCC5-EE7F-3945-E6E2-84461D06E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0ACF19-FF83-74FA-C8E7-3714EA2C58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1C8AC28-6AD2-1F74-F086-EEF49FD43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6899A-200C-4531-8552-25A236C7159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18A5297-6C4A-3D61-709F-2E9F84CD8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D6D0E6-4B03-FEBC-9582-CC596B6F3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0A46C-5F48-47D8-8C02-08C9CB573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56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82BE25-08E1-FCA6-D633-468465BB5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F23244-B500-EA58-4921-0C7260409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6899A-200C-4531-8552-25A236C7159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5D6EE3F-97D4-2AF3-1BA9-46C806373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8C9A2B-DF1F-FA97-127B-E471E0F5E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0A46C-5F48-47D8-8C02-08C9CB573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541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2242EC-3911-5ABF-ECB6-905D089B1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6899A-200C-4531-8552-25A236C7159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24AD6CC-C383-F57E-E513-811CE5469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07E285-53B0-62A7-F93F-B62B20EB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0A46C-5F48-47D8-8C02-08C9CB573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605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89DB4-AB26-CCBA-2C59-AD3F25C26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C2FF5B-3986-1D97-77A8-F11C81162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E0BB34-3425-9F12-C0C8-7A23211C4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39AE214-4CEB-3142-64DB-F04A61F43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6899A-200C-4531-8552-25A236C7159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D06B7B-F9C1-4193-AD4A-3298FD5CA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02F947-E47C-85D1-B3CF-CEEAEF770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0A46C-5F48-47D8-8C02-08C9CB573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239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757932-B4CA-D1DC-1CFE-F542574BA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C939F96-A615-AF5D-7496-8D5A91362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7D2C0A-C93E-6E64-AFD4-87CA4C15B9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A42B59-696F-A4A1-6DF4-41BAA70AC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6899A-200C-4531-8552-25A236C7159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C4C38C-BE75-7507-D4B4-9C57F445F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FF1DFE-9EF8-F96F-D2E4-9EDCA193B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0A46C-5F48-47D8-8C02-08C9CB573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321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734BE3-F451-52AF-6311-EA6C9BCF3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E187C8-DEF0-37CC-7A0B-4206606E0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85FDE-F912-0251-E4C8-DF65A94C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6899A-200C-4531-8552-25A236C7159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14B1D6-0CE7-8E94-180A-84BDFF05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91669B-664E-B94C-364B-602E663A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0A46C-5F48-47D8-8C02-08C9CB573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562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6F869A-7480-6812-69FD-67341A3DCD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D71E50-AFCF-C201-588D-BBAF6F610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556A81-403F-2A1C-833B-10AFBC1E5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6899A-200C-4531-8552-25A236C7159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D79CC3-F88A-E60A-0474-8165C096A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3D90A3-A352-674E-B9C9-5FEB92721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0A46C-5F48-47D8-8C02-08C9CB573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06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5B417EB-3E1C-49E3-E570-707AA1360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BE0120-A625-5CCB-0FD9-AE854AED1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D24231-DB5C-54A1-D62F-5828734895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6899A-200C-4531-8552-25A236C7159B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674383-9B3D-9936-F2A7-8FB89C4793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52FFE0-0A57-6D29-5F13-322B8DE262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00A46C-5F48-47D8-8C02-08C9CB573F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115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968BF3-6B05-21BC-1EA0-E62993EC99DB}"/>
              </a:ext>
            </a:extLst>
          </p:cNvPr>
          <p:cNvSpPr txBox="1"/>
          <p:nvPr/>
        </p:nvSpPr>
        <p:spPr>
          <a:xfrm>
            <a:off x="137680" y="653581"/>
            <a:ext cx="6094268" cy="88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lang="ko-KR" altLang="ko-KR" sz="1100" kern="100" dirty="0" err="1">
                <a:solidFill>
                  <a:srgbClr val="00000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로그라이트</a:t>
            </a:r>
            <a:r>
              <a:rPr lang="ko-KR" altLang="ko-KR" sz="1100" kern="100" dirty="0">
                <a:solidFill>
                  <a:srgbClr val="00000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장르의 게임에서 </a:t>
            </a:r>
            <a:r>
              <a:rPr lang="en-US" altLang="ko-KR" sz="1100" b="1" kern="100" dirty="0">
                <a:solidFill>
                  <a:srgbClr val="00000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ko-KR" sz="1100" b="1" kern="100" dirty="0">
                <a:solidFill>
                  <a:srgbClr val="00000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운</a:t>
            </a:r>
            <a:r>
              <a:rPr lang="en-US" altLang="ko-KR" sz="1100" b="1" kern="100" dirty="0">
                <a:solidFill>
                  <a:srgbClr val="00000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’</a:t>
            </a:r>
            <a:r>
              <a:rPr lang="ko-KR" altLang="ko-KR" sz="1100" kern="100" dirty="0">
                <a:solidFill>
                  <a:srgbClr val="00000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 게임을 클리어하기 위한 핵심 요소입니다</a:t>
            </a:r>
            <a:r>
              <a:rPr lang="en-US" altLang="ko-KR" sz="1100" kern="100" dirty="0">
                <a:solidFill>
                  <a:srgbClr val="00000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ko-KR" altLang="ko-KR" sz="1100" kern="100" dirty="0">
                <a:solidFill>
                  <a:srgbClr val="00000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운이 좋을 때는 예상치 못한 성공으로 큰 쾌감을 주고 게임을 지속적으로 플레이할 수 있는 동기를 제공합니다</a:t>
            </a:r>
            <a:r>
              <a:rPr lang="en-US" altLang="ko-KR" sz="1100" kern="100" dirty="0">
                <a:solidFill>
                  <a:srgbClr val="00000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ko-KR" altLang="ko-KR" sz="1100" kern="100" dirty="0">
                <a:solidFill>
                  <a:srgbClr val="00000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하지만 대부분의 상황에서는 운이 따르지 않아 실패하고 자신의 실력과 상관없이 결과가 정해진다는 박탈감을 느끼게 됩니다</a:t>
            </a:r>
            <a:r>
              <a:rPr lang="en-US" altLang="ko-KR" sz="1100" kern="100" dirty="0">
                <a:solidFill>
                  <a:srgbClr val="00000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ko-KR" altLang="ko-KR" sz="1100" kern="100" dirty="0">
                <a:solidFill>
                  <a:srgbClr val="00000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이런 경험이 반복되면 </a:t>
            </a:r>
            <a:r>
              <a:rPr lang="en-US" altLang="ko-KR" sz="1100" kern="100" dirty="0">
                <a:solidFill>
                  <a:srgbClr val="00000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ko-KR" sz="1100" kern="100" dirty="0">
                <a:solidFill>
                  <a:srgbClr val="00000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이번에도 운이 안 좋겠지</a:t>
            </a:r>
            <a:r>
              <a:rPr lang="en-US" altLang="ko-KR" sz="1100" kern="100" dirty="0">
                <a:solidFill>
                  <a:srgbClr val="00000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?’</a:t>
            </a:r>
            <a:r>
              <a:rPr lang="ko-KR" altLang="ko-KR" sz="1100" kern="100" dirty="0">
                <a:solidFill>
                  <a:srgbClr val="00000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라는 생각으로 게임에 대한 흥미와 재미를 잃어버릴 수 있습니다</a:t>
            </a:r>
            <a:r>
              <a:rPr lang="en-US" altLang="ko-KR" sz="1100" kern="100" dirty="0">
                <a:solidFill>
                  <a:srgbClr val="00000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ko-KR" sz="1100" kern="100" dirty="0">
              <a:solidFill>
                <a:srgbClr val="000000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645C08-94FD-B5F1-43A4-F7C7B3145139}"/>
              </a:ext>
            </a:extLst>
          </p:cNvPr>
          <p:cNvSpPr txBox="1"/>
          <p:nvPr/>
        </p:nvSpPr>
        <p:spPr>
          <a:xfrm>
            <a:off x="137680" y="196381"/>
            <a:ext cx="6094268" cy="27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  <a:buNone/>
            </a:pPr>
            <a:r>
              <a:rPr lang="ko-KR" altLang="en-US" sz="1100" kern="100" dirty="0">
                <a:solidFill>
                  <a:srgbClr val="00000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기획의도 </a:t>
            </a:r>
            <a:r>
              <a:rPr lang="en-US" altLang="ko-KR" sz="1100" kern="100" dirty="0">
                <a:solidFill>
                  <a:srgbClr val="000000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lang="ko-KR" altLang="ko-KR" sz="1100" kern="100" dirty="0">
              <a:solidFill>
                <a:srgbClr val="000000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21537-8821-CBEA-46A2-6ABA08B2181A}"/>
              </a:ext>
            </a:extLst>
          </p:cNvPr>
          <p:cNvSpPr txBox="1"/>
          <p:nvPr/>
        </p:nvSpPr>
        <p:spPr>
          <a:xfrm>
            <a:off x="137680" y="1720178"/>
            <a:ext cx="609426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100" dirty="0">
                <a:solidFill>
                  <a:srgbClr val="000000"/>
                </a:solidFill>
                <a:effectLst/>
                <a:ea typeface="Pretendard" panose="02000503000000020004" pitchFamily="2" charset="-127"/>
                <a:cs typeface="Pretendard" panose="02000503000000020004" pitchFamily="2" charset="-127"/>
              </a:rPr>
              <a:t> 서 </a:t>
            </a:r>
            <a:r>
              <a:rPr lang="ko-KR" altLang="ko-KR" sz="1100" b="1" dirty="0">
                <a:solidFill>
                  <a:srgbClr val="000000"/>
                </a:solidFill>
                <a:effectLst/>
                <a:ea typeface="Pretendard" panose="02000503000000020004" pitchFamily="2" charset="-127"/>
                <a:cs typeface="Pretendard" panose="02000503000000020004" pitchFamily="2" charset="-127"/>
              </a:rPr>
              <a:t>불확실성으로 인한 재미를 유지</a:t>
            </a:r>
            <a:r>
              <a:rPr lang="ko-KR" altLang="ko-KR" sz="1100" dirty="0">
                <a:solidFill>
                  <a:srgbClr val="000000"/>
                </a:solidFill>
                <a:effectLst/>
                <a:ea typeface="Pretendard" panose="02000503000000020004" pitchFamily="2" charset="-127"/>
                <a:cs typeface="Pretendard" panose="02000503000000020004" pitchFamily="2" charset="-127"/>
              </a:rPr>
              <a:t>하기 위해 기획한 게임입니다</a:t>
            </a:r>
            <a:r>
              <a:rPr lang="en-US" altLang="ko-KR" sz="1100" dirty="0">
                <a:solidFill>
                  <a:srgbClr val="000000"/>
                </a:solidFill>
                <a:effectLst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2854313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77</Words>
  <Application>Microsoft Office PowerPoint</Application>
  <PresentationFormat>와이드스크린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Pretendard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홍진선(2017184037)</dc:creator>
  <cp:lastModifiedBy>홍진선(2017184037)</cp:lastModifiedBy>
  <cp:revision>1</cp:revision>
  <dcterms:created xsi:type="dcterms:W3CDTF">2025-11-12T05:34:25Z</dcterms:created>
  <dcterms:modified xsi:type="dcterms:W3CDTF">2025-11-12T12:20:01Z</dcterms:modified>
</cp:coreProperties>
</file>