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2" r:id="rId2"/>
    <p:sldId id="269" r:id="rId3"/>
    <p:sldId id="271" r:id="rId4"/>
    <p:sldId id="275" r:id="rId5"/>
    <p:sldId id="276" r:id="rId6"/>
    <p:sldId id="278" r:id="rId7"/>
    <p:sldId id="263" r:id="rId8"/>
    <p:sldId id="266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79" userDrawn="1">
          <p15:clr>
            <a:srgbClr val="F26B43"/>
          </p15:clr>
        </p15:guide>
        <p15:guide id="4" pos="7401" userDrawn="1">
          <p15:clr>
            <a:srgbClr val="F26B43"/>
          </p15:clr>
        </p15:guide>
        <p15:guide id="5" orient="horz" pos="278" userDrawn="1">
          <p15:clr>
            <a:srgbClr val="F26B43"/>
          </p15:clr>
        </p15:guide>
        <p15:guide id="6" orient="horz" pos="4156" userDrawn="1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CFC5"/>
    <a:srgbClr val="212227"/>
    <a:srgbClr val="C7B388"/>
    <a:srgbClr val="605550"/>
    <a:srgbClr val="545243"/>
    <a:srgbClr val="443B3A"/>
    <a:srgbClr val="616052"/>
    <a:srgbClr val="504E3F"/>
    <a:srgbClr val="CEBD96"/>
    <a:srgbClr val="1212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75" d="100"/>
          <a:sy n="75" d="100"/>
        </p:scale>
        <p:origin x="62" y="38"/>
      </p:cViewPr>
      <p:guideLst>
        <p:guide orient="horz" pos="2160"/>
        <p:guide pos="3840"/>
        <p:guide pos="279"/>
        <p:guide pos="7401"/>
        <p:guide orient="horz" pos="278"/>
        <p:guide orient="horz" pos="415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858A5B-A4C5-42BA-89E9-10F55E5A3D46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E134C8-DE01-4967-8504-92E88DCF6C0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46074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02809-F843-F358-6A57-16D5C51F8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C6B427-3ACA-D58B-5D36-132437C514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4D860E-B991-453E-D00A-32DCC0DECF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3B6A86-25CC-E966-8E08-E11CC47260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E134C8-DE01-4967-8504-92E88DCF6C0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52701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B52DA-5191-2A3E-D1B1-C4CACD768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E98269-36A0-67C7-0E30-B6BE4B7335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4A42B0D-EF35-A6AB-A21F-A330D00D0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9A947-BC24-498C-154E-9DAC30D4F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E134C8-DE01-4967-8504-92E88DCF6C0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11490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457CAD-B111-F496-19A9-88B85E39F4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83C1AF7-3EC4-5DE3-F30C-19A14D9ED1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0E65C7-0FCB-2456-0886-5975B7E9E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D0F6-17A2-4FF3-829F-62ACF20E6C3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E86728-087D-8086-EDDE-17BCBC957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16CA98-FACC-970A-3D61-8816FB4BA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17D54-9D11-4031-8C1F-3C2E0B9436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5325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ECECF5-E2DA-D5E6-6C3F-CE3B78979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5CD099-A069-DB0E-92BC-E3A954355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074831-2A98-460F-2971-3241A3902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D0F6-17A2-4FF3-829F-62ACF20E6C3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B0F651-1C37-90EB-E0F4-0131A7536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DFDE13-F259-D5E7-E217-38A097DDF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17D54-9D11-4031-8C1F-3C2E0B9436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638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.개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DF86B26-D49F-5B1F-5CB9-4BEDF7950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D0F6-17A2-4FF3-829F-62ACF20E6C3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D7567-AA4C-0056-94BC-CC65B2E05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65A5ED2-7E58-3007-9959-890B3DE35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98641" y="6625835"/>
            <a:ext cx="493359" cy="232165"/>
          </a:xfrm>
        </p:spPr>
        <p:txBody>
          <a:bodyPr vert="horz" wrap="none" lIns="0" tIns="0" rIns="360000" bIns="108000" rtlCol="0" anchor="ctr">
            <a:spAutoFit/>
          </a:bodyPr>
          <a:lstStyle>
            <a:lvl1pPr>
              <a:defRPr lang="ko-KR" altLang="en-US" sz="800" smtClean="0"/>
            </a:lvl1pPr>
          </a:lstStyle>
          <a:p>
            <a:fld id="{8A017D54-9D11-4031-8C1F-3C2E0B943619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9CB3BC1F-A763-3E31-BDFA-6B0D5EDF1F9D}"/>
              </a:ext>
            </a:extLst>
          </p:cNvPr>
          <p:cNvGrpSpPr/>
          <p:nvPr userDrawn="1"/>
        </p:nvGrpSpPr>
        <p:grpSpPr>
          <a:xfrm>
            <a:off x="172462" y="2664820"/>
            <a:ext cx="68400" cy="1528360"/>
            <a:chOff x="172462" y="2808076"/>
            <a:chExt cx="68400" cy="1528360"/>
          </a:xfrm>
        </p:grpSpPr>
        <p:sp>
          <p:nvSpPr>
            <p:cNvPr id="7" name="다이아몬드 6">
              <a:extLst>
                <a:ext uri="{FF2B5EF4-FFF2-40B4-BE49-F238E27FC236}">
                  <a16:creationId xmlns:a16="http://schemas.microsoft.com/office/drawing/2014/main" id="{93B42B2F-49A8-DD9D-EF11-4F290E0597C8}"/>
                </a:ext>
              </a:extLst>
            </p:cNvPr>
            <p:cNvSpPr/>
            <p:nvPr/>
          </p:nvSpPr>
          <p:spPr>
            <a:xfrm>
              <a:off x="172462" y="2808076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다이아몬드 7">
              <a:extLst>
                <a:ext uri="{FF2B5EF4-FFF2-40B4-BE49-F238E27FC236}">
                  <a16:creationId xmlns:a16="http://schemas.microsoft.com/office/drawing/2014/main" id="{0E10B18B-3416-3C30-0790-61CC57AA5432}"/>
                </a:ext>
              </a:extLst>
            </p:cNvPr>
            <p:cNvSpPr/>
            <p:nvPr/>
          </p:nvSpPr>
          <p:spPr>
            <a:xfrm>
              <a:off x="172462" y="3294729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다이아몬드 8">
              <a:extLst>
                <a:ext uri="{FF2B5EF4-FFF2-40B4-BE49-F238E27FC236}">
                  <a16:creationId xmlns:a16="http://schemas.microsoft.com/office/drawing/2014/main" id="{FDAD82DA-1930-3DB6-79FE-4F99750E5942}"/>
                </a:ext>
              </a:extLst>
            </p:cNvPr>
            <p:cNvSpPr/>
            <p:nvPr/>
          </p:nvSpPr>
          <p:spPr>
            <a:xfrm>
              <a:off x="172462" y="3781382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다이아몬드 9">
              <a:extLst>
                <a:ext uri="{FF2B5EF4-FFF2-40B4-BE49-F238E27FC236}">
                  <a16:creationId xmlns:a16="http://schemas.microsoft.com/office/drawing/2014/main" id="{5A5991A1-7885-E0B2-81F0-1C98079DA1E9}"/>
                </a:ext>
              </a:extLst>
            </p:cNvPr>
            <p:cNvSpPr/>
            <p:nvPr/>
          </p:nvSpPr>
          <p:spPr>
            <a:xfrm>
              <a:off x="172462" y="4268036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1" name="그림 10" descr="블랙, 상징, 램프, 빛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04D069C-9F13-DCC5-B65B-2CD75D4FBA1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859" b="9243"/>
          <a:stretch>
            <a:fillRect/>
          </a:stretch>
        </p:blipFill>
        <p:spPr>
          <a:xfrm>
            <a:off x="109647" y="2550430"/>
            <a:ext cx="228320" cy="29337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99210686-A47C-52E4-5719-9BB5C4E38FCC}"/>
              </a:ext>
            </a:extLst>
          </p:cNvPr>
          <p:cNvGrpSpPr/>
          <p:nvPr userDrawn="1"/>
        </p:nvGrpSpPr>
        <p:grpSpPr>
          <a:xfrm>
            <a:off x="0" y="0"/>
            <a:ext cx="12192000" cy="443346"/>
            <a:chOff x="0" y="0"/>
            <a:chExt cx="12192000" cy="443346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0371BCD7-D3AF-693A-9013-51D9FB9A5F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443346"/>
            </a:xfrm>
            <a:prstGeom prst="rect">
              <a:avLst/>
            </a:prstGeom>
          </p:spPr>
        </p:pic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A2310B0A-98F3-884E-5765-461182672694}"/>
                </a:ext>
              </a:extLst>
            </p:cNvPr>
            <p:cNvGrpSpPr/>
            <p:nvPr/>
          </p:nvGrpSpPr>
          <p:grpSpPr>
            <a:xfrm>
              <a:off x="442913" y="83174"/>
              <a:ext cx="848557" cy="276999"/>
              <a:chOff x="442913" y="83174"/>
              <a:chExt cx="848557" cy="27699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6A9FF7A-3850-092E-4409-5BDD0A847330}"/>
                  </a:ext>
                </a:extLst>
              </p:cNvPr>
              <p:cNvSpPr txBox="1"/>
              <p:nvPr/>
            </p:nvSpPr>
            <p:spPr>
              <a:xfrm>
                <a:off x="442913" y="83174"/>
                <a:ext cx="3350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en-US" altLang="ko-KR" sz="1800" dirty="0">
                    <a:solidFill>
                      <a:schemeClr val="bg1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rPr>
                  <a:t>01.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078F99-8DA2-F8C8-AE10-90830D25C78F}"/>
                  </a:ext>
                </a:extLst>
              </p:cNvPr>
              <p:cNvSpPr txBox="1"/>
              <p:nvPr/>
            </p:nvSpPr>
            <p:spPr>
              <a:xfrm>
                <a:off x="821222" y="83174"/>
                <a:ext cx="470248" cy="276999"/>
              </a:xfrm>
              <a:prstGeom prst="rect">
                <a:avLst/>
              </a:prstGeom>
              <a:noFill/>
            </p:spPr>
            <p:txBody>
              <a:bodyPr wrap="none" lIns="72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sz="1800" dirty="0">
                    <a:solidFill>
                      <a:schemeClr val="bg1"/>
                    </a:solidFill>
                  </a:rPr>
                  <a:t>개요</a:t>
                </a:r>
                <a:endParaRPr lang="en-US" altLang="ko-KR" sz="1800" dirty="0">
                  <a:solidFill>
                    <a:schemeClr val="bg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40276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.기본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DF86B26-D49F-5B1F-5CB9-4BEDF7950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D0F6-17A2-4FF3-829F-62ACF20E6C3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D7567-AA4C-0056-94BC-CC65B2E05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65A5ED2-7E58-3007-9959-890B3DE35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98641" y="6625835"/>
            <a:ext cx="493359" cy="232165"/>
          </a:xfrm>
        </p:spPr>
        <p:txBody>
          <a:bodyPr vert="horz" wrap="none" lIns="0" tIns="0" rIns="360000" bIns="108000" rtlCol="0" anchor="ctr">
            <a:spAutoFit/>
          </a:bodyPr>
          <a:lstStyle>
            <a:lvl1pPr>
              <a:defRPr lang="ko-KR" altLang="en-US" sz="800" smtClean="0"/>
            </a:lvl1pPr>
          </a:lstStyle>
          <a:p>
            <a:fld id="{8A017D54-9D11-4031-8C1F-3C2E0B943619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9CB3BC1F-A763-3E31-BDFA-6B0D5EDF1F9D}"/>
              </a:ext>
            </a:extLst>
          </p:cNvPr>
          <p:cNvGrpSpPr/>
          <p:nvPr userDrawn="1"/>
        </p:nvGrpSpPr>
        <p:grpSpPr>
          <a:xfrm>
            <a:off x="172462" y="2664820"/>
            <a:ext cx="68400" cy="1528360"/>
            <a:chOff x="172462" y="2808076"/>
            <a:chExt cx="68400" cy="1528360"/>
          </a:xfrm>
        </p:grpSpPr>
        <p:sp>
          <p:nvSpPr>
            <p:cNvPr id="7" name="다이아몬드 6">
              <a:extLst>
                <a:ext uri="{FF2B5EF4-FFF2-40B4-BE49-F238E27FC236}">
                  <a16:creationId xmlns:a16="http://schemas.microsoft.com/office/drawing/2014/main" id="{93B42B2F-49A8-DD9D-EF11-4F290E0597C8}"/>
                </a:ext>
              </a:extLst>
            </p:cNvPr>
            <p:cNvSpPr/>
            <p:nvPr/>
          </p:nvSpPr>
          <p:spPr>
            <a:xfrm>
              <a:off x="172462" y="2808076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다이아몬드 7">
              <a:extLst>
                <a:ext uri="{FF2B5EF4-FFF2-40B4-BE49-F238E27FC236}">
                  <a16:creationId xmlns:a16="http://schemas.microsoft.com/office/drawing/2014/main" id="{0E10B18B-3416-3C30-0790-61CC57AA5432}"/>
                </a:ext>
              </a:extLst>
            </p:cNvPr>
            <p:cNvSpPr/>
            <p:nvPr/>
          </p:nvSpPr>
          <p:spPr>
            <a:xfrm>
              <a:off x="172462" y="3294729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다이아몬드 8">
              <a:extLst>
                <a:ext uri="{FF2B5EF4-FFF2-40B4-BE49-F238E27FC236}">
                  <a16:creationId xmlns:a16="http://schemas.microsoft.com/office/drawing/2014/main" id="{FDAD82DA-1930-3DB6-79FE-4F99750E5942}"/>
                </a:ext>
              </a:extLst>
            </p:cNvPr>
            <p:cNvSpPr/>
            <p:nvPr/>
          </p:nvSpPr>
          <p:spPr>
            <a:xfrm>
              <a:off x="172462" y="3781382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다이아몬드 9">
              <a:extLst>
                <a:ext uri="{FF2B5EF4-FFF2-40B4-BE49-F238E27FC236}">
                  <a16:creationId xmlns:a16="http://schemas.microsoft.com/office/drawing/2014/main" id="{5A5991A1-7885-E0B2-81F0-1C98079DA1E9}"/>
                </a:ext>
              </a:extLst>
            </p:cNvPr>
            <p:cNvSpPr/>
            <p:nvPr/>
          </p:nvSpPr>
          <p:spPr>
            <a:xfrm>
              <a:off x="172462" y="4268036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0371BCD7-D3AF-693A-9013-51D9FB9A5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43346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310B0A-98F3-884E-5765-461182672694}"/>
              </a:ext>
            </a:extLst>
          </p:cNvPr>
          <p:cNvGrpSpPr/>
          <p:nvPr/>
        </p:nvGrpSpPr>
        <p:grpSpPr>
          <a:xfrm>
            <a:off x="442913" y="83174"/>
            <a:ext cx="1300604" cy="276999"/>
            <a:chOff x="442913" y="83174"/>
            <a:chExt cx="1300604" cy="276999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6A9FF7A-3850-092E-4409-5BDD0A847330}"/>
                </a:ext>
              </a:extLst>
            </p:cNvPr>
            <p:cNvSpPr txBox="1"/>
            <p:nvPr/>
          </p:nvSpPr>
          <p:spPr>
            <a:xfrm>
              <a:off x="442913" y="83174"/>
              <a:ext cx="367088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>
                <a:defRPr sz="140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defRPr>
              </a:lvl1pPr>
            </a:lstStyle>
            <a:p>
              <a:r>
                <a:rPr lang="en-US" altLang="ko-KR" sz="1800" dirty="0">
                  <a:solidFill>
                    <a:schemeClr val="bg1"/>
                  </a:solidFill>
                  <a:latin typeface="Pretendard ExtraBold" panose="02000903000000020004" pitchFamily="2" charset="-127"/>
                  <a:ea typeface="Pretendard ExtraBold" panose="02000903000000020004" pitchFamily="2" charset="-127"/>
                  <a:cs typeface="Pretendard ExtraBold" panose="02000903000000020004" pitchFamily="2" charset="-127"/>
                </a:rPr>
                <a:t>02.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4078F99-8DA2-F8C8-AE10-90830D25C78F}"/>
                </a:ext>
              </a:extLst>
            </p:cNvPr>
            <p:cNvSpPr txBox="1"/>
            <p:nvPr/>
          </p:nvSpPr>
          <p:spPr>
            <a:xfrm>
              <a:off x="821222" y="83174"/>
              <a:ext cx="922295" cy="276999"/>
            </a:xfrm>
            <a:prstGeom prst="rect">
              <a:avLst/>
            </a:prstGeom>
            <a:noFill/>
          </p:spPr>
          <p:txBody>
            <a:bodyPr wrap="none" lIns="72000" tIns="0" rIns="0" bIns="0" rtlCol="0">
              <a:spAutoFit/>
            </a:bodyPr>
            <a:lstStyle>
              <a:defPPr>
                <a:defRPr lang="ko-KR"/>
              </a:defPPr>
              <a:lvl1pPr>
                <a:defRPr sz="140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defRPr>
              </a:lvl1pPr>
            </a:lstStyle>
            <a:p>
              <a:r>
                <a:rPr lang="ko-KR" altLang="en-US" sz="1800" dirty="0">
                  <a:solidFill>
                    <a:schemeClr val="bg1"/>
                  </a:solidFill>
                </a:rPr>
                <a:t>기본 액션</a:t>
              </a:r>
              <a:endParaRPr lang="en-US" altLang="ko-KR" sz="18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25" name="그림 24" descr="블랙, 상징, 램프, 빛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A01E8B-0E53-FBFB-B438-BF34AF5F0B3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859" b="9243"/>
          <a:stretch>
            <a:fillRect/>
          </a:stretch>
        </p:blipFill>
        <p:spPr>
          <a:xfrm>
            <a:off x="108189" y="3037084"/>
            <a:ext cx="228320" cy="29337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47315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3C332-1CC6-1D73-C6C6-B49021540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AAA4D43-08BF-3342-13EE-FCBFC1F3F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28D04B-43C6-2BB8-7A50-BCA1439FD0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BAD0F6-17A2-4FF3-829F-62ACF20E6C3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D46782-E346-EB10-E1A9-9DADF0E9F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E3672-7946-E38D-13F8-873F352375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17D54-9D11-4031-8C1F-3C2E0B9436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5946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2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7E35D5-E2D7-2D13-21B0-86BA7246D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079C1924-9110-20D4-82DB-9FFA180458BE}"/>
              </a:ext>
            </a:extLst>
          </p:cNvPr>
          <p:cNvGrpSpPr/>
          <p:nvPr/>
        </p:nvGrpSpPr>
        <p:grpSpPr>
          <a:xfrm>
            <a:off x="9405009" y="6088707"/>
            <a:ext cx="2603598" cy="492442"/>
            <a:chOff x="9405009" y="6057929"/>
            <a:chExt cx="2603598" cy="49244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CB31545-BCE3-0547-7376-C869E9582A14}"/>
                </a:ext>
              </a:extLst>
            </p:cNvPr>
            <p:cNvSpPr txBox="1"/>
            <p:nvPr/>
          </p:nvSpPr>
          <p:spPr>
            <a:xfrm>
              <a:off x="9405009" y="6057929"/>
              <a:ext cx="26035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[Chrono Odyssey] </a:t>
              </a:r>
              <a:r>
                <a:rPr lang="ko-KR" altLang="en-US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캐릭터 전투 기획 사전 과제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7137DFF-AEB9-807E-B9B7-055B3C0382F8}"/>
                </a:ext>
              </a:extLst>
            </p:cNvPr>
            <p:cNvSpPr txBox="1"/>
            <p:nvPr/>
          </p:nvSpPr>
          <p:spPr>
            <a:xfrm>
              <a:off x="11064118" y="6304150"/>
              <a:ext cx="94448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ko-KR" altLang="en-US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작성자 </a:t>
              </a:r>
              <a:r>
                <a:rPr lang="en-US" altLang="ko-KR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: </a:t>
              </a:r>
              <a:r>
                <a:rPr lang="ko-KR" altLang="en-US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홍진선</a:t>
              </a:r>
            </a:p>
          </p:txBody>
        </p:sp>
      </p:grpSp>
      <p:pic>
        <p:nvPicPr>
          <p:cNvPr id="12" name="그림 11" descr="폰트, 타이포그래피, 텍스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5CB7795-317E-0293-CFBA-83A351FCDC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1945" y="6253641"/>
            <a:ext cx="1168111" cy="327508"/>
          </a:xfrm>
          <a:prstGeom prst="rect">
            <a:avLst/>
          </a:prstGeom>
          <a:effectLst/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9E97DB71-C890-7B22-C799-7FA35A4B3301}"/>
              </a:ext>
            </a:extLst>
          </p:cNvPr>
          <p:cNvGrpSpPr/>
          <p:nvPr/>
        </p:nvGrpSpPr>
        <p:grpSpPr>
          <a:xfrm>
            <a:off x="4723724" y="2425829"/>
            <a:ext cx="2744553" cy="923330"/>
            <a:chOff x="2132091" y="1052994"/>
            <a:chExt cx="2744553" cy="92333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5BFBB1B-4795-E0EA-8435-DB9DBC57B892}"/>
                </a:ext>
              </a:extLst>
            </p:cNvPr>
            <p:cNvSpPr txBox="1"/>
            <p:nvPr/>
          </p:nvSpPr>
          <p:spPr>
            <a:xfrm>
              <a:off x="2132091" y="1052994"/>
              <a:ext cx="166263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5400" spc="400" dirty="0">
                  <a:solidFill>
                    <a:schemeClr val="bg1"/>
                  </a:solidFill>
                  <a:effectLst/>
                  <a:latin typeface="빛의 계승자 Bold" panose="020B0600000101010101" pitchFamily="50" charset="-127"/>
                  <a:ea typeface="빛의 계승자 Bold" panose="020B0600000101010101" pitchFamily="50" charset="-127"/>
                </a:rPr>
                <a:t>현자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71D1A03-4394-D3C6-8D9F-5A48D90812FB}"/>
                </a:ext>
              </a:extLst>
            </p:cNvPr>
            <p:cNvSpPr txBox="1"/>
            <p:nvPr/>
          </p:nvSpPr>
          <p:spPr>
            <a:xfrm>
              <a:off x="3659644" y="1453104"/>
              <a:ext cx="12170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800" dirty="0">
                  <a:solidFill>
                    <a:schemeClr val="bg1"/>
                  </a:solidFill>
                  <a:effectLst/>
                  <a:latin typeface="빛의 계승자 Bold" panose="020B0600000101010101" pitchFamily="50" charset="-127"/>
                  <a:ea typeface="빛의 계승자 Bold" panose="020B0600000101010101" pitchFamily="50" charset="-127"/>
                </a:rPr>
                <a:t>(Sage)</a:t>
              </a:r>
              <a:endParaRPr lang="ko-KR" altLang="en-US" sz="2800" dirty="0">
                <a:solidFill>
                  <a:schemeClr val="bg1"/>
                </a:solidFill>
                <a:effectLst/>
                <a:latin typeface="빛의 계승자 Bold" panose="020B0600000101010101" pitchFamily="50" charset="-127"/>
                <a:ea typeface="빛의 계승자 Bold" panose="020B0600000101010101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5C261B6-1ED9-C633-0ADB-A8DFD0EF0BD7}"/>
              </a:ext>
            </a:extLst>
          </p:cNvPr>
          <p:cNvSpPr txBox="1"/>
          <p:nvPr/>
        </p:nvSpPr>
        <p:spPr>
          <a:xfrm>
            <a:off x="5055491" y="3472270"/>
            <a:ext cx="20810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  <a:effectLst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- 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  <a:effectLst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클래스 컨셉 및 스킬 디자인  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  <a:effectLst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-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  <a:effectLst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9962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2E44A-18E9-938B-E346-AE8B30BC7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66408E8-91B5-2EA9-B4AF-B6AD71F5FEB2}"/>
              </a:ext>
            </a:extLst>
          </p:cNvPr>
          <p:cNvSpPr/>
          <p:nvPr/>
        </p:nvSpPr>
        <p:spPr>
          <a:xfrm>
            <a:off x="0" y="0"/>
            <a:ext cx="4576941" cy="6858000"/>
          </a:xfrm>
          <a:prstGeom prst="rect">
            <a:avLst/>
          </a:prstGeom>
          <a:solidFill>
            <a:srgbClr val="21222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AF30B0-D0FF-28AC-0212-95C2CAD07848}"/>
              </a:ext>
            </a:extLst>
          </p:cNvPr>
          <p:cNvSpPr txBox="1"/>
          <p:nvPr/>
        </p:nvSpPr>
        <p:spPr>
          <a:xfrm>
            <a:off x="1424451" y="622768"/>
            <a:ext cx="1728037" cy="707886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ko-KR" sz="4000" spc="300" dirty="0">
                <a:solidFill>
                  <a:schemeClr val="bg1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INDEX</a:t>
            </a:r>
            <a:endParaRPr lang="ko-KR" altLang="en-US" sz="4000" spc="300" dirty="0">
              <a:solidFill>
                <a:schemeClr val="bg1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89A6B51-98A7-1490-451E-10C54D921F37}"/>
              </a:ext>
            </a:extLst>
          </p:cNvPr>
          <p:cNvGrpSpPr/>
          <p:nvPr/>
        </p:nvGrpSpPr>
        <p:grpSpPr>
          <a:xfrm>
            <a:off x="4576941" y="911898"/>
            <a:ext cx="2162755" cy="5034205"/>
            <a:chOff x="4576941" y="1231252"/>
            <a:chExt cx="2162755" cy="5034205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D51A7B0-DEE2-D8A5-D3E2-83BA28F135A0}"/>
                </a:ext>
              </a:extLst>
            </p:cNvPr>
            <p:cNvGrpSpPr/>
            <p:nvPr/>
          </p:nvGrpSpPr>
          <p:grpSpPr>
            <a:xfrm>
              <a:off x="4576941" y="1231252"/>
              <a:ext cx="2013676" cy="909274"/>
              <a:chOff x="4576941" y="1231252"/>
              <a:chExt cx="2013676" cy="909274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A293BCB-F6AD-59DF-83F6-BCE33D3782D6}"/>
                  </a:ext>
                </a:extLst>
              </p:cNvPr>
              <p:cNvSpPr txBox="1"/>
              <p:nvPr/>
            </p:nvSpPr>
            <p:spPr>
              <a:xfrm>
                <a:off x="5471102" y="1539029"/>
                <a:ext cx="1119515" cy="601497"/>
              </a:xfrm>
              <a:prstGeom prst="rect">
                <a:avLst/>
              </a:prstGeom>
              <a:noFill/>
            </p:spPr>
            <p:txBody>
              <a:bodyPr wrap="none" lIns="180000" tIns="108000" rIns="0" rtlCol="0">
                <a:spAutoFit/>
              </a:bodyPr>
              <a:lstStyle>
                <a:defPPr>
                  <a:defRPr lang="ko-KR"/>
                </a:defPPr>
                <a:lvl1pPr>
                  <a:spcAft>
                    <a:spcPts val="600"/>
                  </a:spcAft>
                  <a:defRPr sz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lvl1pPr>
              </a:lstStyle>
              <a:p>
                <a:r>
                  <a:rPr lang="en-US" altLang="ko-KR" dirty="0"/>
                  <a:t>(1) </a:t>
                </a:r>
                <a:r>
                  <a:rPr lang="ko-KR" altLang="en-US" dirty="0"/>
                  <a:t>클래스 소개</a:t>
                </a:r>
                <a:endParaRPr lang="en-US" altLang="ko-KR" dirty="0"/>
              </a:p>
              <a:p>
                <a:r>
                  <a:rPr lang="en-US" altLang="ko-KR" dirty="0"/>
                  <a:t>(2) </a:t>
                </a:r>
                <a:r>
                  <a:rPr lang="ko-KR" altLang="en-US" dirty="0"/>
                  <a:t>기획 의도</a:t>
                </a:r>
                <a:endParaRPr lang="en-US" altLang="ko-KR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E8EF5D-FC3B-4E89-9619-531AA8C4F7A2}"/>
                  </a:ext>
                </a:extLst>
              </p:cNvPr>
              <p:cNvSpPr txBox="1"/>
              <p:nvPr/>
            </p:nvSpPr>
            <p:spPr>
              <a:xfrm>
                <a:off x="4576941" y="1231252"/>
                <a:ext cx="846071" cy="307777"/>
              </a:xfrm>
              <a:prstGeom prst="rect">
                <a:avLst/>
              </a:prstGeom>
              <a:noFill/>
            </p:spPr>
            <p:txBody>
              <a:bodyPr wrap="none" lIns="432000" tIns="0" rIns="3600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en-US" altLang="ko-KR" sz="2000" dirty="0">
                    <a:solidFill>
                      <a:srgbClr val="212227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rPr>
                  <a:t>01.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218C57E-B9BD-9054-3AED-70A3F5E9A787}"/>
                  </a:ext>
                </a:extLst>
              </p:cNvPr>
              <p:cNvSpPr txBox="1"/>
              <p:nvPr/>
            </p:nvSpPr>
            <p:spPr>
              <a:xfrm>
                <a:off x="5471102" y="1296065"/>
                <a:ext cx="456389" cy="215444"/>
              </a:xfrm>
              <a:prstGeom prst="rect">
                <a:avLst/>
              </a:prstGeom>
              <a:noFill/>
            </p:spPr>
            <p:txBody>
              <a:bodyPr wrap="none" lIns="144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dirty="0">
                    <a:solidFill>
                      <a:srgbClr val="212227"/>
                    </a:solidFill>
                  </a:rPr>
                  <a:t>개요</a:t>
                </a:r>
                <a:endParaRPr lang="en-US" altLang="ko-KR" dirty="0">
                  <a:solidFill>
                    <a:srgbClr val="212227"/>
                  </a:solidFill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E6AF6FB7-BC1D-0715-6534-6ADD3CC56D2A}"/>
                </a:ext>
              </a:extLst>
            </p:cNvPr>
            <p:cNvGrpSpPr/>
            <p:nvPr/>
          </p:nvGrpSpPr>
          <p:grpSpPr>
            <a:xfrm>
              <a:off x="4576941" y="2606229"/>
              <a:ext cx="1704814" cy="909274"/>
              <a:chOff x="4576941" y="2606229"/>
              <a:chExt cx="1704814" cy="909274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B5B3704-3CFE-DEC2-7F76-85398F7CD0AD}"/>
                  </a:ext>
                </a:extLst>
              </p:cNvPr>
              <p:cNvSpPr txBox="1"/>
              <p:nvPr/>
            </p:nvSpPr>
            <p:spPr>
              <a:xfrm>
                <a:off x="5471102" y="2914006"/>
                <a:ext cx="681895" cy="601497"/>
              </a:xfrm>
              <a:prstGeom prst="rect">
                <a:avLst/>
              </a:prstGeom>
              <a:noFill/>
            </p:spPr>
            <p:txBody>
              <a:bodyPr wrap="none" lIns="180000" tIns="108000" rIns="0" rtlCol="0">
                <a:spAutoFit/>
              </a:bodyPr>
              <a:lstStyle>
                <a:defPPr>
                  <a:defRPr lang="ko-KR"/>
                </a:defPPr>
                <a:lvl1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  <a:defRPr sz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lvl1pPr>
              </a:lstStyle>
              <a:p>
                <a:pPr marL="0" indent="0">
                  <a:buNone/>
                </a:pPr>
                <a:r>
                  <a:rPr lang="en-US" altLang="ko-KR" dirty="0"/>
                  <a:t>(1) </a:t>
                </a:r>
                <a:r>
                  <a:rPr lang="ko-KR" altLang="en-US" dirty="0"/>
                  <a:t>평타</a:t>
                </a:r>
                <a:endParaRPr lang="en-US" altLang="ko-KR" dirty="0"/>
              </a:p>
              <a:p>
                <a:pPr marL="0" indent="0">
                  <a:buNone/>
                </a:pPr>
                <a:r>
                  <a:rPr lang="en-US" altLang="ko-KR" dirty="0"/>
                  <a:t>(2) </a:t>
                </a:r>
                <a:r>
                  <a:rPr lang="ko-KR" altLang="en-US" dirty="0"/>
                  <a:t>회피</a:t>
                </a:r>
                <a:endParaRPr lang="en-US" altLang="ko-KR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380702C-E409-CC3F-85FD-77CFC068BA90}"/>
                  </a:ext>
                </a:extLst>
              </p:cNvPr>
              <p:cNvSpPr txBox="1"/>
              <p:nvPr/>
            </p:nvSpPr>
            <p:spPr>
              <a:xfrm>
                <a:off x="4576941" y="2606229"/>
                <a:ext cx="881337" cy="307777"/>
              </a:xfrm>
              <a:prstGeom prst="rect">
                <a:avLst/>
              </a:prstGeom>
              <a:noFill/>
            </p:spPr>
            <p:txBody>
              <a:bodyPr wrap="none" lIns="432000" tIns="0" rIns="36000" bIns="0" rtlCol="0">
                <a:spAutoFit/>
              </a:bodyPr>
              <a:lstStyle>
                <a:defPPr>
                  <a:defRPr lang="ko-KR"/>
                </a:defPPr>
                <a:lvl1pPr>
                  <a:defRPr sz="2000">
                    <a:solidFill>
                      <a:srgbClr val="212227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defRPr>
                </a:lvl1pPr>
              </a:lstStyle>
              <a:p>
                <a:r>
                  <a:rPr lang="en-US" altLang="ko-KR" dirty="0"/>
                  <a:t>02.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90F93CC-D877-9542-68AD-B8D862FC7B8A}"/>
                  </a:ext>
                </a:extLst>
              </p:cNvPr>
              <p:cNvSpPr txBox="1"/>
              <p:nvPr/>
            </p:nvSpPr>
            <p:spPr>
              <a:xfrm>
                <a:off x="5471102" y="2671042"/>
                <a:ext cx="810653" cy="215444"/>
              </a:xfrm>
              <a:prstGeom prst="rect">
                <a:avLst/>
              </a:prstGeom>
              <a:noFill/>
            </p:spPr>
            <p:txBody>
              <a:bodyPr wrap="none" lIns="144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solidFill>
                      <a:srgbClr val="212227"/>
                    </a:solidFill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dirty="0"/>
                  <a:t>기본 액션</a:t>
                </a:r>
                <a:endParaRPr lang="en-US" altLang="ko-KR" dirty="0"/>
              </a:p>
            </p:txBody>
          </p:sp>
        </p:grp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FCB7288E-38F9-4695-B7DE-DE60093BCA73}"/>
                </a:ext>
              </a:extLst>
            </p:cNvPr>
            <p:cNvGrpSpPr/>
            <p:nvPr/>
          </p:nvGrpSpPr>
          <p:grpSpPr>
            <a:xfrm>
              <a:off x="4576941" y="3981206"/>
              <a:ext cx="1880626" cy="909274"/>
              <a:chOff x="4576941" y="3981206"/>
              <a:chExt cx="1880626" cy="909274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042B08-AC0D-A5DC-59CD-8A40D8ECFD5B}"/>
                  </a:ext>
                </a:extLst>
              </p:cNvPr>
              <p:cNvSpPr txBox="1"/>
              <p:nvPr/>
            </p:nvSpPr>
            <p:spPr>
              <a:xfrm>
                <a:off x="5471102" y="4288983"/>
                <a:ext cx="986465" cy="601497"/>
              </a:xfrm>
              <a:prstGeom prst="rect">
                <a:avLst/>
              </a:prstGeom>
              <a:noFill/>
            </p:spPr>
            <p:txBody>
              <a:bodyPr wrap="none" lIns="180000" tIns="108000" rIns="0" rtlCol="0">
                <a:spAutoFit/>
              </a:bodyPr>
              <a:lstStyle>
                <a:defPPr>
                  <a:defRPr lang="ko-KR"/>
                </a:defPPr>
                <a:lvl1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  <a:defRPr sz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lvl1pPr>
              </a:lstStyle>
              <a:p>
                <a:pPr marL="0" indent="0">
                  <a:buNone/>
                </a:pPr>
                <a:r>
                  <a:rPr lang="en-US" altLang="ko-KR" dirty="0"/>
                  <a:t>(1) </a:t>
                </a:r>
                <a:r>
                  <a:rPr lang="ko-KR" altLang="en-US" dirty="0"/>
                  <a:t>스킬 구성</a:t>
                </a:r>
                <a:endParaRPr lang="en-US" altLang="ko-KR" dirty="0"/>
              </a:p>
              <a:p>
                <a:pPr marL="0" indent="0">
                  <a:buNone/>
                </a:pPr>
                <a:r>
                  <a:rPr lang="en-US" altLang="ko-KR" dirty="0"/>
                  <a:t>(2) </a:t>
                </a:r>
                <a:r>
                  <a:rPr lang="ko-KR" altLang="en-US" dirty="0"/>
                  <a:t>상세 설명</a:t>
                </a:r>
                <a:endParaRPr lang="en-US" altLang="ko-KR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E870C3-2069-184E-3F1C-F9AAB82D7064}"/>
                  </a:ext>
                </a:extLst>
              </p:cNvPr>
              <p:cNvSpPr txBox="1"/>
              <p:nvPr/>
            </p:nvSpPr>
            <p:spPr>
              <a:xfrm>
                <a:off x="4576941" y="3981206"/>
                <a:ext cx="887749" cy="307777"/>
              </a:xfrm>
              <a:prstGeom prst="rect">
                <a:avLst/>
              </a:prstGeom>
              <a:noFill/>
            </p:spPr>
            <p:txBody>
              <a:bodyPr wrap="none" lIns="432000" tIns="0" rIns="36000" bIns="0" rtlCol="0">
                <a:spAutoFit/>
              </a:bodyPr>
              <a:lstStyle>
                <a:defPPr>
                  <a:defRPr lang="ko-KR"/>
                </a:defPPr>
                <a:lvl1pPr>
                  <a:defRPr sz="2000">
                    <a:solidFill>
                      <a:srgbClr val="212227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defRPr>
                </a:lvl1pPr>
              </a:lstStyle>
              <a:p>
                <a:r>
                  <a:rPr lang="en-US" altLang="ko-KR" dirty="0"/>
                  <a:t>03.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2F1C9B0-1A33-22A7-3E45-5A45A794CDC6}"/>
                  </a:ext>
                </a:extLst>
              </p:cNvPr>
              <p:cNvSpPr txBox="1"/>
              <p:nvPr/>
            </p:nvSpPr>
            <p:spPr>
              <a:xfrm>
                <a:off x="5471102" y="4046019"/>
                <a:ext cx="966144" cy="215444"/>
              </a:xfrm>
              <a:prstGeom prst="rect">
                <a:avLst/>
              </a:prstGeom>
              <a:noFill/>
            </p:spPr>
            <p:txBody>
              <a:bodyPr wrap="none" lIns="144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solidFill>
                      <a:srgbClr val="212227"/>
                    </a:solidFill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dirty="0"/>
                  <a:t>액티브 스킬</a:t>
                </a:r>
                <a:endParaRPr lang="en-US" altLang="ko-KR" dirty="0"/>
              </a:p>
            </p:txBody>
          </p:sp>
        </p:grp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0A9BE512-C411-A078-D853-AC88522F05EA}"/>
                </a:ext>
              </a:extLst>
            </p:cNvPr>
            <p:cNvGrpSpPr/>
            <p:nvPr/>
          </p:nvGrpSpPr>
          <p:grpSpPr>
            <a:xfrm>
              <a:off x="4576941" y="5356183"/>
              <a:ext cx="2162755" cy="909274"/>
              <a:chOff x="4576941" y="5356183"/>
              <a:chExt cx="2162755" cy="90927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859B6CC-0098-F068-D875-B69A05D163CD}"/>
                  </a:ext>
                </a:extLst>
              </p:cNvPr>
              <p:cNvSpPr txBox="1"/>
              <p:nvPr/>
            </p:nvSpPr>
            <p:spPr>
              <a:xfrm>
                <a:off x="5471102" y="5663960"/>
                <a:ext cx="1268594" cy="601497"/>
              </a:xfrm>
              <a:prstGeom prst="rect">
                <a:avLst/>
              </a:prstGeom>
              <a:noFill/>
            </p:spPr>
            <p:txBody>
              <a:bodyPr wrap="none" lIns="180000" tIns="108000" rIns="0" rtlCol="0">
                <a:spAutoFit/>
              </a:bodyPr>
              <a:lstStyle>
                <a:defPPr>
                  <a:defRPr lang="ko-KR"/>
                </a:defPPr>
                <a:lvl1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  <a:defRPr sz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lvl1pPr>
              </a:lstStyle>
              <a:p>
                <a:pPr marL="0" indent="0">
                  <a:buNone/>
                </a:pPr>
                <a:r>
                  <a:rPr lang="en-US" altLang="ko-KR" dirty="0"/>
                  <a:t>(1) </a:t>
                </a:r>
                <a:r>
                  <a:rPr lang="ko-KR" altLang="en-US" dirty="0"/>
                  <a:t>추천 스킬 조합</a:t>
                </a:r>
                <a:endParaRPr lang="en-US" altLang="ko-KR" dirty="0"/>
              </a:p>
              <a:p>
                <a:pPr marL="0" indent="0">
                  <a:buNone/>
                </a:pPr>
                <a:r>
                  <a:rPr lang="en-US" altLang="ko-KR" dirty="0"/>
                  <a:t>(2) </a:t>
                </a:r>
                <a:r>
                  <a:rPr lang="ko-KR" altLang="en-US" dirty="0"/>
                  <a:t>플레이 예시</a:t>
                </a:r>
                <a:endParaRPr lang="en-US" altLang="ko-KR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4E41F1-9BD9-71B3-C149-764AA449122D}"/>
                  </a:ext>
                </a:extLst>
              </p:cNvPr>
              <p:cNvSpPr txBox="1"/>
              <p:nvPr/>
            </p:nvSpPr>
            <p:spPr>
              <a:xfrm>
                <a:off x="4576941" y="5356183"/>
                <a:ext cx="894161" cy="307777"/>
              </a:xfrm>
              <a:prstGeom prst="rect">
                <a:avLst/>
              </a:prstGeom>
              <a:noFill/>
            </p:spPr>
            <p:txBody>
              <a:bodyPr wrap="none" lIns="432000" tIns="0" rIns="36000" bIns="0" rtlCol="0">
                <a:spAutoFit/>
              </a:bodyPr>
              <a:lstStyle>
                <a:defPPr>
                  <a:defRPr lang="ko-KR"/>
                </a:defPPr>
                <a:lvl1pPr>
                  <a:defRPr sz="2000">
                    <a:solidFill>
                      <a:srgbClr val="212227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defRPr>
                </a:lvl1pPr>
              </a:lstStyle>
              <a:p>
                <a:r>
                  <a:rPr lang="en-US" altLang="ko-KR" dirty="0"/>
                  <a:t>04.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67EF92-6D30-4D75-422D-4BB867BC16E7}"/>
                  </a:ext>
                </a:extLst>
              </p:cNvPr>
              <p:cNvSpPr txBox="1"/>
              <p:nvPr/>
            </p:nvSpPr>
            <p:spPr>
              <a:xfrm>
                <a:off x="5471102" y="5420996"/>
                <a:ext cx="966144" cy="215444"/>
              </a:xfrm>
              <a:prstGeom prst="rect">
                <a:avLst/>
              </a:prstGeom>
              <a:noFill/>
            </p:spPr>
            <p:txBody>
              <a:bodyPr wrap="none" lIns="144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solidFill>
                      <a:srgbClr val="212227"/>
                    </a:solidFill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dirty="0"/>
                  <a:t>게임 플레이</a:t>
                </a:r>
                <a:endParaRPr lang="en-US" altLang="ko-KR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88820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63C4C-DDBF-8632-EAE8-6E1CE1EB4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EB8E7512-1CE9-8AB8-0ACB-B6C81FB7BC1A}"/>
              </a:ext>
            </a:extLst>
          </p:cNvPr>
          <p:cNvSpPr txBox="1"/>
          <p:nvPr/>
        </p:nvSpPr>
        <p:spPr>
          <a:xfrm>
            <a:off x="6126211" y="4850536"/>
            <a:ext cx="6065789" cy="1000595"/>
          </a:xfrm>
          <a:prstGeom prst="rect">
            <a:avLst/>
          </a:prstGeom>
          <a:noFill/>
        </p:spPr>
        <p:txBody>
          <a:bodyPr wrap="square" lIns="18000" rIns="18000" rtlCol="0">
            <a:spAutoFit/>
          </a:bodyPr>
          <a:lstStyle/>
          <a:p>
            <a:pPr latinLnBrk="0">
              <a:lnSpc>
                <a:spcPct val="120000"/>
              </a:lnSpc>
            </a:pPr>
            <a:r>
              <a:rPr lang="ko-KR" altLang="en-US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현자는 원리와 법칙을 파악하여 최소한의 움직임으로 최대의 결과를 만들어 내는 효율을 추구합니다</a:t>
            </a:r>
            <a:r>
              <a:rPr lang="en-US" altLang="ko-KR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</a:p>
          <a:p>
            <a:pPr latinLnBrk="0">
              <a:lnSpc>
                <a:spcPct val="120000"/>
              </a:lnSpc>
            </a:pPr>
            <a:endParaRPr lang="en-US" altLang="ko-KR" sz="1000" dirty="0"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20000"/>
              </a:lnSpc>
            </a:pP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그들의 모든 기술은 인과에서 비롯되며 전장에서의 행위에 따라 쌓이는 인과는 행동을 멈추면 빠르게 소멸됩니다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latinLnBrk="0">
              <a:lnSpc>
                <a:spcPct val="120000"/>
              </a:lnSpc>
            </a:pPr>
            <a:endParaRPr lang="en-US" altLang="ko-KR" sz="10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20000"/>
              </a:lnSpc>
            </a:pP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험난한 과정을 흔들림 없이 해낸 현자들은 전장의 위기를 극복하는 지침이 됩니다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en-US" altLang="ko-KR" sz="1000" dirty="0"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3" name="그림 2" descr="의상 디자인, 덮개, 의류, 인간의 얼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E604A7-DB65-7F63-6837-23DB93ED35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2822" y="1151689"/>
            <a:ext cx="1799107" cy="308823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2D76104-6419-1F67-0025-1AD7DBC9AB2F}"/>
              </a:ext>
            </a:extLst>
          </p:cNvPr>
          <p:cNvSpPr txBox="1"/>
          <p:nvPr/>
        </p:nvSpPr>
        <p:spPr>
          <a:xfrm>
            <a:off x="1291470" y="98563"/>
            <a:ext cx="1012631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(1)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클래스 소개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57090F5-F02C-743E-1D44-651CE4C22D3E}"/>
              </a:ext>
            </a:extLst>
          </p:cNvPr>
          <p:cNvSpPr/>
          <p:nvPr/>
        </p:nvSpPr>
        <p:spPr>
          <a:xfrm>
            <a:off x="442913" y="441325"/>
            <a:ext cx="11306175" cy="6156325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B2E87F-2D88-0300-1D26-E571089B5321}"/>
              </a:ext>
            </a:extLst>
          </p:cNvPr>
          <p:cNvSpPr txBox="1"/>
          <p:nvPr/>
        </p:nvSpPr>
        <p:spPr>
          <a:xfrm>
            <a:off x="1107171" y="610816"/>
            <a:ext cx="6065789" cy="631263"/>
          </a:xfrm>
          <a:prstGeom prst="rect">
            <a:avLst/>
          </a:prstGeom>
          <a:noFill/>
        </p:spPr>
        <p:txBody>
          <a:bodyPr wrap="square" lIns="18000" rIns="18000" rtlCol="0">
            <a:spAutoFit/>
          </a:bodyPr>
          <a:lstStyle/>
          <a:p>
            <a:pPr latinLnBrk="0">
              <a:lnSpc>
                <a:spcPct val="120000"/>
              </a:lnSpc>
            </a:pPr>
            <a:r>
              <a:rPr lang="ko-KR" altLang="en-US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정리</a:t>
            </a:r>
            <a:endParaRPr lang="en-US" altLang="ko-KR" sz="1000" dirty="0"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20000"/>
              </a:lnSpc>
            </a:pP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등 뒤에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양 손에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개씩 고리를 낀다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(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팔찌들은 혼천의 처럼 맞물려 회전한다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.)</a:t>
            </a:r>
          </a:p>
          <a:p>
            <a:pPr latinLnBrk="0">
              <a:lnSpc>
                <a:spcPct val="120000"/>
              </a:lnSpc>
            </a:pPr>
            <a:r>
              <a:rPr lang="en-US" altLang="ko-KR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sz="1000" dirty="0" err="1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성반</a:t>
            </a:r>
            <a:r>
              <a:rPr lang="ko-KR" altLang="en-US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</a:p>
        </p:txBody>
      </p:sp>
    </p:spTree>
    <p:extLst>
      <p:ext uri="{BB962C8B-B14F-4D97-AF65-F5344CB8AC3E}">
        <p14:creationId xmlns:p14="http://schemas.microsoft.com/office/powerpoint/2010/main" val="163188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8F52C-4406-4CF3-632D-AD8F81806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53AB13EF-479B-2BEC-E5E6-43139633F6CC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1121638" y="1545825"/>
            <a:ext cx="4023610" cy="0"/>
          </a:xfrm>
          <a:prstGeom prst="line">
            <a:avLst/>
          </a:prstGeom>
          <a:ln w="6350">
            <a:solidFill>
              <a:srgbClr val="212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DA8C272-3C0C-51F3-5CFF-905350BA9090}"/>
              </a:ext>
            </a:extLst>
          </p:cNvPr>
          <p:cNvSpPr txBox="1"/>
          <p:nvPr/>
        </p:nvSpPr>
        <p:spPr>
          <a:xfrm>
            <a:off x="1249438" y="4170445"/>
            <a:ext cx="2454816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 dirty="0"/>
              <a:t>숙련도 상승에 따른 성장 체감이 </a:t>
            </a:r>
            <a:r>
              <a:rPr lang="ko-KR" altLang="en-US"/>
              <a:t>큰 클래스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90F4D8-FC7C-2197-86AE-27CECDAF2BAB}"/>
              </a:ext>
            </a:extLst>
          </p:cNvPr>
          <p:cNvSpPr txBox="1"/>
          <p:nvPr/>
        </p:nvSpPr>
        <p:spPr>
          <a:xfrm>
            <a:off x="7808006" y="2596908"/>
            <a:ext cx="2250616" cy="253916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ko-KR" altLang="en-US" sz="105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공격적</a:t>
            </a:r>
            <a:r>
              <a:rPr lang="en-US" altLang="ko-KR" sz="105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</a:t>
            </a:r>
            <a:r>
              <a:rPr lang="ko-KR" altLang="en-US" sz="105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능동적으로 전투를 이어가는 클래스</a:t>
            </a:r>
            <a:endParaRPr lang="en-US" altLang="ko-KR" sz="105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2C7068-C987-0E9C-A340-812081FA04FD}"/>
              </a:ext>
            </a:extLst>
          </p:cNvPr>
          <p:cNvSpPr txBox="1"/>
          <p:nvPr/>
        </p:nvSpPr>
        <p:spPr>
          <a:xfrm>
            <a:off x="7558798" y="4158048"/>
            <a:ext cx="2942129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 dirty="0"/>
              <a:t>익숙함과 함께 강력한 존재라는 느낌이 </a:t>
            </a:r>
            <a:r>
              <a:rPr lang="ko-KR" altLang="en-US"/>
              <a:t>드는 클래스</a:t>
            </a:r>
            <a:endParaRPr lang="en-US" altLang="ko-KR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F33F60-C4AA-9B1F-61C9-819A2929AF68}"/>
              </a:ext>
            </a:extLst>
          </p:cNvPr>
          <p:cNvSpPr txBox="1"/>
          <p:nvPr/>
        </p:nvSpPr>
        <p:spPr>
          <a:xfrm>
            <a:off x="1249438" y="1288062"/>
            <a:ext cx="1518662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/>
          <a:p>
            <a:r>
              <a:rPr lang="ko-KR" altLang="en-US" sz="11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선</a:t>
            </a:r>
            <a:r>
              <a:rPr lang="en-US" altLang="ko-KR" sz="11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</a:t>
            </a:r>
            <a:r>
              <a:rPr lang="ko-KR" altLang="en-US" sz="1100" dirty="0" err="1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후딜레이가</a:t>
            </a:r>
            <a:r>
              <a:rPr lang="ko-KR" altLang="en-US" sz="11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짧은 스킬</a:t>
            </a:r>
            <a:endParaRPr lang="en-US" altLang="ko-KR" sz="11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F2BAFF-4E8E-DE64-EB6A-625E6F3A58F5}"/>
              </a:ext>
            </a:extLst>
          </p:cNvPr>
          <p:cNvSpPr txBox="1"/>
          <p:nvPr/>
        </p:nvSpPr>
        <p:spPr>
          <a:xfrm>
            <a:off x="993838" y="1706686"/>
            <a:ext cx="4631979" cy="473528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/>
              <a:t>현자는 원리와 법칙을 파악하여 최고의 효율을 찾아내는 컨셉의 클래스입니다</a:t>
            </a:r>
            <a:r>
              <a:rPr lang="en-US" altLang="ko-KR" dirty="0"/>
              <a:t>.</a:t>
            </a:r>
          </a:p>
          <a:p>
            <a:pPr>
              <a:lnSpc>
                <a:spcPct val="130000"/>
              </a:lnSpc>
            </a:pPr>
            <a:r>
              <a:rPr lang="ko-KR" altLang="en-US" dirty="0"/>
              <a:t>따라서</a:t>
            </a:r>
            <a:r>
              <a:rPr lang="en-US" altLang="ko-KR" dirty="0"/>
              <a:t>, </a:t>
            </a:r>
            <a:r>
              <a:rPr lang="ko-KR" altLang="en-US" dirty="0"/>
              <a:t>이들이 사용하는 스킬은 최소한의 움직임으로 최대의 결과를 </a:t>
            </a:r>
            <a:r>
              <a:rPr lang="ko-KR" altLang="en-US" dirty="0" err="1"/>
              <a:t>이루어냅니다</a:t>
            </a:r>
            <a:r>
              <a:rPr lang="en-US" altLang="ko-KR" dirty="0"/>
              <a:t>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1CB673-AABB-2446-F734-017288F1378E}"/>
              </a:ext>
            </a:extLst>
          </p:cNvPr>
          <p:cNvSpPr txBox="1"/>
          <p:nvPr/>
        </p:nvSpPr>
        <p:spPr>
          <a:xfrm>
            <a:off x="442913" y="4569343"/>
            <a:ext cx="5182904" cy="873637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 algn="ctr">
              <a:lnSpc>
                <a:spcPct val="130000"/>
              </a:lnSpc>
            </a:pPr>
            <a:r>
              <a:rPr lang="ko-KR" altLang="en-US" dirty="0"/>
              <a:t>하지만</a:t>
            </a:r>
            <a:r>
              <a:rPr lang="en-US" altLang="ko-KR" dirty="0"/>
              <a:t>, </a:t>
            </a:r>
            <a:r>
              <a:rPr lang="ko-KR" altLang="en-US" dirty="0"/>
              <a:t>스킬이 최고의 성능을 발휘하기 위해서는 험난한 과정이 필요합니다</a:t>
            </a:r>
            <a:r>
              <a:rPr lang="en-US" altLang="ko-KR" dirty="0"/>
              <a:t>.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적과의 일정 거리를 유지해야 하면서</a:t>
            </a:r>
            <a:r>
              <a:rPr lang="en-US" altLang="ko-KR" dirty="0"/>
              <a:t> </a:t>
            </a:r>
            <a:r>
              <a:rPr lang="ko-KR" altLang="en-US" dirty="0"/>
              <a:t>지속적으로 적을 공격하는 등 </a:t>
            </a:r>
            <a:endParaRPr lang="en-US" altLang="ko-KR" dirty="0"/>
          </a:p>
          <a:p>
            <a:pPr algn="ctr">
              <a:lnSpc>
                <a:spcPct val="130000"/>
              </a:lnSpc>
            </a:pPr>
            <a:endParaRPr lang="en-US" altLang="ko-KR" dirty="0"/>
          </a:p>
          <a:p>
            <a:pPr algn="ctr">
              <a:lnSpc>
                <a:spcPct val="130000"/>
              </a:lnSpc>
            </a:pPr>
            <a:r>
              <a:rPr lang="ko-KR" altLang="en-US" dirty="0"/>
              <a:t>자칫 잘못하면 처음부터 다시 진행해야 하거나</a:t>
            </a:r>
            <a:r>
              <a:rPr lang="en-US" altLang="ko-KR" dirty="0"/>
              <a:t>,</a:t>
            </a:r>
            <a:r>
              <a:rPr lang="ko-KR" altLang="en-US" dirty="0"/>
              <a:t> 최고의 성능을 발휘하기 위해 시간이 필요합니다</a:t>
            </a:r>
            <a:r>
              <a:rPr lang="en-US" altLang="ko-KR" dirty="0"/>
              <a:t>.</a:t>
            </a:r>
          </a:p>
        </p:txBody>
      </p:sp>
      <p:pic>
        <p:nvPicPr>
          <p:cNvPr id="13" name="그림 12" descr="포유류, 가상의 캐릭터, 만화 영화, 조각상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5897F36-0FF6-E56E-D8EE-9FFBC791E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8144" y="4822935"/>
            <a:ext cx="946120" cy="1261494"/>
          </a:xfrm>
          <a:prstGeom prst="rect">
            <a:avLst/>
          </a:prstGeom>
        </p:spPr>
      </p:pic>
      <p:pic>
        <p:nvPicPr>
          <p:cNvPr id="15" name="그림 14" descr="인간의 얼굴, 사람, 인간의 수염, 콧수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5AFBF0B-5488-9CFD-A10A-81A7B02765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456" y="4822935"/>
            <a:ext cx="1700050" cy="105241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DE1B234-8D41-5916-1AAA-36909911D618}"/>
              </a:ext>
            </a:extLst>
          </p:cNvPr>
          <p:cNvSpPr txBox="1"/>
          <p:nvPr/>
        </p:nvSpPr>
        <p:spPr>
          <a:xfrm>
            <a:off x="442913" y="6943084"/>
            <a:ext cx="5182904" cy="1073692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 algn="ctr">
              <a:lnSpc>
                <a:spcPct val="130000"/>
              </a:lnSpc>
            </a:pPr>
            <a:r>
              <a:rPr lang="ko-KR" altLang="en-US" dirty="0"/>
              <a:t>이 캐릭터를 왜 만들어야 해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어떤 재미를 주는 데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다른 캐릭터와 차이점은 </a:t>
            </a:r>
            <a:r>
              <a:rPr lang="ko-KR" altLang="en-US" dirty="0" err="1"/>
              <a:t>뭔데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등등</a:t>
            </a:r>
            <a:endParaRPr lang="en-US" altLang="ko-KR" dirty="0"/>
          </a:p>
          <a:p>
            <a:pPr algn="ctr">
              <a:lnSpc>
                <a:spcPct val="130000"/>
              </a:lnSpc>
            </a:pPr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2CB667-5909-80B2-89E8-C11D6B2F779E}"/>
              </a:ext>
            </a:extLst>
          </p:cNvPr>
          <p:cNvSpPr txBox="1"/>
          <p:nvPr/>
        </p:nvSpPr>
        <p:spPr>
          <a:xfrm>
            <a:off x="993838" y="1291909"/>
            <a:ext cx="255600" cy="253916"/>
          </a:xfrm>
          <a:prstGeom prst="rect">
            <a:avLst/>
          </a:prstGeom>
          <a:solidFill>
            <a:srgbClr val="212227"/>
          </a:solidFill>
          <a:ln w="6350">
            <a:solidFill>
              <a:srgbClr val="212227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749375-E8F8-FA78-8FFF-801B964CB1F9}"/>
              </a:ext>
            </a:extLst>
          </p:cNvPr>
          <p:cNvSpPr txBox="1"/>
          <p:nvPr/>
        </p:nvSpPr>
        <p:spPr>
          <a:xfrm>
            <a:off x="7349292" y="2832821"/>
            <a:ext cx="255600" cy="253916"/>
          </a:xfrm>
          <a:prstGeom prst="rect">
            <a:avLst/>
          </a:prstGeom>
          <a:solidFill>
            <a:srgbClr val="212227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3ED600-A15C-A5ED-DA02-3425BD25B947}"/>
              </a:ext>
            </a:extLst>
          </p:cNvPr>
          <p:cNvSpPr txBox="1"/>
          <p:nvPr/>
        </p:nvSpPr>
        <p:spPr>
          <a:xfrm>
            <a:off x="993838" y="4174292"/>
            <a:ext cx="255600" cy="253916"/>
          </a:xfrm>
          <a:prstGeom prst="rect">
            <a:avLst/>
          </a:prstGeom>
          <a:solidFill>
            <a:srgbClr val="212227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CB2E01-1BC9-1929-BC1F-CADF0D3D634D}"/>
              </a:ext>
            </a:extLst>
          </p:cNvPr>
          <p:cNvSpPr txBox="1"/>
          <p:nvPr/>
        </p:nvSpPr>
        <p:spPr>
          <a:xfrm>
            <a:off x="7303198" y="4165742"/>
            <a:ext cx="255600" cy="253916"/>
          </a:xfrm>
          <a:prstGeom prst="rect">
            <a:avLst/>
          </a:prstGeom>
          <a:solidFill>
            <a:srgbClr val="212227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4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01806D01-5416-5D2B-DFB8-5904847EE4F4}"/>
              </a:ext>
            </a:extLst>
          </p:cNvPr>
          <p:cNvCxnSpPr>
            <a:stCxn id="30" idx="2"/>
          </p:cNvCxnSpPr>
          <p:nvPr/>
        </p:nvCxnSpPr>
        <p:spPr>
          <a:xfrm>
            <a:off x="6679954" y="1541978"/>
            <a:ext cx="4131082" cy="0"/>
          </a:xfrm>
          <a:prstGeom prst="line">
            <a:avLst/>
          </a:prstGeom>
          <a:ln w="6350">
            <a:solidFill>
              <a:srgbClr val="212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253BFB4-FECD-9108-A4F4-12367C7E856D}"/>
              </a:ext>
            </a:extLst>
          </p:cNvPr>
          <p:cNvSpPr txBox="1"/>
          <p:nvPr/>
        </p:nvSpPr>
        <p:spPr>
          <a:xfrm>
            <a:off x="6807754" y="1288062"/>
            <a:ext cx="2526952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/>
              <a:t>공격적</a:t>
            </a:r>
            <a:r>
              <a:rPr lang="en-US" altLang="ko-KR" dirty="0"/>
              <a:t>/</a:t>
            </a:r>
            <a:r>
              <a:rPr lang="ko-KR" altLang="en-US" dirty="0"/>
              <a:t>능동적으로 전투를 이어가는 클래스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EBCA06B-3123-DABD-D4D0-1484D4C55782}"/>
              </a:ext>
            </a:extLst>
          </p:cNvPr>
          <p:cNvSpPr txBox="1"/>
          <p:nvPr/>
        </p:nvSpPr>
        <p:spPr>
          <a:xfrm>
            <a:off x="6552154" y="1706686"/>
            <a:ext cx="4631979" cy="473528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/>
              <a:t>현자는 원리와 법칙을 파악하여 최고의 효율을 찾아내는 컨셉의 클래스입니다</a:t>
            </a:r>
            <a:r>
              <a:rPr lang="en-US" altLang="ko-KR" dirty="0"/>
              <a:t>.</a:t>
            </a:r>
          </a:p>
          <a:p>
            <a:pPr>
              <a:lnSpc>
                <a:spcPct val="130000"/>
              </a:lnSpc>
            </a:pPr>
            <a:r>
              <a:rPr lang="ko-KR" altLang="en-US" dirty="0"/>
              <a:t>따라서</a:t>
            </a:r>
            <a:r>
              <a:rPr lang="en-US" altLang="ko-KR" dirty="0"/>
              <a:t>, </a:t>
            </a:r>
            <a:r>
              <a:rPr lang="ko-KR" altLang="en-US" dirty="0"/>
              <a:t>이들이 사용하는 스킬은 최소한의 움직임으로 최대의 결과를 </a:t>
            </a:r>
            <a:r>
              <a:rPr lang="ko-KR" altLang="en-US" dirty="0" err="1"/>
              <a:t>이루어냅니다</a:t>
            </a:r>
            <a:r>
              <a:rPr lang="en-US" altLang="ko-KR" dirty="0"/>
              <a:t>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844E7F-61B1-3F86-1CAF-96625B00599B}"/>
              </a:ext>
            </a:extLst>
          </p:cNvPr>
          <p:cNvSpPr txBox="1"/>
          <p:nvPr/>
        </p:nvSpPr>
        <p:spPr>
          <a:xfrm>
            <a:off x="6552154" y="1288062"/>
            <a:ext cx="255600" cy="253916"/>
          </a:xfrm>
          <a:prstGeom prst="rect">
            <a:avLst/>
          </a:prstGeom>
          <a:solidFill>
            <a:srgbClr val="212227"/>
          </a:solidFill>
          <a:ln w="6350">
            <a:solidFill>
              <a:srgbClr val="212227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5FCB7B-9EB6-1B01-FB67-F725B49EC9DB}"/>
              </a:ext>
            </a:extLst>
          </p:cNvPr>
          <p:cNvSpPr txBox="1"/>
          <p:nvPr/>
        </p:nvSpPr>
        <p:spPr>
          <a:xfrm>
            <a:off x="1291470" y="98563"/>
            <a:ext cx="890803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(2)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기획 의도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97689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FADD1-E9DC-0309-B95B-354143F56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7A7E9706-FA24-F44E-1DA6-28105C17C3BF}"/>
              </a:ext>
            </a:extLst>
          </p:cNvPr>
          <p:cNvSpPr txBox="1"/>
          <p:nvPr/>
        </p:nvSpPr>
        <p:spPr>
          <a:xfrm>
            <a:off x="1249438" y="4170445"/>
            <a:ext cx="2454816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 dirty="0"/>
              <a:t>숙련도 상승에 따른 성장 체감이 </a:t>
            </a:r>
            <a:r>
              <a:rPr lang="ko-KR" altLang="en-US"/>
              <a:t>큰 클래스</a:t>
            </a:r>
            <a:endParaRPr lang="en-US" altLang="ko-KR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2AA167-D809-CBAA-3494-830A6B155F69}"/>
              </a:ext>
            </a:extLst>
          </p:cNvPr>
          <p:cNvSpPr txBox="1"/>
          <p:nvPr/>
        </p:nvSpPr>
        <p:spPr>
          <a:xfrm>
            <a:off x="1249438" y="1302057"/>
            <a:ext cx="1518662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/>
              <a:t>선</a:t>
            </a:r>
            <a:r>
              <a:rPr lang="en-US" altLang="ko-KR" dirty="0"/>
              <a:t>/</a:t>
            </a:r>
            <a:r>
              <a:rPr lang="ko-KR" altLang="en-US" dirty="0" err="1"/>
              <a:t>후딜레이가</a:t>
            </a:r>
            <a:r>
              <a:rPr lang="ko-KR" altLang="en-US" dirty="0"/>
              <a:t> </a:t>
            </a:r>
            <a:r>
              <a:rPr lang="ko-KR" altLang="en-US"/>
              <a:t>짧은 스킬</a:t>
            </a:r>
            <a:endParaRPr lang="en-US" altLang="ko-KR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B5B252-CCEB-BFB8-701C-D6D0383071D4}"/>
              </a:ext>
            </a:extLst>
          </p:cNvPr>
          <p:cNvSpPr txBox="1"/>
          <p:nvPr/>
        </p:nvSpPr>
        <p:spPr>
          <a:xfrm>
            <a:off x="993838" y="1623513"/>
            <a:ext cx="4631979" cy="473528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rgbClr val="212227"/>
                </a:solidFill>
              </a:rPr>
              <a:t>현자는 원리와 법칙을 파악하여 최고의 효율을 찾아내는 컨셉의 클래스입니다</a:t>
            </a:r>
            <a:r>
              <a:rPr lang="en-US" altLang="ko-KR" dirty="0">
                <a:solidFill>
                  <a:srgbClr val="212227"/>
                </a:solidFill>
              </a:rPr>
              <a:t>.</a:t>
            </a: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rgbClr val="212227"/>
                </a:solidFill>
              </a:rPr>
              <a:t>따라서</a:t>
            </a:r>
            <a:r>
              <a:rPr lang="en-US" altLang="ko-KR" dirty="0">
                <a:solidFill>
                  <a:srgbClr val="212227"/>
                </a:solidFill>
              </a:rPr>
              <a:t>, </a:t>
            </a:r>
            <a:r>
              <a:rPr lang="ko-KR" altLang="en-US" dirty="0">
                <a:solidFill>
                  <a:srgbClr val="212227"/>
                </a:solidFill>
              </a:rPr>
              <a:t>이들이 사용하는 스킬은 최소한의 움직임으로 최대의 결과를 </a:t>
            </a:r>
            <a:r>
              <a:rPr lang="ko-KR" altLang="en-US" dirty="0" err="1">
                <a:solidFill>
                  <a:srgbClr val="212227"/>
                </a:solidFill>
              </a:rPr>
              <a:t>이루어냅니다</a:t>
            </a:r>
            <a:r>
              <a:rPr lang="en-US" altLang="ko-KR" dirty="0">
                <a:solidFill>
                  <a:srgbClr val="212227"/>
                </a:solidFill>
              </a:rPr>
              <a:t>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4FA026-350F-8CB9-9B35-F134BAA5859F}"/>
              </a:ext>
            </a:extLst>
          </p:cNvPr>
          <p:cNvSpPr txBox="1"/>
          <p:nvPr/>
        </p:nvSpPr>
        <p:spPr>
          <a:xfrm>
            <a:off x="442913" y="4569343"/>
            <a:ext cx="5182904" cy="873637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 algn="ctr">
              <a:lnSpc>
                <a:spcPct val="130000"/>
              </a:lnSpc>
            </a:pPr>
            <a:r>
              <a:rPr lang="ko-KR" altLang="en-US" dirty="0"/>
              <a:t>하지만</a:t>
            </a:r>
            <a:r>
              <a:rPr lang="en-US" altLang="ko-KR" dirty="0"/>
              <a:t>, </a:t>
            </a:r>
            <a:r>
              <a:rPr lang="ko-KR" altLang="en-US" dirty="0"/>
              <a:t>스킬이 최고의 성능을 발휘하기 위해서는 험난한 과정이 필요합니다</a:t>
            </a:r>
            <a:r>
              <a:rPr lang="en-US" altLang="ko-KR" dirty="0"/>
              <a:t>.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적과의 일정 거리를 유지해야 하면서</a:t>
            </a:r>
            <a:r>
              <a:rPr lang="en-US" altLang="ko-KR" dirty="0"/>
              <a:t> </a:t>
            </a:r>
            <a:r>
              <a:rPr lang="ko-KR" altLang="en-US" dirty="0"/>
              <a:t>지속적으로 적을 공격하는 등 </a:t>
            </a:r>
            <a:endParaRPr lang="en-US" altLang="ko-KR" dirty="0"/>
          </a:p>
          <a:p>
            <a:pPr algn="ctr">
              <a:lnSpc>
                <a:spcPct val="130000"/>
              </a:lnSpc>
            </a:pPr>
            <a:endParaRPr lang="en-US" altLang="ko-KR" dirty="0"/>
          </a:p>
          <a:p>
            <a:pPr algn="ctr">
              <a:lnSpc>
                <a:spcPct val="130000"/>
              </a:lnSpc>
            </a:pPr>
            <a:r>
              <a:rPr lang="ko-KR" altLang="en-US" dirty="0"/>
              <a:t>자칫 잘못하면 처음부터 다시 진행해야 하거나</a:t>
            </a:r>
            <a:r>
              <a:rPr lang="en-US" altLang="ko-KR" dirty="0"/>
              <a:t>,</a:t>
            </a:r>
            <a:r>
              <a:rPr lang="ko-KR" altLang="en-US" dirty="0"/>
              <a:t> 최고의 성능을 발휘하기 위해 시간이 필요합니다</a:t>
            </a:r>
            <a:r>
              <a:rPr lang="en-US" altLang="ko-KR" dirty="0"/>
              <a:t>.</a:t>
            </a:r>
          </a:p>
        </p:txBody>
      </p:sp>
      <p:pic>
        <p:nvPicPr>
          <p:cNvPr id="13" name="그림 12" descr="포유류, 가상의 캐릭터, 만화 영화, 조각상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36DA0B2-4CC3-0B00-A187-2696930BF9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8144" y="4822935"/>
            <a:ext cx="946120" cy="1261494"/>
          </a:xfrm>
          <a:prstGeom prst="rect">
            <a:avLst/>
          </a:prstGeom>
        </p:spPr>
      </p:pic>
      <p:pic>
        <p:nvPicPr>
          <p:cNvPr id="15" name="그림 14" descr="인간의 얼굴, 사람, 인간의 수염, 콧수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0D3F568-E781-3D91-4B1F-176036115F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456" y="4822935"/>
            <a:ext cx="1700050" cy="105241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5E7F4A5-7219-46DB-79D4-3E1663BDAD44}"/>
              </a:ext>
            </a:extLst>
          </p:cNvPr>
          <p:cNvSpPr txBox="1"/>
          <p:nvPr/>
        </p:nvSpPr>
        <p:spPr>
          <a:xfrm>
            <a:off x="442913" y="6943084"/>
            <a:ext cx="5182904" cy="1073692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 algn="ctr">
              <a:lnSpc>
                <a:spcPct val="130000"/>
              </a:lnSpc>
            </a:pPr>
            <a:r>
              <a:rPr lang="ko-KR" altLang="en-US" dirty="0"/>
              <a:t>이 캐릭터를 왜 만들어야 해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어떤 재미를 주는 데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다른 캐릭터와 차이점은 </a:t>
            </a:r>
            <a:r>
              <a:rPr lang="ko-KR" altLang="en-US" dirty="0" err="1"/>
              <a:t>뭔데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등등</a:t>
            </a:r>
            <a:endParaRPr lang="en-US" altLang="ko-KR" dirty="0"/>
          </a:p>
          <a:p>
            <a:pPr algn="ctr">
              <a:lnSpc>
                <a:spcPct val="130000"/>
              </a:lnSpc>
            </a:pPr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A1AA84-822C-9FBF-0CC2-AEB9A07B86BA}"/>
              </a:ext>
            </a:extLst>
          </p:cNvPr>
          <p:cNvSpPr txBox="1"/>
          <p:nvPr/>
        </p:nvSpPr>
        <p:spPr>
          <a:xfrm>
            <a:off x="993838" y="1305904"/>
            <a:ext cx="255600" cy="253916"/>
          </a:xfrm>
          <a:prstGeom prst="rect">
            <a:avLst/>
          </a:prstGeom>
          <a:solidFill>
            <a:srgbClr val="FF0000"/>
          </a:solidFill>
          <a:ln w="6350">
            <a:solidFill>
              <a:srgbClr val="D4CFC5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2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B06CA7-1F41-E85D-F144-4BE780CEFC48}"/>
              </a:ext>
            </a:extLst>
          </p:cNvPr>
          <p:cNvSpPr txBox="1"/>
          <p:nvPr/>
        </p:nvSpPr>
        <p:spPr>
          <a:xfrm>
            <a:off x="993838" y="4174292"/>
            <a:ext cx="255600" cy="253916"/>
          </a:xfrm>
          <a:prstGeom prst="rect">
            <a:avLst/>
          </a:prstGeom>
          <a:solidFill>
            <a:srgbClr val="212227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31AFBB5-161F-C3DA-4916-E5FBC0DC4117}"/>
              </a:ext>
            </a:extLst>
          </p:cNvPr>
          <p:cNvSpPr txBox="1"/>
          <p:nvPr/>
        </p:nvSpPr>
        <p:spPr>
          <a:xfrm>
            <a:off x="6807754" y="4161895"/>
            <a:ext cx="2942129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 dirty="0"/>
              <a:t>익숙함과 함께 강력한 존재라는 느낌이 드는 클래스</a:t>
            </a:r>
            <a:endParaRPr lang="en-US" altLang="ko-K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7CE682-8655-E55A-DE56-B321619C3AA4}"/>
              </a:ext>
            </a:extLst>
          </p:cNvPr>
          <p:cNvSpPr txBox="1"/>
          <p:nvPr/>
        </p:nvSpPr>
        <p:spPr>
          <a:xfrm>
            <a:off x="6552154" y="4165742"/>
            <a:ext cx="255600" cy="253916"/>
          </a:xfrm>
          <a:prstGeom prst="rect">
            <a:avLst/>
          </a:prstGeom>
          <a:solidFill>
            <a:srgbClr val="212227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499FB4-AAA1-0379-75E4-E4C71FFAFF3E}"/>
              </a:ext>
            </a:extLst>
          </p:cNvPr>
          <p:cNvSpPr txBox="1"/>
          <p:nvPr/>
        </p:nvSpPr>
        <p:spPr>
          <a:xfrm>
            <a:off x="6807754" y="1291909"/>
            <a:ext cx="2526952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/>
              <a:t>공격적</a:t>
            </a:r>
            <a:r>
              <a:rPr lang="en-US" altLang="ko-KR" dirty="0"/>
              <a:t>/</a:t>
            </a:r>
            <a:r>
              <a:rPr lang="ko-KR" altLang="en-US" dirty="0"/>
              <a:t>능동적으로 전투를 이어가는 클래스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AB9B36-9D87-B664-CA04-0C73330A7DFA}"/>
              </a:ext>
            </a:extLst>
          </p:cNvPr>
          <p:cNvSpPr txBox="1"/>
          <p:nvPr/>
        </p:nvSpPr>
        <p:spPr>
          <a:xfrm>
            <a:off x="6552154" y="1706686"/>
            <a:ext cx="4631979" cy="473528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/>
              <a:t>현자는 원리와 법칙을 파악하여 최고의 효율을 찾아내는 컨셉의 클래스입니다</a:t>
            </a:r>
            <a:r>
              <a:rPr lang="en-US" altLang="ko-KR" dirty="0"/>
              <a:t>.</a:t>
            </a:r>
          </a:p>
          <a:p>
            <a:pPr>
              <a:lnSpc>
                <a:spcPct val="130000"/>
              </a:lnSpc>
            </a:pPr>
            <a:r>
              <a:rPr lang="ko-KR" altLang="en-US" dirty="0"/>
              <a:t>따라서</a:t>
            </a:r>
            <a:r>
              <a:rPr lang="en-US" altLang="ko-KR" dirty="0"/>
              <a:t>, </a:t>
            </a:r>
            <a:r>
              <a:rPr lang="ko-KR" altLang="en-US" dirty="0"/>
              <a:t>이들이 사용하는 스킬은 최소한의 움직임으로 최대의 결과를 </a:t>
            </a:r>
            <a:r>
              <a:rPr lang="ko-KR" altLang="en-US" dirty="0" err="1"/>
              <a:t>이루어냅니다</a:t>
            </a:r>
            <a:r>
              <a:rPr lang="en-US" altLang="ko-KR" dirty="0"/>
              <a:t>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16A63F5-E465-3F38-3DC8-797E4CAC02F5}"/>
              </a:ext>
            </a:extLst>
          </p:cNvPr>
          <p:cNvSpPr txBox="1"/>
          <p:nvPr/>
        </p:nvSpPr>
        <p:spPr>
          <a:xfrm>
            <a:off x="6552154" y="1291909"/>
            <a:ext cx="255600" cy="253916"/>
          </a:xfrm>
          <a:prstGeom prst="rect">
            <a:avLst/>
          </a:prstGeom>
          <a:solidFill>
            <a:srgbClr val="212227"/>
          </a:solidFill>
          <a:ln w="6350">
            <a:solidFill>
              <a:srgbClr val="212227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7F8226-ABB8-6931-ECEA-59F9D65DD1B3}"/>
              </a:ext>
            </a:extLst>
          </p:cNvPr>
          <p:cNvSpPr txBox="1"/>
          <p:nvPr/>
        </p:nvSpPr>
        <p:spPr>
          <a:xfrm>
            <a:off x="1291470" y="98563"/>
            <a:ext cx="890803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(2)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기획 의도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9531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E176A6-7058-7A27-2F2E-7940B0B5A352}"/>
              </a:ext>
            </a:extLst>
          </p:cNvPr>
          <p:cNvSpPr txBox="1"/>
          <p:nvPr/>
        </p:nvSpPr>
        <p:spPr>
          <a:xfrm>
            <a:off x="1743517" y="98563"/>
            <a:ext cx="592645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(1)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평타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5919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2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A23122-EA85-1787-4233-BABDB2C38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20AE5293-A2CF-01DE-455A-0106F2DBA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43346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15E51C1-770D-4D1C-71A5-9BBFB7DDC398}"/>
              </a:ext>
            </a:extLst>
          </p:cNvPr>
          <p:cNvSpPr txBox="1"/>
          <p:nvPr/>
        </p:nvSpPr>
        <p:spPr>
          <a:xfrm>
            <a:off x="442913" y="83174"/>
            <a:ext cx="59631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>
              <a:defRPr sz="14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 sz="1800" dirty="0">
                <a:solidFill>
                  <a:schemeClr val="bg1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마무리</a:t>
            </a:r>
            <a:endParaRPr lang="en-US" altLang="ko-KR" sz="1800" dirty="0">
              <a:solidFill>
                <a:schemeClr val="bg1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B6D848B6-825A-733E-AC16-407384C6B499}"/>
              </a:ext>
            </a:extLst>
          </p:cNvPr>
          <p:cNvGrpSpPr/>
          <p:nvPr/>
        </p:nvGrpSpPr>
        <p:grpSpPr>
          <a:xfrm>
            <a:off x="1707878" y="769088"/>
            <a:ext cx="8776244" cy="5828562"/>
            <a:chOff x="1707878" y="769088"/>
            <a:chExt cx="8776244" cy="5828562"/>
          </a:xfrm>
        </p:grpSpPr>
        <p:pic>
          <p:nvPicPr>
            <p:cNvPr id="9" name="그림 8" descr="의상 디자인, 덮개, 의류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B497AD4-3A5C-8A1E-00E8-FF14482FB2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07878" y="769088"/>
              <a:ext cx="3395538" cy="5828562"/>
            </a:xfrm>
            <a:prstGeom prst="rect">
              <a:avLst/>
            </a:prstGeom>
          </p:spPr>
        </p:pic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856E9D3A-15AC-8B13-3421-1EEBC845E352}"/>
                </a:ext>
              </a:extLst>
            </p:cNvPr>
            <p:cNvGrpSpPr/>
            <p:nvPr/>
          </p:nvGrpSpPr>
          <p:grpSpPr>
            <a:xfrm>
              <a:off x="6190837" y="877558"/>
              <a:ext cx="4293285" cy="5720092"/>
              <a:chOff x="6190837" y="877558"/>
              <a:chExt cx="4293285" cy="5720092"/>
            </a:xfrm>
          </p:grpSpPr>
          <p:grpSp>
            <p:nvGrpSpPr>
              <p:cNvPr id="41" name="그룹 40">
                <a:extLst>
                  <a:ext uri="{FF2B5EF4-FFF2-40B4-BE49-F238E27FC236}">
                    <a16:creationId xmlns:a16="http://schemas.microsoft.com/office/drawing/2014/main" id="{3AA944DB-1EBC-C672-7454-5FE0C78B5902}"/>
                  </a:ext>
                </a:extLst>
              </p:cNvPr>
              <p:cNvGrpSpPr/>
              <p:nvPr/>
            </p:nvGrpSpPr>
            <p:grpSpPr>
              <a:xfrm>
                <a:off x="6190837" y="877558"/>
                <a:ext cx="4286205" cy="2474230"/>
                <a:chOff x="6190837" y="877558"/>
                <a:chExt cx="4286205" cy="2474230"/>
              </a:xfrm>
            </p:grpSpPr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C25E8EE-8AD3-D10D-8F2D-E1DB1AA6880F}"/>
                    </a:ext>
                  </a:extLst>
                </p:cNvPr>
                <p:cNvSpPr txBox="1"/>
                <p:nvPr/>
              </p:nvSpPr>
              <p:spPr>
                <a:xfrm>
                  <a:off x="6190837" y="1505320"/>
                  <a:ext cx="4286205" cy="1846468"/>
                </a:xfrm>
                <a:prstGeom prst="rect">
                  <a:avLst/>
                </a:prstGeom>
                <a:noFill/>
              </p:spPr>
              <p:txBody>
                <a:bodyPr wrap="square" lIns="18000" rIns="18000" rtlCol="0">
                  <a:spAutoFit/>
                </a:bodyPr>
                <a:lstStyle/>
                <a:p>
                  <a:pPr latinLnBrk="0">
                    <a:lnSpc>
                      <a:spcPct val="120000"/>
                    </a:lnSpc>
                  </a:pPr>
                  <a:r>
                    <a:rPr lang="ko-KR" altLang="en-US" sz="1200" dirty="0">
                      <a:solidFill>
                        <a:srgbClr val="D4CFC5"/>
                      </a:solidFill>
                      <a:effectLst/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현자는 원리와 법칙을 파악하여 최소한의 움직임으로 최대의 결과를 만들어 내는 효율을 추구합니다</a:t>
                  </a:r>
                  <a:r>
                    <a:rPr lang="en-US" altLang="ko-KR" sz="1200" dirty="0">
                      <a:solidFill>
                        <a:srgbClr val="D4CFC5"/>
                      </a:solidFill>
                      <a:effectLst/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. </a:t>
                  </a:r>
                </a:p>
                <a:p>
                  <a:pPr latinLnBrk="0">
                    <a:lnSpc>
                      <a:spcPct val="120000"/>
                    </a:lnSpc>
                  </a:pPr>
                  <a:endParaRPr lang="en-US" altLang="ko-KR" sz="1200" dirty="0">
                    <a:solidFill>
                      <a:srgbClr val="D4CFC5"/>
                    </a:solidFill>
                    <a:effectLst/>
                    <a:latin typeface="빛의 계승자 Regular" panose="020B0600000101010101" pitchFamily="50" charset="-127"/>
                    <a:ea typeface="빛의 계승자 Regular" panose="020B0600000101010101" pitchFamily="50" charset="-127"/>
                    <a:cs typeface="Pretendard Medium" panose="02000603000000020004" pitchFamily="2" charset="-127"/>
                  </a:endParaRPr>
                </a:p>
                <a:p>
                  <a:pPr latinLnBrk="0">
                    <a:lnSpc>
                      <a:spcPct val="120000"/>
                    </a:lnSpc>
                  </a:pPr>
                  <a:r>
                    <a:rPr lang="ko-KR" altLang="en-US" sz="1200" dirty="0">
                      <a:solidFill>
                        <a:srgbClr val="D4CFC5"/>
                      </a:solidFill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그들의 모든 기술은 인과에서 비롯되며 전장에서의 행위에 따라 쌓이는 인과는 행동을 멈추면 빠르게 소멸됩니다</a:t>
                  </a:r>
                  <a:r>
                    <a:rPr lang="en-US" altLang="ko-KR" sz="1200" dirty="0">
                      <a:solidFill>
                        <a:srgbClr val="D4CFC5"/>
                      </a:solidFill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.</a:t>
                  </a:r>
                </a:p>
                <a:p>
                  <a:pPr latinLnBrk="0">
                    <a:lnSpc>
                      <a:spcPct val="120000"/>
                    </a:lnSpc>
                  </a:pPr>
                  <a:endParaRPr lang="en-US" altLang="ko-KR" sz="1200" dirty="0">
                    <a:solidFill>
                      <a:srgbClr val="D4CFC5"/>
                    </a:solidFill>
                    <a:latin typeface="빛의 계승자 Regular" panose="020B0600000101010101" pitchFamily="50" charset="-127"/>
                    <a:ea typeface="빛의 계승자 Regular" panose="020B0600000101010101" pitchFamily="50" charset="-127"/>
                    <a:cs typeface="Pretendard Medium" panose="02000603000000020004" pitchFamily="2" charset="-127"/>
                  </a:endParaRPr>
                </a:p>
                <a:p>
                  <a:pPr latinLnBrk="0">
                    <a:lnSpc>
                      <a:spcPct val="120000"/>
                    </a:lnSpc>
                  </a:pPr>
                  <a:r>
                    <a:rPr lang="ko-KR" altLang="en-US" sz="1200" dirty="0">
                      <a:solidFill>
                        <a:srgbClr val="D4CFC5"/>
                      </a:solidFill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이 험난한 과정을 흔들림 없이 해낸 현자들은 전장의 위기를 극복하는 지침이 됩니다</a:t>
                  </a:r>
                  <a:r>
                    <a:rPr lang="en-US" altLang="ko-KR" sz="1200" dirty="0">
                      <a:solidFill>
                        <a:srgbClr val="D4CFC5"/>
                      </a:solidFill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.</a:t>
                  </a:r>
                  <a:endParaRPr lang="en-US" altLang="ko-KR" sz="1200" dirty="0">
                    <a:solidFill>
                      <a:srgbClr val="D4CFC5"/>
                    </a:solidFill>
                    <a:effectLst/>
                    <a:latin typeface="빛의 계승자 Regular" panose="020B0600000101010101" pitchFamily="50" charset="-127"/>
                    <a:ea typeface="빛의 계승자 Regular" panose="020B0600000101010101" pitchFamily="50" charset="-127"/>
                    <a:cs typeface="Pretendard Medium" panose="02000603000000020004" pitchFamily="2" charset="-127"/>
                  </a:endParaRPr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28F2D00-8B9B-7ACF-1FD0-0233655A5D1A}"/>
                    </a:ext>
                  </a:extLst>
                </p:cNvPr>
                <p:cNvSpPr txBox="1"/>
                <p:nvPr/>
              </p:nvSpPr>
              <p:spPr>
                <a:xfrm>
                  <a:off x="6190837" y="877558"/>
                  <a:ext cx="908385" cy="461665"/>
                </a:xfrm>
                <a:prstGeom prst="rect">
                  <a:avLst/>
                </a:prstGeom>
                <a:noFill/>
              </p:spPr>
              <p:txBody>
                <a:bodyPr wrap="none" lIns="18000" rIns="18000" rtlCol="0">
                  <a:spAutoFit/>
                </a:bodyPr>
                <a:lstStyle/>
                <a:p>
                  <a:r>
                    <a:rPr lang="ko-KR" altLang="en-US" sz="2400" spc="200" dirty="0">
                      <a:solidFill>
                        <a:srgbClr val="D4CFC5"/>
                      </a:solidFill>
                      <a:effectLst/>
                      <a:latin typeface="빛의 계승자 Bold" panose="020B0600000101010101" pitchFamily="50" charset="-127"/>
                      <a:ea typeface="빛의 계승자 Bold" panose="020B0600000101010101" pitchFamily="50" charset="-127"/>
                    </a:rPr>
                    <a:t>현자  </a:t>
                  </a:r>
                </a:p>
              </p:txBody>
            </p:sp>
            <p:cxnSp>
              <p:nvCxnSpPr>
                <p:cNvPr id="13" name="직선 연결선 12">
                  <a:extLst>
                    <a:ext uri="{FF2B5EF4-FFF2-40B4-BE49-F238E27FC236}">
                      <a16:creationId xmlns:a16="http://schemas.microsoft.com/office/drawing/2014/main" id="{DBE2CFC1-8DC6-6CF2-440B-39F20EE144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90837" y="1339223"/>
                  <a:ext cx="4286205" cy="0"/>
                </a:xfrm>
                <a:prstGeom prst="line">
                  <a:avLst/>
                </a:prstGeom>
                <a:ln w="12700" cap="rnd">
                  <a:solidFill>
                    <a:srgbClr val="D4CFC5">
                      <a:alpha val="3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0" name="그룹 39">
                <a:extLst>
                  <a:ext uri="{FF2B5EF4-FFF2-40B4-BE49-F238E27FC236}">
                    <a16:creationId xmlns:a16="http://schemas.microsoft.com/office/drawing/2014/main" id="{4BA0703B-E32B-A34E-1073-CC6BC6A0A2D7}"/>
                  </a:ext>
                </a:extLst>
              </p:cNvPr>
              <p:cNvGrpSpPr/>
              <p:nvPr/>
            </p:nvGrpSpPr>
            <p:grpSpPr>
              <a:xfrm>
                <a:off x="6190837" y="3786000"/>
                <a:ext cx="4293285" cy="2811650"/>
                <a:chOff x="6190837" y="3786000"/>
                <a:chExt cx="4293285" cy="2811650"/>
              </a:xfrm>
            </p:grpSpPr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55987F4-C543-F4A0-3A2B-2565849464A2}"/>
                    </a:ext>
                  </a:extLst>
                </p:cNvPr>
                <p:cNvSpPr txBox="1"/>
                <p:nvPr/>
              </p:nvSpPr>
              <p:spPr>
                <a:xfrm>
                  <a:off x="7994695" y="3786000"/>
                  <a:ext cx="685568" cy="276999"/>
                </a:xfrm>
                <a:prstGeom prst="rect">
                  <a:avLst/>
                </a:prstGeom>
                <a:noFill/>
              </p:spPr>
              <p:txBody>
                <a:bodyPr wrap="none" lIns="18000" rIns="18000" rtlCol="0">
                  <a:spAutoFit/>
                </a:bodyPr>
                <a:lstStyle>
                  <a:defPPr>
                    <a:defRPr lang="ko-KR"/>
                  </a:defPPr>
                  <a:lvl1pPr>
                    <a:defRPr sz="2000">
                      <a:solidFill>
                        <a:srgbClr val="D4CFC5"/>
                      </a:solidFill>
                      <a:effectLst/>
                      <a:latin typeface="빛의 계승자 Bold" panose="020B0600000101010101" pitchFamily="50" charset="-127"/>
                      <a:ea typeface="빛의 계승자 Bold" panose="020B0600000101010101" pitchFamily="50" charset="-127"/>
                    </a:defRPr>
                  </a:lvl1pPr>
                </a:lstStyle>
                <a:p>
                  <a:r>
                    <a:rPr lang="ko-KR" altLang="en-US" sz="1200" dirty="0"/>
                    <a:t>무기 타입</a:t>
                  </a:r>
                  <a:endParaRPr lang="en-US" altLang="ko-KR" sz="1200" dirty="0"/>
                </a:p>
              </p:txBody>
            </p:sp>
            <p:grpSp>
              <p:nvGrpSpPr>
                <p:cNvPr id="8" name="그룹 7">
                  <a:extLst>
                    <a:ext uri="{FF2B5EF4-FFF2-40B4-BE49-F238E27FC236}">
                      <a16:creationId xmlns:a16="http://schemas.microsoft.com/office/drawing/2014/main" id="{708AAC49-263F-ED1C-CF78-A031A63E8199}"/>
                    </a:ext>
                  </a:extLst>
                </p:cNvPr>
                <p:cNvGrpSpPr/>
                <p:nvPr/>
              </p:nvGrpSpPr>
              <p:grpSpPr>
                <a:xfrm>
                  <a:off x="6190837" y="4393946"/>
                  <a:ext cx="4293285" cy="2203704"/>
                  <a:chOff x="6140519" y="3769274"/>
                  <a:chExt cx="4293285" cy="2203704"/>
                </a:xfrm>
              </p:grpSpPr>
              <p:grpSp>
                <p:nvGrpSpPr>
                  <p:cNvPr id="6" name="그룹 5">
                    <a:extLst>
                      <a:ext uri="{FF2B5EF4-FFF2-40B4-BE49-F238E27FC236}">
                        <a16:creationId xmlns:a16="http://schemas.microsoft.com/office/drawing/2014/main" id="{D86091F0-7488-B49C-5D90-941EE85E72AB}"/>
                      </a:ext>
                    </a:extLst>
                  </p:cNvPr>
                  <p:cNvGrpSpPr/>
                  <p:nvPr/>
                </p:nvGrpSpPr>
                <p:grpSpPr>
                  <a:xfrm>
                    <a:off x="7624761" y="3769274"/>
                    <a:ext cx="1324800" cy="2203704"/>
                    <a:chOff x="7624761" y="3769274"/>
                    <a:chExt cx="1324800" cy="2203704"/>
                  </a:xfrm>
                </p:grpSpPr>
                <p:sp>
                  <p:nvSpPr>
                    <p:cNvPr id="26" name="직사각형 25">
                      <a:extLst>
                        <a:ext uri="{FF2B5EF4-FFF2-40B4-BE49-F238E27FC236}">
                          <a16:creationId xmlns:a16="http://schemas.microsoft.com/office/drawing/2014/main" id="{E3DDECA3-F748-5872-7FDE-F4438535EF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31841" y="3769274"/>
                      <a:ext cx="1310640" cy="2133600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>
                            <a:lumMod val="99000"/>
                          </a:srgbClr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2700">
                      <a:solidFill>
                        <a:srgbClr val="616052">
                          <a:alpha val="24000"/>
                        </a:srgb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27" name="직사각형 26">
                      <a:extLst>
                        <a:ext uri="{FF2B5EF4-FFF2-40B4-BE49-F238E27FC236}">
                          <a16:creationId xmlns:a16="http://schemas.microsoft.com/office/drawing/2014/main" id="{19D50509-583C-B82D-40B7-642101B2E43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89740" y="3826423"/>
                      <a:ext cx="1194842" cy="195071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/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9050">
                      <a:solidFill>
                        <a:srgbClr val="616052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28" name="직사각형 27">
                      <a:extLst>
                        <a:ext uri="{FF2B5EF4-FFF2-40B4-BE49-F238E27FC236}">
                          <a16:creationId xmlns:a16="http://schemas.microsoft.com/office/drawing/2014/main" id="{5DFD00D6-CB97-24B2-C2B5-446BF4D1E6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24761" y="3769274"/>
                      <a:ext cx="1324800" cy="2203704"/>
                    </a:xfrm>
                    <a:prstGeom prst="rect">
                      <a:avLst/>
                    </a:prstGeom>
                    <a:gradFill flip="none" rotWithShape="1">
                      <a:gsLst>
                        <a:gs pos="38000">
                          <a:srgbClr val="212227">
                            <a:alpha val="70000"/>
                          </a:srgbClr>
                        </a:gs>
                        <a:gs pos="55000">
                          <a:srgbClr val="212227">
                            <a:alpha val="40000"/>
                          </a:srgbClr>
                        </a:gs>
                        <a:gs pos="0">
                          <a:srgbClr val="212227"/>
                        </a:gs>
                        <a:gs pos="16000">
                          <a:srgbClr val="212227"/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16200000" scaled="1"/>
                      <a:tileRect/>
                    </a:gra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4" name="그룹 3">
                      <a:extLst>
                        <a:ext uri="{FF2B5EF4-FFF2-40B4-BE49-F238E27FC236}">
                          <a16:creationId xmlns:a16="http://schemas.microsoft.com/office/drawing/2014/main" id="{254786DB-0CBD-EDEE-053C-598431E4A36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934134" y="4095739"/>
                      <a:ext cx="706055" cy="1245064"/>
                      <a:chOff x="7934134" y="4200817"/>
                      <a:chExt cx="706055" cy="1245064"/>
                    </a:xfrm>
                  </p:grpSpPr>
                  <p:sp>
                    <p:nvSpPr>
                      <p:cNvPr id="43" name="TextBox 42">
                        <a:extLst>
                          <a:ext uri="{FF2B5EF4-FFF2-40B4-BE49-F238E27FC236}">
                            <a16:creationId xmlns:a16="http://schemas.microsoft.com/office/drawing/2014/main" id="{B65EC17E-420B-6053-8785-C09DAD0ECE5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34760" y="5215049"/>
                        <a:ext cx="704804" cy="2308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18000" rIns="18000" rtlCol="0">
                        <a:spAutoFit/>
                      </a:bodyPr>
                      <a:lstStyle>
                        <a:defPPr>
                          <a:defRPr lang="ko-KR"/>
                        </a:defPPr>
                        <a:lvl1pPr>
                          <a:defRPr sz="2000">
                            <a:solidFill>
                              <a:srgbClr val="D4CFC5"/>
                            </a:solidFill>
                            <a:effectLst/>
                            <a:latin typeface="빛의 계승자 Bold" panose="020B0600000101010101" pitchFamily="50" charset="-127"/>
                            <a:ea typeface="빛의 계승자 Bold" panose="020B0600000101010101" pitchFamily="50" charset="-127"/>
                          </a:defRPr>
                        </a:lvl1pPr>
                      </a:lstStyle>
                      <a:p>
                        <a:pPr algn="ctr"/>
                        <a:r>
                          <a:rPr lang="en-US" altLang="ko-KR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(</a:t>
                        </a:r>
                        <a:r>
                          <a:rPr lang="ko-KR" altLang="en-US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현자 무기 </a:t>
                        </a:r>
                        <a:r>
                          <a:rPr lang="en-US" altLang="ko-KR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2)</a:t>
                        </a:r>
                      </a:p>
                    </p:txBody>
                  </p:sp>
                  <p:sp>
                    <p:nvSpPr>
                      <p:cNvPr id="47" name="타원 46">
                        <a:extLst>
                          <a:ext uri="{FF2B5EF4-FFF2-40B4-BE49-F238E27FC236}">
                            <a16:creationId xmlns:a16="http://schemas.microsoft.com/office/drawing/2014/main" id="{24D648C2-B2AA-7243-0699-40F19AF7C2D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34134" y="4200817"/>
                        <a:ext cx="706055" cy="706055"/>
                      </a:xfrm>
                      <a:prstGeom prst="ellipse">
                        <a:avLst/>
                      </a:prstGeom>
                      <a:ln w="19050">
                        <a:solidFill>
                          <a:srgbClr val="616052"/>
                        </a:solidFill>
                      </a:ln>
                      <a:effectLst>
                        <a:glow rad="12700">
                          <a:schemeClr val="tx1"/>
                        </a:glow>
                      </a:effectLst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/>
                      </a:p>
                    </p:txBody>
                  </p:sp>
                </p:grpSp>
              </p:grpSp>
              <p:grpSp>
                <p:nvGrpSpPr>
                  <p:cNvPr id="7" name="그룹 6">
                    <a:extLst>
                      <a:ext uri="{FF2B5EF4-FFF2-40B4-BE49-F238E27FC236}">
                        <a16:creationId xmlns:a16="http://schemas.microsoft.com/office/drawing/2014/main" id="{009F8D00-B834-2012-0A7A-9F1F91EE0C5E}"/>
                      </a:ext>
                    </a:extLst>
                  </p:cNvPr>
                  <p:cNvGrpSpPr/>
                  <p:nvPr/>
                </p:nvGrpSpPr>
                <p:grpSpPr>
                  <a:xfrm>
                    <a:off x="9109004" y="3769274"/>
                    <a:ext cx="1324800" cy="2203704"/>
                    <a:chOff x="9109004" y="3769274"/>
                    <a:chExt cx="1324800" cy="2203704"/>
                  </a:xfrm>
                </p:grpSpPr>
                <p:sp>
                  <p:nvSpPr>
                    <p:cNvPr id="30" name="직사각형 29">
                      <a:extLst>
                        <a:ext uri="{FF2B5EF4-FFF2-40B4-BE49-F238E27FC236}">
                          <a16:creationId xmlns:a16="http://schemas.microsoft.com/office/drawing/2014/main" id="{0E1E0C7E-6751-4C55-B357-868F58F4E8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16084" y="3769274"/>
                      <a:ext cx="1310640" cy="2133600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>
                            <a:lumMod val="99000"/>
                          </a:srgbClr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2700">
                      <a:solidFill>
                        <a:srgbClr val="616052">
                          <a:alpha val="24000"/>
                        </a:srgb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31" name="직사각형 30">
                      <a:extLst>
                        <a:ext uri="{FF2B5EF4-FFF2-40B4-BE49-F238E27FC236}">
                          <a16:creationId xmlns:a16="http://schemas.microsoft.com/office/drawing/2014/main" id="{F551C5A2-401F-8F48-A7A9-29B58DEF08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3983" y="3826423"/>
                      <a:ext cx="1194842" cy="195071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/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9050">
                      <a:solidFill>
                        <a:srgbClr val="616052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32" name="직사각형 31">
                      <a:extLst>
                        <a:ext uri="{FF2B5EF4-FFF2-40B4-BE49-F238E27FC236}">
                          <a16:creationId xmlns:a16="http://schemas.microsoft.com/office/drawing/2014/main" id="{AF0BE877-850D-8B5B-9FFE-B4407113C2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09004" y="3769274"/>
                      <a:ext cx="1324800" cy="2203704"/>
                    </a:xfrm>
                    <a:prstGeom prst="rect">
                      <a:avLst/>
                    </a:prstGeom>
                    <a:gradFill flip="none" rotWithShape="1">
                      <a:gsLst>
                        <a:gs pos="38000">
                          <a:srgbClr val="212227">
                            <a:alpha val="70000"/>
                          </a:srgbClr>
                        </a:gs>
                        <a:gs pos="55000">
                          <a:srgbClr val="212227">
                            <a:alpha val="40000"/>
                          </a:srgbClr>
                        </a:gs>
                        <a:gs pos="0">
                          <a:srgbClr val="212227"/>
                        </a:gs>
                        <a:gs pos="16000">
                          <a:srgbClr val="212227"/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16200000" scaled="1"/>
                      <a:tileRect/>
                    </a:gra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3" name="그룹 2">
                      <a:extLst>
                        <a:ext uri="{FF2B5EF4-FFF2-40B4-BE49-F238E27FC236}">
                          <a16:creationId xmlns:a16="http://schemas.microsoft.com/office/drawing/2014/main" id="{2B645EDE-1EFB-8ECE-D969-DB591CD6167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418377" y="4095739"/>
                      <a:ext cx="706055" cy="1245064"/>
                      <a:chOff x="9418377" y="4200817"/>
                      <a:chExt cx="706055" cy="1245064"/>
                    </a:xfrm>
                  </p:grpSpPr>
                  <p:sp>
                    <p:nvSpPr>
                      <p:cNvPr id="44" name="TextBox 43">
                        <a:extLst>
                          <a:ext uri="{FF2B5EF4-FFF2-40B4-BE49-F238E27FC236}">
                            <a16:creationId xmlns:a16="http://schemas.microsoft.com/office/drawing/2014/main" id="{FAEB47A3-EABC-B9E4-B2C6-9BB13C9C2A2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419002" y="5215049"/>
                        <a:ext cx="704804" cy="2308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18000" rIns="18000" rtlCol="0">
                        <a:spAutoFit/>
                      </a:bodyPr>
                      <a:lstStyle>
                        <a:defPPr>
                          <a:defRPr lang="ko-KR"/>
                        </a:defPPr>
                        <a:lvl1pPr>
                          <a:defRPr sz="2000">
                            <a:solidFill>
                              <a:srgbClr val="D4CFC5"/>
                            </a:solidFill>
                            <a:effectLst/>
                            <a:latin typeface="빛의 계승자 Bold" panose="020B0600000101010101" pitchFamily="50" charset="-127"/>
                            <a:ea typeface="빛의 계승자 Bold" panose="020B0600000101010101" pitchFamily="50" charset="-127"/>
                          </a:defRPr>
                        </a:lvl1pPr>
                      </a:lstStyle>
                      <a:p>
                        <a:pPr algn="ctr"/>
                        <a:r>
                          <a:rPr lang="en-US" altLang="ko-KR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(</a:t>
                        </a:r>
                        <a:r>
                          <a:rPr lang="ko-KR" altLang="en-US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현자 무기 </a:t>
                        </a:r>
                        <a:r>
                          <a:rPr lang="en-US" altLang="ko-KR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2)</a:t>
                        </a:r>
                      </a:p>
                    </p:txBody>
                  </p:sp>
                  <p:sp>
                    <p:nvSpPr>
                      <p:cNvPr id="48" name="타원 47">
                        <a:extLst>
                          <a:ext uri="{FF2B5EF4-FFF2-40B4-BE49-F238E27FC236}">
                            <a16:creationId xmlns:a16="http://schemas.microsoft.com/office/drawing/2014/main" id="{14F022A8-D685-CD4F-9995-C7590AF642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18377" y="4200817"/>
                        <a:ext cx="706055" cy="706055"/>
                      </a:xfrm>
                      <a:prstGeom prst="ellipse">
                        <a:avLst/>
                      </a:prstGeom>
                      <a:ln w="19050">
                        <a:solidFill>
                          <a:srgbClr val="616052"/>
                        </a:solidFill>
                      </a:ln>
                      <a:effectLst>
                        <a:glow rad="12700">
                          <a:schemeClr val="tx1"/>
                        </a:glow>
                      </a:effectLst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/>
                      </a:p>
                    </p:txBody>
                  </p:sp>
                </p:grpSp>
              </p:grpSp>
              <p:grpSp>
                <p:nvGrpSpPr>
                  <p:cNvPr id="5" name="그룹 4">
                    <a:extLst>
                      <a:ext uri="{FF2B5EF4-FFF2-40B4-BE49-F238E27FC236}">
                        <a16:creationId xmlns:a16="http://schemas.microsoft.com/office/drawing/2014/main" id="{86601C41-2439-88CF-27BE-94D653829036}"/>
                      </a:ext>
                    </a:extLst>
                  </p:cNvPr>
                  <p:cNvGrpSpPr/>
                  <p:nvPr/>
                </p:nvGrpSpPr>
                <p:grpSpPr>
                  <a:xfrm>
                    <a:off x="6140519" y="3769274"/>
                    <a:ext cx="1324800" cy="2203704"/>
                    <a:chOff x="6140519" y="3769274"/>
                    <a:chExt cx="1324800" cy="2203704"/>
                  </a:xfrm>
                </p:grpSpPr>
                <p:sp>
                  <p:nvSpPr>
                    <p:cNvPr id="20" name="직사각형 19">
                      <a:extLst>
                        <a:ext uri="{FF2B5EF4-FFF2-40B4-BE49-F238E27FC236}">
                          <a16:creationId xmlns:a16="http://schemas.microsoft.com/office/drawing/2014/main" id="{D76A319E-1E41-E882-F5E6-7463FAC18F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147599" y="3769274"/>
                      <a:ext cx="1310640" cy="2133600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>
                            <a:lumMod val="99000"/>
                          </a:srgbClr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2700">
                      <a:solidFill>
                        <a:srgbClr val="616052">
                          <a:alpha val="24000"/>
                        </a:srgb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22" name="직사각형 21">
                      <a:extLst>
                        <a:ext uri="{FF2B5EF4-FFF2-40B4-BE49-F238E27FC236}">
                          <a16:creationId xmlns:a16="http://schemas.microsoft.com/office/drawing/2014/main" id="{1D09ECB3-F75B-1908-9767-73560C1D320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05498" y="3826423"/>
                      <a:ext cx="1194842" cy="195071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/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9050">
                      <a:solidFill>
                        <a:srgbClr val="616052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23" name="직사각형 22">
                      <a:extLst>
                        <a:ext uri="{FF2B5EF4-FFF2-40B4-BE49-F238E27FC236}">
                          <a16:creationId xmlns:a16="http://schemas.microsoft.com/office/drawing/2014/main" id="{AD718E23-45DD-5F99-D98C-D0606E5C0C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140519" y="3769274"/>
                      <a:ext cx="1324800" cy="2203704"/>
                    </a:xfrm>
                    <a:prstGeom prst="rect">
                      <a:avLst/>
                    </a:prstGeom>
                    <a:gradFill flip="none" rotWithShape="1">
                      <a:gsLst>
                        <a:gs pos="38000">
                          <a:srgbClr val="212227">
                            <a:alpha val="70000"/>
                          </a:srgbClr>
                        </a:gs>
                        <a:gs pos="55000">
                          <a:srgbClr val="212227">
                            <a:alpha val="40000"/>
                          </a:srgbClr>
                        </a:gs>
                        <a:gs pos="0">
                          <a:srgbClr val="212227"/>
                        </a:gs>
                        <a:gs pos="16000">
                          <a:srgbClr val="212227"/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16200000" scaled="1"/>
                      <a:tileRect/>
                    </a:gra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2" name="그룹 1">
                      <a:extLst>
                        <a:ext uri="{FF2B5EF4-FFF2-40B4-BE49-F238E27FC236}">
                          <a16:creationId xmlns:a16="http://schemas.microsoft.com/office/drawing/2014/main" id="{DD85AB60-B0E5-8146-82D4-4972EEA6A5E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381282" y="4029432"/>
                      <a:ext cx="838667" cy="1334455"/>
                      <a:chOff x="6381282" y="4134510"/>
                      <a:chExt cx="838667" cy="1334455"/>
                    </a:xfrm>
                  </p:grpSpPr>
                  <p:sp>
                    <p:nvSpPr>
                      <p:cNvPr id="36" name="타원 35">
                        <a:extLst>
                          <a:ext uri="{FF2B5EF4-FFF2-40B4-BE49-F238E27FC236}">
                            <a16:creationId xmlns:a16="http://schemas.microsoft.com/office/drawing/2014/main" id="{2DDAF27A-C1E2-58A0-2E07-DBAC08656F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49892" y="4200817"/>
                        <a:ext cx="706055" cy="706055"/>
                      </a:xfrm>
                      <a:prstGeom prst="ellipse">
                        <a:avLst/>
                      </a:prstGeom>
                      <a:ln w="19050">
                        <a:solidFill>
                          <a:srgbClr val="616052"/>
                        </a:solidFill>
                      </a:ln>
                      <a:effectLst>
                        <a:glow rad="12700">
                          <a:schemeClr val="tx1"/>
                        </a:glow>
                      </a:effectLst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/>
                      </a:p>
                    </p:txBody>
                  </p:sp>
                  <p:sp>
                    <p:nvSpPr>
                      <p:cNvPr id="42" name="TextBox 41">
                        <a:extLst>
                          <a:ext uri="{FF2B5EF4-FFF2-40B4-BE49-F238E27FC236}">
                            <a16:creationId xmlns:a16="http://schemas.microsoft.com/office/drawing/2014/main" id="{87074945-AF08-A31A-7885-049CC90206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651694" y="5215049"/>
                        <a:ext cx="302450" cy="25391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18000" rIns="18000" rtlCol="0">
                        <a:spAutoFit/>
                      </a:bodyPr>
                      <a:lstStyle>
                        <a:defPPr>
                          <a:defRPr lang="ko-KR"/>
                        </a:defPPr>
                        <a:lvl1pPr>
                          <a:defRPr sz="2000">
                            <a:solidFill>
                              <a:srgbClr val="D4CFC5"/>
                            </a:solidFill>
                            <a:effectLst/>
                            <a:latin typeface="빛의 계승자 Bold" panose="020B0600000101010101" pitchFamily="50" charset="-127"/>
                            <a:ea typeface="빛의 계승자 Bold" panose="020B0600000101010101" pitchFamily="50" charset="-127"/>
                          </a:defRPr>
                        </a:lvl1pPr>
                      </a:lstStyle>
                      <a:p>
                        <a:pPr algn="ctr"/>
                        <a:r>
                          <a:rPr lang="ko-KR" altLang="en-US" sz="1050" dirty="0" err="1"/>
                          <a:t>성반</a:t>
                        </a:r>
                        <a:endParaRPr lang="en-US" altLang="ko-KR" sz="1050" dirty="0"/>
                      </a:p>
                    </p:txBody>
                  </p:sp>
                  <p:grpSp>
                    <p:nvGrpSpPr>
                      <p:cNvPr id="63" name="그룹 62">
                        <a:extLst>
                          <a:ext uri="{FF2B5EF4-FFF2-40B4-BE49-F238E27FC236}">
                            <a16:creationId xmlns:a16="http://schemas.microsoft.com/office/drawing/2014/main" id="{0507E14C-ACA3-F75E-899E-9028DB79372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381282" y="4134510"/>
                        <a:ext cx="838667" cy="838667"/>
                        <a:chOff x="5173980" y="4061460"/>
                        <a:chExt cx="1076960" cy="1076960"/>
                      </a:xfrm>
                    </p:grpSpPr>
                    <p:sp>
                      <p:nvSpPr>
                        <p:cNvPr id="61" name="타원 60">
                          <a:extLst>
                            <a:ext uri="{FF2B5EF4-FFF2-40B4-BE49-F238E27FC236}">
                              <a16:creationId xmlns:a16="http://schemas.microsoft.com/office/drawing/2014/main" id="{16044C70-EB94-7783-E31B-FFFB0B01C74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582920" y="4470400"/>
                          <a:ext cx="259080" cy="259080"/>
                        </a:xfrm>
                        <a:prstGeom prst="ellipse">
                          <a:avLst/>
                        </a:prstGeom>
                        <a:solidFill>
                          <a:schemeClr val="bg1">
                            <a:lumMod val="95000"/>
                          </a:schemeClr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ko-KR" altLang="en-US"/>
                        </a:p>
                      </p:txBody>
                    </p:sp>
                    <p:pic>
                      <p:nvPicPr>
                        <p:cNvPr id="62" name="그림 61" descr="원, 예술, 상징, 디자인이(가) 표시된 사진&#10;&#10;AI 생성 콘텐츠는 정확하지 않을 수 있습니다.">
                          <a:extLst>
                            <a:ext uri="{FF2B5EF4-FFF2-40B4-BE49-F238E27FC236}">
                              <a16:creationId xmlns:a16="http://schemas.microsoft.com/office/drawing/2014/main" id="{26C4D7C7-1573-833E-C666-D3F2B37A7E53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 rotWithShape="1"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5931" t="5451" r="6152" b="6631"/>
                        <a:stretch>
                          <a:fillRect/>
                        </a:stretch>
                      </p:blipFill>
                      <p:spPr>
                        <a:xfrm>
                          <a:off x="5173980" y="4061460"/>
                          <a:ext cx="1076960" cy="1076960"/>
                        </a:xfrm>
                        <a:prstGeom prst="rect">
                          <a:avLst/>
                        </a:prstGeom>
                        <a:effectLst>
                          <a:innerShdw blurRad="114300">
                            <a:prstClr val="black">
                              <a:alpha val="39000"/>
                            </a:prstClr>
                          </a:innerShdw>
                        </a:effectLst>
                      </p:spPr>
                    </p:pic>
                  </p:grpSp>
                </p:grpSp>
              </p:grpSp>
            </p:grp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EDDFE1B9-21F6-71B9-D083-A32C05E13AB6}"/>
                    </a:ext>
                  </a:extLst>
                </p:cNvPr>
                <p:cNvSpPr txBox="1"/>
                <p:nvPr/>
              </p:nvSpPr>
              <p:spPr>
                <a:xfrm>
                  <a:off x="7110639" y="4042397"/>
                  <a:ext cx="2453680" cy="230832"/>
                </a:xfrm>
                <a:prstGeom prst="rect">
                  <a:avLst/>
                </a:prstGeom>
                <a:noFill/>
              </p:spPr>
              <p:txBody>
                <a:bodyPr wrap="none" lIns="18000" rIns="18000" rtlCol="0">
                  <a:spAutoFit/>
                </a:bodyPr>
                <a:lstStyle>
                  <a:defPPr>
                    <a:defRPr lang="ko-KR"/>
                  </a:defPPr>
                  <a:lvl1pPr>
                    <a:defRPr sz="2000">
                      <a:solidFill>
                        <a:srgbClr val="D4CFC5"/>
                      </a:solidFill>
                      <a:effectLst/>
                      <a:latin typeface="빛의 계승자 Bold" panose="020B0600000101010101" pitchFamily="50" charset="-127"/>
                      <a:ea typeface="빛의 계승자 Bold" panose="020B0600000101010101" pitchFamily="50" charset="-127"/>
                    </a:defRPr>
                  </a:lvl1pPr>
                </a:lstStyle>
                <a:p>
                  <a:r>
                    <a:rPr lang="ko-KR" altLang="en-US" sz="900" dirty="0">
                      <a:solidFill>
                        <a:srgbClr val="C7B388"/>
                      </a:solidFill>
                    </a:rPr>
                    <a:t>아래 세 가지 타입의 무기를 사용할 수 있습니다</a:t>
                  </a:r>
                  <a:r>
                    <a:rPr lang="en-US" altLang="ko-KR" sz="900" dirty="0">
                      <a:solidFill>
                        <a:srgbClr val="C7B388"/>
                      </a:solidFill>
                    </a:rPr>
                    <a:t>.</a:t>
                  </a:r>
                </a:p>
              </p:txBody>
            </p:sp>
          </p:grpSp>
        </p:grp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57AF707-F552-F8AC-938B-F6F9D697C781}"/>
              </a:ext>
            </a:extLst>
          </p:cNvPr>
          <p:cNvSpPr txBox="1"/>
          <p:nvPr/>
        </p:nvSpPr>
        <p:spPr>
          <a:xfrm>
            <a:off x="1029612" y="98563"/>
            <a:ext cx="2195648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pPr marL="171450" indent="-171450">
              <a:buFont typeface="Wingdings" panose="05000000000000000000" pitchFamily="2" charset="2"/>
              <a:buChar char="l"/>
            </a:pP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‘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현자</a:t>
            </a: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’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의 </a:t>
            </a:r>
            <a:r>
              <a:rPr lang="ko-KR" altLang="en-US" sz="1100" dirty="0" err="1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크로노오디세이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적용 예시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81735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2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DF0197-B1A3-7F6D-7628-560394A7B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폰트, 타이포그래피, 텍스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416A4B-E61A-521F-76BE-F92B8C0FE2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1945" y="6253641"/>
            <a:ext cx="1168111" cy="327508"/>
          </a:xfrm>
          <a:prstGeom prst="rect">
            <a:avLst/>
          </a:prstGeom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B15EF4-E8E4-73D0-5310-4B25054C26EB}"/>
              </a:ext>
            </a:extLst>
          </p:cNvPr>
          <p:cNvSpPr txBox="1"/>
          <p:nvPr/>
        </p:nvSpPr>
        <p:spPr>
          <a:xfrm>
            <a:off x="3557485" y="2659559"/>
            <a:ext cx="50770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effectLst/>
                <a:latin typeface="빛의 계승자 Bold" panose="020B0600000101010101" pitchFamily="50" charset="-127"/>
                <a:ea typeface="빛의 계승자 Bold" panose="020B0600000101010101" pitchFamily="50" charset="-127"/>
              </a:rPr>
              <a:t>End Of Document</a:t>
            </a:r>
            <a:endParaRPr lang="ko-KR" altLang="en-US" sz="4400" dirty="0">
              <a:solidFill>
                <a:schemeClr val="bg1"/>
              </a:solidFill>
              <a:effectLst/>
              <a:latin typeface="빛의 계승자 Bold" panose="020B0600000101010101" pitchFamily="50" charset="-127"/>
              <a:ea typeface="빛의 계승자 Bold" panose="020B0600000101010101" pitchFamily="50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268BBD3-B8DB-F77F-80D3-E0B343FD0996}"/>
              </a:ext>
            </a:extLst>
          </p:cNvPr>
          <p:cNvSpPr/>
          <p:nvPr/>
        </p:nvSpPr>
        <p:spPr>
          <a:xfrm>
            <a:off x="442913" y="441325"/>
            <a:ext cx="11306175" cy="6156325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4142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960</TotalTime>
  <Words>491</Words>
  <Application>Microsoft Office PowerPoint</Application>
  <PresentationFormat>와이드스크린</PresentationFormat>
  <Paragraphs>92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7" baseType="lpstr">
      <vt:lpstr>Pretendard</vt:lpstr>
      <vt:lpstr>Pretendard ExtraBold</vt:lpstr>
      <vt:lpstr>Pretendard SemiBold</vt:lpstr>
      <vt:lpstr>맑은 고딕</vt:lpstr>
      <vt:lpstr>빛의 계승자 Bold</vt:lpstr>
      <vt:lpstr>빛의 계승자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홍진선(2017184037)</dc:creator>
  <cp:lastModifiedBy>홍진선(2017184037)</cp:lastModifiedBy>
  <cp:revision>15</cp:revision>
  <dcterms:created xsi:type="dcterms:W3CDTF">2025-10-31T08:06:06Z</dcterms:created>
  <dcterms:modified xsi:type="dcterms:W3CDTF">2025-11-03T11:35:42Z</dcterms:modified>
</cp:coreProperties>
</file>