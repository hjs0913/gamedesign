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9" r:id="rId3"/>
    <p:sldId id="281" r:id="rId4"/>
    <p:sldId id="279" r:id="rId5"/>
    <p:sldId id="278" r:id="rId6"/>
    <p:sldId id="263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79" userDrawn="1">
          <p15:clr>
            <a:srgbClr val="F26B43"/>
          </p15:clr>
        </p15:guide>
        <p15:guide id="4" pos="7401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227"/>
    <a:srgbClr val="D4CFC5"/>
    <a:srgbClr val="C7B388"/>
    <a:srgbClr val="605550"/>
    <a:srgbClr val="545243"/>
    <a:srgbClr val="443B3A"/>
    <a:srgbClr val="616052"/>
    <a:srgbClr val="504E3F"/>
    <a:srgbClr val="CEBD96"/>
    <a:srgbClr val="12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36" y="77"/>
      </p:cViewPr>
      <p:guideLst>
        <p:guide orient="horz" pos="2160"/>
        <p:guide pos="3840"/>
        <p:guide pos="279"/>
        <p:guide pos="7401"/>
        <p:guide orient="horz" pos="278"/>
        <p:guide orient="horz" pos="41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58A5B-A4C5-42BA-89E9-10F55E5A3D46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134C8-DE01-4967-8504-92E88DCF6C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60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2809-F843-F358-6A57-16D5C51F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C6B427-3ACA-D58B-5D36-132437C51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D860E-B991-453E-D00A-32DCC0DEC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B6A86-25CC-E966-8E08-E11CC4726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134C8-DE01-4967-8504-92E88DCF6C0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270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8A11-D6D2-45DD-4D89-A189736F7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A9BA20-99EA-4CEA-3380-1B6C4F224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1348E7-9064-28AB-70ED-5537A6CF8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2F47DE-3DA6-DF0F-F775-5FB9AF961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134C8-DE01-4967-8504-92E88DCF6C0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464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52DA-5191-2A3E-D1B1-C4CACD76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E98269-36A0-67C7-0E30-B6BE4B733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A42B0D-EF35-A6AB-A21F-A330D00D0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9A947-BC24-498C-154E-9DAC30D4F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134C8-DE01-4967-8504-92E88DCF6C0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4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57CAD-B111-F496-19A9-88B85E39F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3C1AF7-3EC4-5DE3-F30C-19A14D9ED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E65C7-0FCB-2456-0886-5975B7E9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D0F6-17A2-4FF3-829F-62ACF20E6C3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86728-087D-8086-EDDE-17BCBC95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6CA98-FACC-970A-3D61-8816FB4B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7D54-9D11-4031-8C1F-3C2E0B943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53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CECF5-E2DA-D5E6-6C3F-CE3B7897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5CD099-A069-DB0E-92BC-E3A954355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74831-2A98-460F-2971-3241A390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D0F6-17A2-4FF3-829F-62ACF20E6C3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0F651-1C37-90EB-E0F4-0131A753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DFDE13-F259-D5E7-E217-38A097DD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17D54-9D11-4031-8C1F-3C2E0B943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38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F86B26-D49F-5B1F-5CB9-4BEDF79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D0F6-17A2-4FF3-829F-62ACF20E6C3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D7567-AA4C-0056-94BC-CC65B2E0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5A5ED2-7E58-3007-9959-890B3DE3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8641" y="6625835"/>
            <a:ext cx="493359" cy="232165"/>
          </a:xfrm>
        </p:spPr>
        <p:txBody>
          <a:bodyPr vert="horz" wrap="none" lIns="0" tIns="0" rIns="360000" bIns="108000" rtlCol="0" anchor="ctr">
            <a:spAutoFit/>
          </a:bodyPr>
          <a:lstStyle>
            <a:lvl1pPr>
              <a:defRPr lang="ko-KR" altLang="en-US" sz="800" smtClean="0"/>
            </a:lvl1pPr>
          </a:lstStyle>
          <a:p>
            <a:fld id="{8A017D54-9D11-4031-8C1F-3C2E0B943619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B3BC1F-A763-3E31-BDFA-6B0D5EDF1F9D}"/>
              </a:ext>
            </a:extLst>
          </p:cNvPr>
          <p:cNvGrpSpPr/>
          <p:nvPr userDrawn="1"/>
        </p:nvGrpSpPr>
        <p:grpSpPr>
          <a:xfrm>
            <a:off x="172462" y="2664820"/>
            <a:ext cx="68400" cy="1528360"/>
            <a:chOff x="172462" y="2808076"/>
            <a:chExt cx="68400" cy="1528360"/>
          </a:xfrm>
        </p:grpSpPr>
        <p:sp>
          <p:nvSpPr>
            <p:cNvPr id="7" name="다이아몬드 6">
              <a:extLst>
                <a:ext uri="{FF2B5EF4-FFF2-40B4-BE49-F238E27FC236}">
                  <a16:creationId xmlns:a16="http://schemas.microsoft.com/office/drawing/2014/main" id="{93B42B2F-49A8-DD9D-EF11-4F290E0597C8}"/>
                </a:ext>
              </a:extLst>
            </p:cNvPr>
            <p:cNvSpPr/>
            <p:nvPr/>
          </p:nvSpPr>
          <p:spPr>
            <a:xfrm>
              <a:off x="172462" y="2808076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다이아몬드 7">
              <a:extLst>
                <a:ext uri="{FF2B5EF4-FFF2-40B4-BE49-F238E27FC236}">
                  <a16:creationId xmlns:a16="http://schemas.microsoft.com/office/drawing/2014/main" id="{0E10B18B-3416-3C30-0790-61CC57AA5432}"/>
                </a:ext>
              </a:extLst>
            </p:cNvPr>
            <p:cNvSpPr/>
            <p:nvPr/>
          </p:nvSpPr>
          <p:spPr>
            <a:xfrm>
              <a:off x="172462" y="3294729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FDAD82DA-1930-3DB6-79FE-4F99750E5942}"/>
                </a:ext>
              </a:extLst>
            </p:cNvPr>
            <p:cNvSpPr/>
            <p:nvPr/>
          </p:nvSpPr>
          <p:spPr>
            <a:xfrm>
              <a:off x="172462" y="3781382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다이아몬드 9">
              <a:extLst>
                <a:ext uri="{FF2B5EF4-FFF2-40B4-BE49-F238E27FC236}">
                  <a16:creationId xmlns:a16="http://schemas.microsoft.com/office/drawing/2014/main" id="{5A5991A1-7885-E0B2-81F0-1C98079DA1E9}"/>
                </a:ext>
              </a:extLst>
            </p:cNvPr>
            <p:cNvSpPr/>
            <p:nvPr/>
          </p:nvSpPr>
          <p:spPr>
            <a:xfrm>
              <a:off x="172462" y="4268036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 descr="블랙, 상징, 램프, 빛이(가) 표시된 사진&#10;&#10;AI 생성 콘텐츠는 정확하지 않을 수 있습니다.">
            <a:hlinkClick r:id="rId2" action="ppaction://hlinksldjump"/>
            <a:extLst>
              <a:ext uri="{FF2B5EF4-FFF2-40B4-BE49-F238E27FC236}">
                <a16:creationId xmlns:a16="http://schemas.microsoft.com/office/drawing/2014/main" id="{C04D069C-9F13-DCC5-B65B-2CD75D4FBA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9" b="9243"/>
          <a:stretch>
            <a:fillRect/>
          </a:stretch>
        </p:blipFill>
        <p:spPr>
          <a:xfrm>
            <a:off x="109647" y="2550430"/>
            <a:ext cx="228320" cy="2933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9210686-A47C-52E4-5719-9BB5C4E38FCC}"/>
              </a:ext>
            </a:extLst>
          </p:cNvPr>
          <p:cNvGrpSpPr/>
          <p:nvPr userDrawn="1"/>
        </p:nvGrpSpPr>
        <p:grpSpPr>
          <a:xfrm>
            <a:off x="0" y="0"/>
            <a:ext cx="12192000" cy="443346"/>
            <a:chOff x="0" y="0"/>
            <a:chExt cx="12192000" cy="44334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371BCD7-D3AF-693A-9013-51D9FB9A5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443346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2310B0A-98F3-884E-5765-461182672694}"/>
                </a:ext>
              </a:extLst>
            </p:cNvPr>
            <p:cNvGrpSpPr/>
            <p:nvPr/>
          </p:nvGrpSpPr>
          <p:grpSpPr>
            <a:xfrm>
              <a:off x="442913" y="83174"/>
              <a:ext cx="848557" cy="276999"/>
              <a:chOff x="442913" y="83174"/>
              <a:chExt cx="848557" cy="27699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A9FF7A-3850-092E-4409-5BDD0A847330}"/>
                  </a:ext>
                </a:extLst>
              </p:cNvPr>
              <p:cNvSpPr txBox="1"/>
              <p:nvPr/>
            </p:nvSpPr>
            <p:spPr>
              <a:xfrm>
                <a:off x="442913" y="83174"/>
                <a:ext cx="3350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en-US" altLang="ko-KR" sz="1800" dirty="0">
                    <a:solidFill>
                      <a:schemeClr val="bg1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01.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078F99-8DA2-F8C8-AE10-90830D25C78F}"/>
                  </a:ext>
                </a:extLst>
              </p:cNvPr>
              <p:cNvSpPr txBox="1"/>
              <p:nvPr/>
            </p:nvSpPr>
            <p:spPr>
              <a:xfrm>
                <a:off x="821222" y="83174"/>
                <a:ext cx="470248" cy="276999"/>
              </a:xfrm>
              <a:prstGeom prst="rect">
                <a:avLst/>
              </a:prstGeom>
              <a:noFill/>
            </p:spPr>
            <p:txBody>
              <a:bodyPr wrap="none" lIns="7200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ko-KR" altLang="en-US" sz="1800" dirty="0">
                    <a:solidFill>
                      <a:schemeClr val="bg1"/>
                    </a:solidFill>
                  </a:rPr>
                  <a:t>개요</a:t>
                </a:r>
                <a:endParaRPr lang="en-US" altLang="ko-KR" sz="18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02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기본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F86B26-D49F-5B1F-5CB9-4BEDF79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AD0F6-17A2-4FF3-829F-62ACF20E6C3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D7567-AA4C-0056-94BC-CC65B2E0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5A5ED2-7E58-3007-9959-890B3DE3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8641" y="6625835"/>
            <a:ext cx="493359" cy="232165"/>
          </a:xfrm>
        </p:spPr>
        <p:txBody>
          <a:bodyPr vert="horz" wrap="none" lIns="0" tIns="0" rIns="360000" bIns="108000" rtlCol="0" anchor="ctr">
            <a:spAutoFit/>
          </a:bodyPr>
          <a:lstStyle>
            <a:lvl1pPr>
              <a:defRPr lang="ko-KR" altLang="en-US" sz="800" smtClean="0"/>
            </a:lvl1pPr>
          </a:lstStyle>
          <a:p>
            <a:fld id="{8A017D54-9D11-4031-8C1F-3C2E0B943619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B3BC1F-A763-3E31-BDFA-6B0D5EDF1F9D}"/>
              </a:ext>
            </a:extLst>
          </p:cNvPr>
          <p:cNvGrpSpPr/>
          <p:nvPr userDrawn="1"/>
        </p:nvGrpSpPr>
        <p:grpSpPr>
          <a:xfrm>
            <a:off x="172462" y="2664820"/>
            <a:ext cx="68400" cy="1528360"/>
            <a:chOff x="172462" y="2808076"/>
            <a:chExt cx="68400" cy="1528360"/>
          </a:xfrm>
        </p:grpSpPr>
        <p:sp>
          <p:nvSpPr>
            <p:cNvPr id="7" name="다이아몬드 6">
              <a:extLst>
                <a:ext uri="{FF2B5EF4-FFF2-40B4-BE49-F238E27FC236}">
                  <a16:creationId xmlns:a16="http://schemas.microsoft.com/office/drawing/2014/main" id="{93B42B2F-49A8-DD9D-EF11-4F290E0597C8}"/>
                </a:ext>
              </a:extLst>
            </p:cNvPr>
            <p:cNvSpPr/>
            <p:nvPr/>
          </p:nvSpPr>
          <p:spPr>
            <a:xfrm>
              <a:off x="172462" y="2808076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다이아몬드 7">
              <a:extLst>
                <a:ext uri="{FF2B5EF4-FFF2-40B4-BE49-F238E27FC236}">
                  <a16:creationId xmlns:a16="http://schemas.microsoft.com/office/drawing/2014/main" id="{0E10B18B-3416-3C30-0790-61CC57AA5432}"/>
                </a:ext>
              </a:extLst>
            </p:cNvPr>
            <p:cNvSpPr/>
            <p:nvPr/>
          </p:nvSpPr>
          <p:spPr>
            <a:xfrm>
              <a:off x="172462" y="3294729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다이아몬드 8">
              <a:extLst>
                <a:ext uri="{FF2B5EF4-FFF2-40B4-BE49-F238E27FC236}">
                  <a16:creationId xmlns:a16="http://schemas.microsoft.com/office/drawing/2014/main" id="{FDAD82DA-1930-3DB6-79FE-4F99750E5942}"/>
                </a:ext>
              </a:extLst>
            </p:cNvPr>
            <p:cNvSpPr/>
            <p:nvPr/>
          </p:nvSpPr>
          <p:spPr>
            <a:xfrm>
              <a:off x="172462" y="3781382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다이아몬드 9">
              <a:extLst>
                <a:ext uri="{FF2B5EF4-FFF2-40B4-BE49-F238E27FC236}">
                  <a16:creationId xmlns:a16="http://schemas.microsoft.com/office/drawing/2014/main" id="{5A5991A1-7885-E0B2-81F0-1C98079DA1E9}"/>
                </a:ext>
              </a:extLst>
            </p:cNvPr>
            <p:cNvSpPr/>
            <p:nvPr/>
          </p:nvSpPr>
          <p:spPr>
            <a:xfrm>
              <a:off x="172462" y="4268036"/>
              <a:ext cx="68400" cy="68400"/>
            </a:xfrm>
            <a:prstGeom prst="diamond">
              <a:avLst/>
            </a:prstGeom>
            <a:solidFill>
              <a:srgbClr val="2122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0371BCD7-D3AF-693A-9013-51D9FB9A5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334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310B0A-98F3-884E-5765-461182672694}"/>
              </a:ext>
            </a:extLst>
          </p:cNvPr>
          <p:cNvGrpSpPr/>
          <p:nvPr/>
        </p:nvGrpSpPr>
        <p:grpSpPr>
          <a:xfrm>
            <a:off x="442913" y="83174"/>
            <a:ext cx="1300604" cy="276999"/>
            <a:chOff x="442913" y="83174"/>
            <a:chExt cx="1300604" cy="27699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A9FF7A-3850-092E-4409-5BDD0A847330}"/>
                </a:ext>
              </a:extLst>
            </p:cNvPr>
            <p:cNvSpPr txBox="1"/>
            <p:nvPr/>
          </p:nvSpPr>
          <p:spPr>
            <a:xfrm>
              <a:off x="442913" y="83174"/>
              <a:ext cx="36708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defRPr>
              </a:lvl1pPr>
            </a:lstStyle>
            <a:p>
              <a:r>
                <a:rPr lang="en-US" altLang="ko-KR" sz="1800" dirty="0">
                  <a:solidFill>
                    <a:schemeClr val="bg1"/>
                  </a:solidFill>
                  <a:latin typeface="Pretendard ExtraBold" panose="02000903000000020004" pitchFamily="2" charset="-127"/>
                  <a:ea typeface="Pretendard ExtraBold" panose="02000903000000020004" pitchFamily="2" charset="-127"/>
                  <a:cs typeface="Pretendard ExtraBold" panose="02000903000000020004" pitchFamily="2" charset="-127"/>
                </a:rPr>
                <a:t>02.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078F99-8DA2-F8C8-AE10-90830D25C78F}"/>
                </a:ext>
              </a:extLst>
            </p:cNvPr>
            <p:cNvSpPr txBox="1"/>
            <p:nvPr/>
          </p:nvSpPr>
          <p:spPr>
            <a:xfrm>
              <a:off x="821222" y="83174"/>
              <a:ext cx="922295" cy="276999"/>
            </a:xfrm>
            <a:prstGeom prst="rect">
              <a:avLst/>
            </a:prstGeom>
            <a:noFill/>
          </p:spPr>
          <p:txBody>
            <a:bodyPr wrap="none" lIns="72000" tIns="0" rIns="0" bIns="0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defRPr>
              </a:lvl1pPr>
            </a:lstStyle>
            <a:p>
              <a:r>
                <a:rPr lang="ko-KR" altLang="en-US" sz="1800" dirty="0">
                  <a:solidFill>
                    <a:schemeClr val="bg1"/>
                  </a:solidFill>
                </a:rPr>
                <a:t>기본 액션</a:t>
              </a:r>
              <a:endParaRPr lang="en-US" altLang="ko-KR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5" name="그림 24" descr="블랙, 상징, 램프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A01E8B-0E53-FBFB-B438-BF34AF5F0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9" b="9243"/>
          <a:stretch>
            <a:fillRect/>
          </a:stretch>
        </p:blipFill>
        <p:spPr>
          <a:xfrm>
            <a:off x="108189" y="3037084"/>
            <a:ext cx="228320" cy="293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731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3C332-1CC6-1D73-C6C6-B4902154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AA4D43-08BF-3342-13EE-FCBFC1F3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8D04B-43C6-2BB8-7A50-BCA1439FD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AD0F6-17A2-4FF3-829F-62ACF20E6C3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D46782-E346-EB10-E1A9-9DADF0E9F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E3672-7946-E38D-13F8-873F35237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17D54-9D11-4031-8C1F-3C2E0B943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94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E35D5-E2D7-2D13-21B0-86BA7246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079C1924-9110-20D4-82DB-9FFA180458BE}"/>
              </a:ext>
            </a:extLst>
          </p:cNvPr>
          <p:cNvGrpSpPr/>
          <p:nvPr/>
        </p:nvGrpSpPr>
        <p:grpSpPr>
          <a:xfrm>
            <a:off x="9405009" y="6088707"/>
            <a:ext cx="2603598" cy="492442"/>
            <a:chOff x="9405009" y="6057929"/>
            <a:chExt cx="2603598" cy="4924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B31545-BCE3-0547-7376-C869E9582A14}"/>
                </a:ext>
              </a:extLst>
            </p:cNvPr>
            <p:cNvSpPr txBox="1"/>
            <p:nvPr/>
          </p:nvSpPr>
          <p:spPr>
            <a:xfrm>
              <a:off x="9405009" y="6057929"/>
              <a:ext cx="26035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>
                  <a:solidFill>
                    <a:schemeClr val="bg1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[Chrono Odyssey] </a:t>
              </a:r>
              <a:r>
                <a:rPr lang="ko-KR" altLang="en-US" sz="1000" dirty="0">
                  <a:solidFill>
                    <a:schemeClr val="bg1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캐릭터 전투 기획 사전 과제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137DFF-AEB9-807E-B9B7-055B3C0382F8}"/>
                </a:ext>
              </a:extLst>
            </p:cNvPr>
            <p:cNvSpPr txBox="1"/>
            <p:nvPr/>
          </p:nvSpPr>
          <p:spPr>
            <a:xfrm>
              <a:off x="11064118" y="6304150"/>
              <a:ext cx="9444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chemeClr val="bg1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작성자 </a:t>
              </a:r>
              <a:r>
                <a:rPr lang="en-US" altLang="ko-KR" sz="1000" dirty="0">
                  <a:solidFill>
                    <a:schemeClr val="bg1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</a:t>
              </a:r>
              <a:r>
                <a:rPr lang="ko-KR" altLang="en-US" sz="1000" dirty="0">
                  <a:solidFill>
                    <a:schemeClr val="bg1"/>
                  </a:solidFill>
                  <a:effectLst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홍진선</a:t>
              </a:r>
            </a:p>
          </p:txBody>
        </p:sp>
      </p:grpSp>
      <p:pic>
        <p:nvPicPr>
          <p:cNvPr id="12" name="그림 11" descr="폰트, 타이포그래피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CB7795-317E-0293-CFBA-83A351FCD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945" y="6253641"/>
            <a:ext cx="1168111" cy="327508"/>
          </a:xfrm>
          <a:prstGeom prst="rect">
            <a:avLst/>
          </a:prstGeom>
          <a:effectLst/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9E97DB71-C890-7B22-C799-7FA35A4B3301}"/>
              </a:ext>
            </a:extLst>
          </p:cNvPr>
          <p:cNvGrpSpPr/>
          <p:nvPr/>
        </p:nvGrpSpPr>
        <p:grpSpPr>
          <a:xfrm>
            <a:off x="4723724" y="2425829"/>
            <a:ext cx="2744553" cy="923330"/>
            <a:chOff x="2132091" y="1052994"/>
            <a:chExt cx="2744553" cy="9233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BFBB1B-4795-E0EA-8435-DB9DBC57B892}"/>
                </a:ext>
              </a:extLst>
            </p:cNvPr>
            <p:cNvSpPr txBox="1"/>
            <p:nvPr/>
          </p:nvSpPr>
          <p:spPr>
            <a:xfrm>
              <a:off x="2132091" y="1052994"/>
              <a:ext cx="166263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5400" spc="400" dirty="0">
                  <a:solidFill>
                    <a:schemeClr val="bg1"/>
                  </a:solidFill>
                  <a:effectLst/>
                  <a:latin typeface="빛의 계승자 Bold" panose="020B0600000101010101" pitchFamily="50" charset="-127"/>
                  <a:ea typeface="빛의 계승자 Bold" panose="020B0600000101010101" pitchFamily="50" charset="-127"/>
                </a:rPr>
                <a:t>현자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1D1A03-4394-D3C6-8D9F-5A48D90812FB}"/>
                </a:ext>
              </a:extLst>
            </p:cNvPr>
            <p:cNvSpPr txBox="1"/>
            <p:nvPr/>
          </p:nvSpPr>
          <p:spPr>
            <a:xfrm>
              <a:off x="3659644" y="1453104"/>
              <a:ext cx="12170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/>
                  </a:solidFill>
                  <a:effectLst/>
                  <a:latin typeface="빛의 계승자 Bold" panose="020B0600000101010101" pitchFamily="50" charset="-127"/>
                  <a:ea typeface="빛의 계승자 Bold" panose="020B0600000101010101" pitchFamily="50" charset="-127"/>
                </a:rPr>
                <a:t>(Sage)</a:t>
              </a:r>
              <a:endParaRPr lang="ko-KR" altLang="en-US" sz="2800" dirty="0">
                <a:solidFill>
                  <a:schemeClr val="bg1"/>
                </a:solidFill>
                <a:effectLst/>
                <a:latin typeface="빛의 계승자 Bold" panose="020B0600000101010101" pitchFamily="50" charset="-127"/>
                <a:ea typeface="빛의 계승자 Bold" panose="020B0600000101010101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5C261B6-1ED9-C633-0ADB-A8DFD0EF0BD7}"/>
              </a:ext>
            </a:extLst>
          </p:cNvPr>
          <p:cNvSpPr txBox="1"/>
          <p:nvPr/>
        </p:nvSpPr>
        <p:spPr>
          <a:xfrm>
            <a:off x="5055491" y="3472270"/>
            <a:ext cx="20810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effectLst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effectLst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클래스 컨셉 및 스킬 디자인  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effectLst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  <a:effectLst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996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E44A-18E9-938B-E346-AE8B30BC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66408E8-91B5-2EA9-B4AF-B6AD71F5FEB2}"/>
              </a:ext>
            </a:extLst>
          </p:cNvPr>
          <p:cNvSpPr/>
          <p:nvPr/>
        </p:nvSpPr>
        <p:spPr>
          <a:xfrm>
            <a:off x="0" y="0"/>
            <a:ext cx="4576941" cy="6858000"/>
          </a:xfrm>
          <a:prstGeom prst="rect">
            <a:avLst/>
          </a:prstGeom>
          <a:solidFill>
            <a:srgbClr val="2122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F30B0-D0FF-28AC-0212-95C2CAD07848}"/>
              </a:ext>
            </a:extLst>
          </p:cNvPr>
          <p:cNvSpPr txBox="1"/>
          <p:nvPr/>
        </p:nvSpPr>
        <p:spPr>
          <a:xfrm>
            <a:off x="1424451" y="622768"/>
            <a:ext cx="172803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4000" spc="3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</a:t>
            </a:r>
            <a:endParaRPr lang="ko-KR" altLang="en-US" sz="4000" spc="300" dirty="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89A6B51-98A7-1490-451E-10C54D921F37}"/>
              </a:ext>
            </a:extLst>
          </p:cNvPr>
          <p:cNvGrpSpPr/>
          <p:nvPr/>
        </p:nvGrpSpPr>
        <p:grpSpPr>
          <a:xfrm>
            <a:off x="4576941" y="911898"/>
            <a:ext cx="2162755" cy="5034205"/>
            <a:chOff x="4576941" y="1231252"/>
            <a:chExt cx="2162755" cy="503420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D51A7B0-DEE2-D8A5-D3E2-83BA28F135A0}"/>
                </a:ext>
              </a:extLst>
            </p:cNvPr>
            <p:cNvGrpSpPr/>
            <p:nvPr/>
          </p:nvGrpSpPr>
          <p:grpSpPr>
            <a:xfrm>
              <a:off x="4576941" y="1231252"/>
              <a:ext cx="2013676" cy="909274"/>
              <a:chOff x="4576941" y="1231252"/>
              <a:chExt cx="2013676" cy="909274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A293BCB-F6AD-59DF-83F6-BCE33D3782D6}"/>
                  </a:ext>
                </a:extLst>
              </p:cNvPr>
              <p:cNvSpPr txBox="1"/>
              <p:nvPr/>
            </p:nvSpPr>
            <p:spPr>
              <a:xfrm>
                <a:off x="5471102" y="1539029"/>
                <a:ext cx="1119515" cy="601497"/>
              </a:xfrm>
              <a:prstGeom prst="rect">
                <a:avLst/>
              </a:prstGeom>
              <a:noFill/>
            </p:spPr>
            <p:txBody>
              <a:bodyPr wrap="none" lIns="180000" tIns="108000" rIns="0" rtlCol="0">
                <a:spAutoFit/>
              </a:bodyPr>
              <a:lstStyle>
                <a:defPPr>
                  <a:defRPr lang="ko-KR"/>
                </a:defPPr>
                <a:lvl1pPr>
                  <a:spcAft>
                    <a:spcPts val="600"/>
                  </a:spcAft>
                  <a:defRPr sz="12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r>
                  <a:rPr lang="en-US" altLang="ko-KR" dirty="0"/>
                  <a:t>(1) </a:t>
                </a:r>
                <a:r>
                  <a:rPr lang="ko-KR" altLang="en-US" dirty="0"/>
                  <a:t>기획 의도</a:t>
                </a:r>
                <a:endParaRPr lang="en-US" altLang="ko-KR" dirty="0"/>
              </a:p>
              <a:p>
                <a:r>
                  <a:rPr lang="en-US" altLang="ko-KR" dirty="0"/>
                  <a:t>(2) </a:t>
                </a:r>
                <a:r>
                  <a:rPr lang="ko-KR" altLang="en-US" dirty="0"/>
                  <a:t>클래스 소개</a:t>
                </a:r>
                <a:endParaRPr lang="en-US" altLang="ko-KR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E8EF5D-FC3B-4E89-9619-531AA8C4F7A2}"/>
                  </a:ext>
                </a:extLst>
              </p:cNvPr>
              <p:cNvSpPr txBox="1"/>
              <p:nvPr/>
            </p:nvSpPr>
            <p:spPr>
              <a:xfrm>
                <a:off x="4576941" y="1231252"/>
                <a:ext cx="846071" cy="307777"/>
              </a:xfrm>
              <a:prstGeom prst="rect">
                <a:avLst/>
              </a:prstGeom>
              <a:noFill/>
            </p:spPr>
            <p:txBody>
              <a:bodyPr wrap="none" lIns="432000" tIns="0" rIns="3600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en-US" altLang="ko-KR" sz="2000" dirty="0">
                    <a:solidFill>
                      <a:srgbClr val="212227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rPr>
                  <a:t>01.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18C57E-B9BD-9054-3AED-70A3F5E9A787}"/>
                  </a:ext>
                </a:extLst>
              </p:cNvPr>
              <p:cNvSpPr txBox="1"/>
              <p:nvPr/>
            </p:nvSpPr>
            <p:spPr>
              <a:xfrm>
                <a:off x="5471102" y="1296065"/>
                <a:ext cx="456389" cy="215444"/>
              </a:xfrm>
              <a:prstGeom prst="rect">
                <a:avLst/>
              </a:prstGeom>
              <a:noFill/>
            </p:spPr>
            <p:txBody>
              <a:bodyPr wrap="none" lIns="14400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ko-KR" altLang="en-US" dirty="0">
                    <a:solidFill>
                      <a:srgbClr val="212227"/>
                    </a:solidFill>
                  </a:rPr>
                  <a:t>개요</a:t>
                </a:r>
                <a:endParaRPr lang="en-US" altLang="ko-KR" dirty="0">
                  <a:solidFill>
                    <a:srgbClr val="212227"/>
                  </a:solidFill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6AF6FB7-BC1D-0715-6534-6ADD3CC56D2A}"/>
                </a:ext>
              </a:extLst>
            </p:cNvPr>
            <p:cNvGrpSpPr/>
            <p:nvPr/>
          </p:nvGrpSpPr>
          <p:grpSpPr>
            <a:xfrm>
              <a:off x="4576941" y="2606229"/>
              <a:ext cx="1704814" cy="909274"/>
              <a:chOff x="4576941" y="2606229"/>
              <a:chExt cx="1704814" cy="909274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5B3704-3CFE-DEC2-7F76-85398F7CD0AD}"/>
                  </a:ext>
                </a:extLst>
              </p:cNvPr>
              <p:cNvSpPr txBox="1"/>
              <p:nvPr/>
            </p:nvSpPr>
            <p:spPr>
              <a:xfrm>
                <a:off x="5471102" y="2914006"/>
                <a:ext cx="681895" cy="601497"/>
              </a:xfrm>
              <a:prstGeom prst="rect">
                <a:avLst/>
              </a:prstGeom>
              <a:noFill/>
            </p:spPr>
            <p:txBody>
              <a:bodyPr wrap="none" lIns="180000" tIns="108000" rIns="0" rtlCol="0">
                <a:spAutoFit/>
              </a:bodyPr>
              <a:lstStyle>
                <a:defPPr>
                  <a:defRPr lang="ko-KR"/>
                </a:defPPr>
                <a:lvl1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2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dirty="0"/>
                  <a:t>(1) </a:t>
                </a:r>
                <a:r>
                  <a:rPr lang="ko-KR" altLang="en-US" dirty="0"/>
                  <a:t>평타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(2) </a:t>
                </a:r>
                <a:r>
                  <a:rPr lang="ko-KR" altLang="en-US" dirty="0"/>
                  <a:t>회피</a:t>
                </a:r>
                <a:endParaRPr lang="en-US" altLang="ko-KR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80702C-E409-CC3F-85FD-77CFC068BA90}"/>
                  </a:ext>
                </a:extLst>
              </p:cNvPr>
              <p:cNvSpPr txBox="1"/>
              <p:nvPr/>
            </p:nvSpPr>
            <p:spPr>
              <a:xfrm>
                <a:off x="4576941" y="2606229"/>
                <a:ext cx="881337" cy="307777"/>
              </a:xfrm>
              <a:prstGeom prst="rect">
                <a:avLst/>
              </a:prstGeom>
              <a:noFill/>
            </p:spPr>
            <p:txBody>
              <a:bodyPr wrap="none" lIns="432000" tIns="0" rIns="36000" bIns="0" rtlCol="0">
                <a:spAutoFit/>
              </a:bodyPr>
              <a:lstStyle>
                <a:defPPr>
                  <a:defRPr lang="ko-KR"/>
                </a:defPPr>
                <a:lvl1pPr>
                  <a:defRPr sz="2000">
                    <a:solidFill>
                      <a:srgbClr val="212227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/>
                  <a:t>02.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0F93CC-D877-9542-68AD-B8D862FC7B8A}"/>
                  </a:ext>
                </a:extLst>
              </p:cNvPr>
              <p:cNvSpPr txBox="1"/>
              <p:nvPr/>
            </p:nvSpPr>
            <p:spPr>
              <a:xfrm>
                <a:off x="5471102" y="2671042"/>
                <a:ext cx="810653" cy="215444"/>
              </a:xfrm>
              <a:prstGeom prst="rect">
                <a:avLst/>
              </a:prstGeom>
              <a:noFill/>
            </p:spPr>
            <p:txBody>
              <a:bodyPr wrap="none" lIns="14400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solidFill>
                      <a:srgbClr val="212227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ko-KR" altLang="en-US" dirty="0"/>
                  <a:t>기본 액션</a:t>
                </a:r>
                <a:endParaRPr lang="en-US" altLang="ko-KR" dirty="0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CB7288E-38F9-4695-B7DE-DE60093BCA73}"/>
                </a:ext>
              </a:extLst>
            </p:cNvPr>
            <p:cNvGrpSpPr/>
            <p:nvPr/>
          </p:nvGrpSpPr>
          <p:grpSpPr>
            <a:xfrm>
              <a:off x="4576941" y="3981206"/>
              <a:ext cx="1880626" cy="909274"/>
              <a:chOff x="4576941" y="3981206"/>
              <a:chExt cx="1880626" cy="90927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042B08-AC0D-A5DC-59CD-8A40D8ECFD5B}"/>
                  </a:ext>
                </a:extLst>
              </p:cNvPr>
              <p:cNvSpPr txBox="1"/>
              <p:nvPr/>
            </p:nvSpPr>
            <p:spPr>
              <a:xfrm>
                <a:off x="5471102" y="4288983"/>
                <a:ext cx="986465" cy="601497"/>
              </a:xfrm>
              <a:prstGeom prst="rect">
                <a:avLst/>
              </a:prstGeom>
              <a:noFill/>
            </p:spPr>
            <p:txBody>
              <a:bodyPr wrap="none" lIns="180000" tIns="108000" rIns="0" rtlCol="0">
                <a:spAutoFit/>
              </a:bodyPr>
              <a:lstStyle>
                <a:defPPr>
                  <a:defRPr lang="ko-KR"/>
                </a:defPPr>
                <a:lvl1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2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dirty="0"/>
                  <a:t>(1) </a:t>
                </a:r>
                <a:r>
                  <a:rPr lang="ko-KR" altLang="en-US" dirty="0"/>
                  <a:t>스킬 구성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(2) </a:t>
                </a:r>
                <a:r>
                  <a:rPr lang="ko-KR" altLang="en-US" dirty="0"/>
                  <a:t>상세 설명</a:t>
                </a:r>
                <a:endParaRPr lang="en-US" altLang="ko-KR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E870C3-2069-184E-3F1C-F9AAB82D7064}"/>
                  </a:ext>
                </a:extLst>
              </p:cNvPr>
              <p:cNvSpPr txBox="1"/>
              <p:nvPr/>
            </p:nvSpPr>
            <p:spPr>
              <a:xfrm>
                <a:off x="4576941" y="3981206"/>
                <a:ext cx="887749" cy="307777"/>
              </a:xfrm>
              <a:prstGeom prst="rect">
                <a:avLst/>
              </a:prstGeom>
              <a:noFill/>
            </p:spPr>
            <p:txBody>
              <a:bodyPr wrap="none" lIns="432000" tIns="0" rIns="36000" bIns="0" rtlCol="0">
                <a:spAutoFit/>
              </a:bodyPr>
              <a:lstStyle>
                <a:defPPr>
                  <a:defRPr lang="ko-KR"/>
                </a:defPPr>
                <a:lvl1pPr>
                  <a:defRPr sz="2000">
                    <a:solidFill>
                      <a:srgbClr val="212227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/>
                  <a:t>03.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2F1C9B0-1A33-22A7-3E45-5A45A794CDC6}"/>
                  </a:ext>
                </a:extLst>
              </p:cNvPr>
              <p:cNvSpPr txBox="1"/>
              <p:nvPr/>
            </p:nvSpPr>
            <p:spPr>
              <a:xfrm>
                <a:off x="5471102" y="4046019"/>
                <a:ext cx="966144" cy="215444"/>
              </a:xfrm>
              <a:prstGeom prst="rect">
                <a:avLst/>
              </a:prstGeom>
              <a:noFill/>
            </p:spPr>
            <p:txBody>
              <a:bodyPr wrap="none" lIns="14400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solidFill>
                      <a:srgbClr val="212227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ko-KR" altLang="en-US" dirty="0"/>
                  <a:t>액티브 스킬</a:t>
                </a:r>
                <a:endParaRPr lang="en-US" altLang="ko-KR" dirty="0"/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A9BE512-C411-A078-D853-AC88522F05EA}"/>
                </a:ext>
              </a:extLst>
            </p:cNvPr>
            <p:cNvGrpSpPr/>
            <p:nvPr/>
          </p:nvGrpSpPr>
          <p:grpSpPr>
            <a:xfrm>
              <a:off x="4576941" y="5356183"/>
              <a:ext cx="2162755" cy="909274"/>
              <a:chOff x="4576941" y="5356183"/>
              <a:chExt cx="2162755" cy="90927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59B6CC-0098-F068-D875-B69A05D163CD}"/>
                  </a:ext>
                </a:extLst>
              </p:cNvPr>
              <p:cNvSpPr txBox="1"/>
              <p:nvPr/>
            </p:nvSpPr>
            <p:spPr>
              <a:xfrm>
                <a:off x="5471102" y="5663960"/>
                <a:ext cx="1268594" cy="601497"/>
              </a:xfrm>
              <a:prstGeom prst="rect">
                <a:avLst/>
              </a:prstGeom>
              <a:noFill/>
            </p:spPr>
            <p:txBody>
              <a:bodyPr wrap="none" lIns="180000" tIns="108000" rIns="0" rtlCol="0">
                <a:spAutoFit/>
              </a:bodyPr>
              <a:lstStyle>
                <a:defPPr>
                  <a:defRPr lang="ko-KR"/>
                </a:defPPr>
                <a:lvl1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20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dirty="0"/>
                  <a:t>(1) </a:t>
                </a:r>
                <a:r>
                  <a:rPr lang="ko-KR" altLang="en-US" dirty="0"/>
                  <a:t>추천 스킬 조합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(2) </a:t>
                </a:r>
                <a:r>
                  <a:rPr lang="ko-KR" altLang="en-US" dirty="0"/>
                  <a:t>플레이 예시</a:t>
                </a:r>
                <a:endParaRPr lang="en-US" altLang="ko-KR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4E41F1-9BD9-71B3-C149-764AA449122D}"/>
                  </a:ext>
                </a:extLst>
              </p:cNvPr>
              <p:cNvSpPr txBox="1"/>
              <p:nvPr/>
            </p:nvSpPr>
            <p:spPr>
              <a:xfrm>
                <a:off x="4576941" y="5356183"/>
                <a:ext cx="894161" cy="307777"/>
              </a:xfrm>
              <a:prstGeom prst="rect">
                <a:avLst/>
              </a:prstGeom>
              <a:noFill/>
            </p:spPr>
            <p:txBody>
              <a:bodyPr wrap="none" lIns="432000" tIns="0" rIns="36000" bIns="0" rtlCol="0">
                <a:spAutoFit/>
              </a:bodyPr>
              <a:lstStyle>
                <a:defPPr>
                  <a:defRPr lang="ko-KR"/>
                </a:defPPr>
                <a:lvl1pPr>
                  <a:defRPr sz="2000">
                    <a:solidFill>
                      <a:srgbClr val="212227"/>
                    </a:solidFill>
                    <a:latin typeface="Pretendard ExtraBold" panose="02000903000000020004" pitchFamily="2" charset="-127"/>
                    <a:ea typeface="Pretendard ExtraBold" panose="02000903000000020004" pitchFamily="2" charset="-127"/>
                    <a:cs typeface="Pretendard ExtraBold" panose="02000903000000020004" pitchFamily="2" charset="-127"/>
                  </a:defRPr>
                </a:lvl1pPr>
              </a:lstStyle>
              <a:p>
                <a:r>
                  <a:rPr lang="en-US" altLang="ko-KR" dirty="0"/>
                  <a:t>04.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67EF92-6D30-4D75-422D-4BB867BC16E7}"/>
                  </a:ext>
                </a:extLst>
              </p:cNvPr>
              <p:cNvSpPr txBox="1"/>
              <p:nvPr/>
            </p:nvSpPr>
            <p:spPr>
              <a:xfrm>
                <a:off x="5471102" y="5420996"/>
                <a:ext cx="966144" cy="215444"/>
              </a:xfrm>
              <a:prstGeom prst="rect">
                <a:avLst/>
              </a:prstGeom>
              <a:noFill/>
            </p:spPr>
            <p:txBody>
              <a:bodyPr wrap="none" lIns="144000" tIns="0" rIns="0" bIns="0" rtlCol="0">
                <a:spAutoFit/>
              </a:bodyPr>
              <a:lstStyle>
                <a:defPPr>
                  <a:defRPr lang="ko-KR"/>
                </a:defPPr>
                <a:lvl1pPr>
                  <a:defRPr sz="1400">
                    <a:solidFill>
                      <a:srgbClr val="212227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defRPr>
                </a:lvl1pPr>
              </a:lstStyle>
              <a:p>
                <a:r>
                  <a:rPr lang="ko-KR" altLang="en-US" dirty="0"/>
                  <a:t>게임 플레이</a:t>
                </a:r>
                <a:endParaRPr lang="en-US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882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DF30C-4207-5360-ECE2-39ADC86B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F915FE-8EC6-F222-AFE1-570A29EAD92B}"/>
              </a:ext>
            </a:extLst>
          </p:cNvPr>
          <p:cNvSpPr txBox="1"/>
          <p:nvPr/>
        </p:nvSpPr>
        <p:spPr>
          <a:xfrm>
            <a:off x="1291470" y="98563"/>
            <a:ext cx="869964" cy="261610"/>
          </a:xfrm>
          <a:prstGeom prst="rect">
            <a:avLst/>
          </a:prstGeom>
          <a:noFill/>
        </p:spPr>
        <p:txBody>
          <a:bodyPr wrap="none" lIns="144000" rIns="0" rtlCol="0" anchor="b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(1)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기획 의도</a:t>
            </a:r>
            <a:endParaRPr lang="en-US" altLang="ko-KR" sz="1100" dirty="0">
              <a:solidFill>
                <a:schemeClr val="bg1">
                  <a:lumMod val="8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8" name="그림 7" descr="의류, 의상 디자인, 여성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D5F5BA-BC6B-1956-6490-52B6FC330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9" b="1378"/>
          <a:stretch>
            <a:fillRect/>
          </a:stretch>
        </p:blipFill>
        <p:spPr>
          <a:xfrm>
            <a:off x="4619064" y="1387306"/>
            <a:ext cx="2953869" cy="5291496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04E8A582-1EB4-59EC-0CD7-AF656617F3E9}"/>
              </a:ext>
            </a:extLst>
          </p:cNvPr>
          <p:cNvGrpSpPr/>
          <p:nvPr/>
        </p:nvGrpSpPr>
        <p:grpSpPr>
          <a:xfrm>
            <a:off x="1759115" y="833308"/>
            <a:ext cx="8673771" cy="553998"/>
            <a:chOff x="1981189" y="833308"/>
            <a:chExt cx="8673771" cy="55399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1076E0-F810-1B46-376C-EB385B3B4A27}"/>
                </a:ext>
              </a:extLst>
            </p:cNvPr>
            <p:cNvSpPr txBox="1"/>
            <p:nvPr/>
          </p:nvSpPr>
          <p:spPr>
            <a:xfrm>
              <a:off x="2277706" y="987197"/>
              <a:ext cx="8080738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4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성반</a:t>
              </a:r>
              <a:r>
                <a: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고리를 통해 </a:t>
              </a:r>
              <a:r>
                <a:rPr lang="ko-KR" altLang="en-US" sz="1600" dirty="0">
                  <a:solidFill>
                    <a:srgbClr val="FF000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스킬의 시전을 보조</a:t>
              </a:r>
              <a:r>
                <a: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하고</a:t>
              </a:r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인과의 전략적 활용으로 </a:t>
              </a:r>
              <a:r>
                <a:rPr lang="ko-KR" altLang="en-US" sz="1600" dirty="0">
                  <a:solidFill>
                    <a:srgbClr val="FF000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공격의 템포를 조절</a:t>
              </a:r>
              <a:r>
                <a:rPr lang="ko-KR" altLang="en-US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하는</a:t>
              </a:r>
              <a:r>
                <a:rPr lang="ko-KR" altLang="en-US" sz="1600" dirty="0">
                  <a:solidFill>
                    <a:srgbClr val="FF000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근</a:t>
              </a:r>
              <a:r>
                <a:rPr lang="en-US" altLang="ko-KR" sz="1600" dirty="0">
                  <a:solidFill>
                    <a:srgbClr val="FF000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/</a:t>
              </a:r>
              <a:r>
                <a:rPr lang="ko-KR" altLang="en-US" sz="1600" dirty="0">
                  <a:solidFill>
                    <a:srgbClr val="FF0000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중거리 마법사</a:t>
              </a:r>
              <a:endPara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202A1D-E8E8-AD33-F274-35EAD356307C}"/>
                </a:ext>
              </a:extLst>
            </p:cNvPr>
            <p:cNvSpPr txBox="1"/>
            <p:nvPr/>
          </p:nvSpPr>
          <p:spPr>
            <a:xfrm>
              <a:off x="1981189" y="833308"/>
              <a:ext cx="230832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3600" dirty="0">
                  <a:latin typeface="EBS주시경 Bold" panose="02020603020101020101" pitchFamily="18" charset="-127"/>
                  <a:ea typeface="EBS주시경 Bold" panose="02020603020101020101" pitchFamily="18" charset="-127"/>
                  <a:cs typeface="Pretendard SemiBold" panose="02000703000000020004" pitchFamily="2" charset="-127"/>
                </a:rPr>
                <a:t>“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6A50CF-980B-0E40-37C2-A6D98C248849}"/>
                </a:ext>
              </a:extLst>
            </p:cNvPr>
            <p:cNvSpPr txBox="1"/>
            <p:nvPr/>
          </p:nvSpPr>
          <p:spPr>
            <a:xfrm>
              <a:off x="10424128" y="833308"/>
              <a:ext cx="230832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ko-KR"/>
              </a:defPPr>
              <a:lvl1pPr>
                <a:defRPr sz="3600">
                  <a:latin typeface="EBS주시경 Bold" panose="02020603020101020101" pitchFamily="18" charset="-127"/>
                  <a:ea typeface="EBS주시경 Bold" panose="02020603020101020101" pitchFamily="18" charset="-127"/>
                  <a:cs typeface="Pretendard SemiBold" panose="02000703000000020004" pitchFamily="2" charset="-127"/>
                </a:defRPr>
              </a:lvl1pPr>
            </a:lstStyle>
            <a:p>
              <a:r>
                <a:rPr lang="en-US" altLang="ko-KR" dirty="0"/>
                <a:t>”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FD6794B-633E-908A-C534-21BE96CC5AA7}"/>
              </a:ext>
            </a:extLst>
          </p:cNvPr>
          <p:cNvGrpSpPr/>
          <p:nvPr/>
        </p:nvGrpSpPr>
        <p:grpSpPr>
          <a:xfrm>
            <a:off x="608532" y="2227678"/>
            <a:ext cx="4234504" cy="925343"/>
            <a:chOff x="608532" y="2105758"/>
            <a:chExt cx="4234504" cy="925343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4717F1C0-9A97-CC12-BB99-647833339E53}"/>
                </a:ext>
              </a:extLst>
            </p:cNvPr>
            <p:cNvGrpSpPr/>
            <p:nvPr/>
          </p:nvGrpSpPr>
          <p:grpSpPr>
            <a:xfrm>
              <a:off x="614301" y="2368701"/>
              <a:ext cx="4228735" cy="662400"/>
              <a:chOff x="915209" y="2508678"/>
              <a:chExt cx="4228735" cy="662400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0236EAA8-BEFE-438E-CED2-DA54C2371CBE}"/>
                  </a:ext>
                </a:extLst>
              </p:cNvPr>
              <p:cNvGrpSpPr/>
              <p:nvPr/>
            </p:nvGrpSpPr>
            <p:grpSpPr>
              <a:xfrm>
                <a:off x="915209" y="2508678"/>
                <a:ext cx="3486176" cy="662400"/>
                <a:chOff x="379243" y="1752288"/>
                <a:chExt cx="3486176" cy="662400"/>
              </a:xfrm>
            </p:grpSpPr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055AA86-D550-BD3F-E7BD-5EE76B18244A}"/>
                    </a:ext>
                  </a:extLst>
                </p:cNvPr>
                <p:cNvSpPr/>
                <p:nvPr/>
              </p:nvSpPr>
              <p:spPr>
                <a:xfrm>
                  <a:off x="379243" y="1752288"/>
                  <a:ext cx="3486176" cy="662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E6CEE75-E87F-5036-FDA2-805BC82D0B74}"/>
                    </a:ext>
                  </a:extLst>
                </p:cNvPr>
                <p:cNvSpPr txBox="1"/>
                <p:nvPr/>
              </p:nvSpPr>
              <p:spPr>
                <a:xfrm>
                  <a:off x="379243" y="1838364"/>
                  <a:ext cx="3486176" cy="490249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 anchor="t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‘</a:t>
                  </a:r>
                  <a:r>
                    <a:rPr lang="ko-KR" altLang="en-US" sz="1000" dirty="0" err="1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성반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’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을 무기로 사용하며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,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‘</a:t>
                  </a:r>
                  <a:r>
                    <a:rPr lang="ko-KR" altLang="en-US" sz="1000" dirty="0" err="1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성반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 고리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’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는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스킬의 시전을 보조</a:t>
                  </a:r>
                  <a:endPara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[ </a:t>
                  </a:r>
                  <a:r>
                    <a:rPr lang="ko-KR" altLang="en-US" sz="1000" dirty="0">
                      <a:solidFill>
                        <a:srgbClr val="FF0000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시전 속도 증가 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or </a:t>
                  </a:r>
                  <a:r>
                    <a:rPr lang="ko-KR" altLang="en-US" sz="1000" dirty="0">
                      <a:solidFill>
                        <a:srgbClr val="FF0000"/>
                      </a:solidFill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스킬 대신 시전 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]</a:t>
                  </a:r>
                </a:p>
              </p:txBody>
            </p:sp>
          </p:grp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CD09726-0015-348A-9836-E76D02313E0E}"/>
                  </a:ext>
                </a:extLst>
              </p:cNvPr>
              <p:cNvSpPr/>
              <p:nvPr/>
            </p:nvSpPr>
            <p:spPr>
              <a:xfrm>
                <a:off x="5035944" y="2785984"/>
                <a:ext cx="108000" cy="108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glow rad="38100">
                  <a:schemeClr val="bg1">
                    <a:alpha val="61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85FBD99-6F5A-942E-1850-AD41B6A8B8C1}"/>
                  </a:ext>
                </a:extLst>
              </p:cNvPr>
              <p:cNvCxnSpPr>
                <a:cxnSpLocks/>
                <a:stCxn id="59" idx="2"/>
                <a:endCxn id="61" idx="3"/>
              </p:cNvCxnSpPr>
              <p:nvPr/>
            </p:nvCxnSpPr>
            <p:spPr>
              <a:xfrm flipH="1" flipV="1">
                <a:off x="4401385" y="2839878"/>
                <a:ext cx="634559" cy="10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94FCBE0-6600-2B28-757F-F0EA7B2468B0}"/>
                </a:ext>
              </a:extLst>
            </p:cNvPr>
            <p:cNvGrpSpPr/>
            <p:nvPr/>
          </p:nvGrpSpPr>
          <p:grpSpPr>
            <a:xfrm>
              <a:off x="608532" y="2105758"/>
              <a:ext cx="1962745" cy="262943"/>
              <a:chOff x="608532" y="2105758"/>
              <a:chExt cx="1962745" cy="262943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2012B1-5B5B-643C-462E-6CE3280F418D}"/>
                  </a:ext>
                </a:extLst>
              </p:cNvPr>
              <p:cNvSpPr txBox="1"/>
              <p:nvPr/>
            </p:nvSpPr>
            <p:spPr>
              <a:xfrm>
                <a:off x="608532" y="2105758"/>
                <a:ext cx="1014234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 err="1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성반</a:t>
                </a:r>
                <a:r>
                  <a:rPr lang="en-US" altLang="ko-KR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(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천문 도구</a:t>
                </a:r>
                <a:r>
                  <a:rPr lang="en-US" altLang="ko-KR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)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AF267D-1746-6C93-A200-7044BC7E17FA}"/>
                  </a:ext>
                </a:extLst>
              </p:cNvPr>
              <p:cNvSpPr txBox="1"/>
              <p:nvPr/>
            </p:nvSpPr>
            <p:spPr>
              <a:xfrm>
                <a:off x="1622766" y="2105758"/>
                <a:ext cx="948511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스킬 시전 보조</a:t>
                </a:r>
                <a:endParaRPr lang="en-US" altLang="ko-KR" sz="1000" u="sng" dirty="0"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239EAB8-726B-4191-DCF7-45AF6838F3A5}"/>
              </a:ext>
            </a:extLst>
          </p:cNvPr>
          <p:cNvGrpSpPr/>
          <p:nvPr/>
        </p:nvGrpSpPr>
        <p:grpSpPr>
          <a:xfrm>
            <a:off x="608532" y="4156727"/>
            <a:ext cx="4234504" cy="925554"/>
            <a:chOff x="608532" y="3918497"/>
            <a:chExt cx="4234504" cy="92555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281249-86C2-0BC7-793C-588D769BC1AB}"/>
                </a:ext>
              </a:extLst>
            </p:cNvPr>
            <p:cNvGrpSpPr/>
            <p:nvPr/>
          </p:nvGrpSpPr>
          <p:grpSpPr>
            <a:xfrm>
              <a:off x="614301" y="4181440"/>
              <a:ext cx="4228735" cy="662611"/>
              <a:chOff x="614301" y="5586046"/>
              <a:chExt cx="4228735" cy="662611"/>
            </a:xfrm>
          </p:grpSpPr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3974201D-E7A9-9FCF-35B7-92254CA3C861}"/>
                  </a:ext>
                </a:extLst>
              </p:cNvPr>
              <p:cNvGrpSpPr/>
              <p:nvPr/>
            </p:nvGrpSpPr>
            <p:grpSpPr>
              <a:xfrm>
                <a:off x="614301" y="5586046"/>
                <a:ext cx="3486176" cy="662611"/>
                <a:chOff x="379243" y="1752288"/>
                <a:chExt cx="3486176" cy="662611"/>
              </a:xfrm>
            </p:grpSpPr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6D3076FD-0812-DF4D-1567-93609D5A3BD3}"/>
                    </a:ext>
                  </a:extLst>
                </p:cNvPr>
                <p:cNvSpPr/>
                <p:nvPr/>
              </p:nvSpPr>
              <p:spPr>
                <a:xfrm>
                  <a:off x="379243" y="1752288"/>
                  <a:ext cx="3486176" cy="66261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47710B3-1B6D-8D5A-8302-5F1184F10677}"/>
                    </a:ext>
                  </a:extLst>
                </p:cNvPr>
                <p:cNvSpPr txBox="1"/>
                <p:nvPr/>
              </p:nvSpPr>
              <p:spPr>
                <a:xfrm>
                  <a:off x="379243" y="1838469"/>
                  <a:ext cx="3486176" cy="490249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 anchor="ctr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우주의 다양한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천문 현상을 파악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한 후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전장에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재구성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하는</a:t>
                  </a:r>
                  <a:endParaRPr lang="en-US" altLang="ko-KR" sz="1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점성술사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/</a:t>
                  </a:r>
                  <a:r>
                    <a:rPr lang="en-US" altLang="ko-KR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천문학자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컨셉의 클래스</a:t>
                  </a:r>
                  <a:endParaRPr lang="en-US" altLang="ko-KR" sz="1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3BD0CE1F-D06C-F612-CE08-D39B4492E3D5}"/>
                  </a:ext>
                </a:extLst>
              </p:cNvPr>
              <p:cNvSpPr/>
              <p:nvPr/>
            </p:nvSpPr>
            <p:spPr>
              <a:xfrm>
                <a:off x="4735036" y="5863352"/>
                <a:ext cx="108000" cy="108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glow rad="38100">
                  <a:schemeClr val="bg1">
                    <a:alpha val="61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7070EB18-890D-840E-AF12-A16B3849023B}"/>
                  </a:ext>
                </a:extLst>
              </p:cNvPr>
              <p:cNvCxnSpPr>
                <a:cxnSpLocks/>
                <a:stCxn id="67" idx="2"/>
                <a:endCxn id="69" idx="3"/>
              </p:cNvCxnSpPr>
              <p:nvPr/>
            </p:nvCxnSpPr>
            <p:spPr>
              <a:xfrm flipH="1">
                <a:off x="4100477" y="5917352"/>
                <a:ext cx="634559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9D39798-B6B4-C3A6-9EA3-762768846253}"/>
                </a:ext>
              </a:extLst>
            </p:cNvPr>
            <p:cNvGrpSpPr/>
            <p:nvPr/>
          </p:nvGrpSpPr>
          <p:grpSpPr>
            <a:xfrm>
              <a:off x="608532" y="3918497"/>
              <a:ext cx="1332766" cy="262943"/>
              <a:chOff x="608532" y="5323103"/>
              <a:chExt cx="1332766" cy="26294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0907C39-8584-A9D8-98CD-4089D5096C2F}"/>
                  </a:ext>
                </a:extLst>
              </p:cNvPr>
              <p:cNvSpPr txBox="1"/>
              <p:nvPr/>
            </p:nvSpPr>
            <p:spPr>
              <a:xfrm>
                <a:off x="608532" y="5323103"/>
                <a:ext cx="666383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점성술사</a:t>
                </a:r>
                <a:endPara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2EB3D1-BF89-EEA0-C123-C6E8B59A1AF2}"/>
                  </a:ext>
                </a:extLst>
              </p:cNvPr>
              <p:cNvSpPr txBox="1"/>
              <p:nvPr/>
            </p:nvSpPr>
            <p:spPr>
              <a:xfrm>
                <a:off x="1274915" y="5323103"/>
                <a:ext cx="666383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천문학자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66CC914-33F6-6E85-8F49-429405F92893}"/>
              </a:ext>
            </a:extLst>
          </p:cNvPr>
          <p:cNvGrpSpPr/>
          <p:nvPr/>
        </p:nvGrpSpPr>
        <p:grpSpPr>
          <a:xfrm>
            <a:off x="7328578" y="4873622"/>
            <a:ext cx="4249121" cy="925554"/>
            <a:chOff x="7328578" y="4876445"/>
            <a:chExt cx="4249121" cy="92555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49B66C6-A5FA-5D73-3087-B2D6F9526844}"/>
                </a:ext>
              </a:extLst>
            </p:cNvPr>
            <p:cNvGrpSpPr/>
            <p:nvPr/>
          </p:nvGrpSpPr>
          <p:grpSpPr>
            <a:xfrm>
              <a:off x="7328578" y="5139388"/>
              <a:ext cx="4249121" cy="662611"/>
              <a:chOff x="7480184" y="3130560"/>
              <a:chExt cx="4249121" cy="662611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4D6D3C4-29BB-29DF-84A9-4914ABC34CAA}"/>
                  </a:ext>
                </a:extLst>
              </p:cNvPr>
              <p:cNvGrpSpPr/>
              <p:nvPr/>
            </p:nvGrpSpPr>
            <p:grpSpPr>
              <a:xfrm>
                <a:off x="8243129" y="3130560"/>
                <a:ext cx="3486176" cy="662611"/>
                <a:chOff x="1305262" y="1752288"/>
                <a:chExt cx="3486176" cy="662611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40BD2F15-5233-D2F7-9E0C-F5BA2384395D}"/>
                    </a:ext>
                  </a:extLst>
                </p:cNvPr>
                <p:cNvSpPr/>
                <p:nvPr/>
              </p:nvSpPr>
              <p:spPr>
                <a:xfrm>
                  <a:off x="1305262" y="1752288"/>
                  <a:ext cx="3486176" cy="66261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CD2F1AD-5FA6-7304-F6D0-82CF680D2FBA}"/>
                    </a:ext>
                  </a:extLst>
                </p:cNvPr>
                <p:cNvSpPr txBox="1"/>
                <p:nvPr/>
              </p:nvSpPr>
              <p:spPr>
                <a:xfrm>
                  <a:off x="1305262" y="1838469"/>
                  <a:ext cx="3486176" cy="490249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 anchor="ctr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운용 난이도는 높지만 이에 걸맞는 확실한 리턴으로</a:t>
                  </a:r>
                  <a:endParaRPr lang="en-US" altLang="ko-KR" sz="1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성장 동기 제공 및 지속 플레이 유도</a:t>
                  </a:r>
                  <a:endParaRPr lang="en-US" altLang="ko-KR" sz="10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p:grp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2C3BE61A-2C22-FCB8-3798-AFD5DA4FA18F}"/>
                  </a:ext>
                </a:extLst>
              </p:cNvPr>
              <p:cNvSpPr/>
              <p:nvPr/>
            </p:nvSpPr>
            <p:spPr>
              <a:xfrm>
                <a:off x="7480184" y="3407866"/>
                <a:ext cx="108000" cy="108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glow rad="38100">
                  <a:schemeClr val="bg1">
                    <a:alpha val="61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CDC74B3D-666F-FD9D-959D-304A0E879556}"/>
                  </a:ext>
                </a:extLst>
              </p:cNvPr>
              <p:cNvCxnSpPr>
                <a:cxnSpLocks/>
                <a:stCxn id="30" idx="6"/>
                <a:endCxn id="33" idx="1"/>
              </p:cNvCxnSpPr>
              <p:nvPr/>
            </p:nvCxnSpPr>
            <p:spPr>
              <a:xfrm>
                <a:off x="7588184" y="3461866"/>
                <a:ext cx="654945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E448F793-5AA1-D9E3-56F0-3DFCEFFF63EB}"/>
                </a:ext>
              </a:extLst>
            </p:cNvPr>
            <p:cNvGrpSpPr/>
            <p:nvPr/>
          </p:nvGrpSpPr>
          <p:grpSpPr>
            <a:xfrm>
              <a:off x="8091523" y="4876445"/>
              <a:ext cx="1725501" cy="262943"/>
              <a:chOff x="8091523" y="4876445"/>
              <a:chExt cx="1725501" cy="262943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E95ACB-0417-AA68-4408-35D4F09E85F7}"/>
                  </a:ext>
                </a:extLst>
              </p:cNvPr>
              <p:cNvSpPr txBox="1"/>
              <p:nvPr/>
            </p:nvSpPr>
            <p:spPr>
              <a:xfrm>
                <a:off x="8091523" y="4876445"/>
                <a:ext cx="1059118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높은 운용 난이도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C36077-5CE9-5F3F-D8C4-95F63A7CA1EE}"/>
                  </a:ext>
                </a:extLst>
              </p:cNvPr>
              <p:cNvSpPr txBox="1"/>
              <p:nvPr/>
            </p:nvSpPr>
            <p:spPr>
              <a:xfrm>
                <a:off x="9150641" y="4876445"/>
                <a:ext cx="666383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숙련자용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CB448F0-2C63-0A61-B074-B2CF9036EAF0}"/>
              </a:ext>
            </a:extLst>
          </p:cNvPr>
          <p:cNvGrpSpPr/>
          <p:nvPr/>
        </p:nvGrpSpPr>
        <p:grpSpPr>
          <a:xfrm>
            <a:off x="7328578" y="2841580"/>
            <a:ext cx="4249121" cy="925554"/>
            <a:chOff x="7328578" y="2841580"/>
            <a:chExt cx="4249121" cy="925554"/>
          </a:xfrm>
        </p:grpSpPr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AB99BD14-709D-24CC-1720-EE46E401FAB2}"/>
                </a:ext>
              </a:extLst>
            </p:cNvPr>
            <p:cNvGrpSpPr/>
            <p:nvPr/>
          </p:nvGrpSpPr>
          <p:grpSpPr>
            <a:xfrm>
              <a:off x="7328578" y="3104523"/>
              <a:ext cx="4249121" cy="662611"/>
              <a:chOff x="7480184" y="3130560"/>
              <a:chExt cx="4249121" cy="662611"/>
            </a:xfrm>
          </p:grpSpPr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3B036B08-B39A-1376-7994-13C527798620}"/>
                  </a:ext>
                </a:extLst>
              </p:cNvPr>
              <p:cNvGrpSpPr/>
              <p:nvPr/>
            </p:nvGrpSpPr>
            <p:grpSpPr>
              <a:xfrm>
                <a:off x="8243129" y="3130560"/>
                <a:ext cx="3486176" cy="662611"/>
                <a:chOff x="1305262" y="1752288"/>
                <a:chExt cx="3486176" cy="662611"/>
              </a:xfrm>
            </p:grpSpPr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6517F6DE-3279-26D0-8726-CC844FA9D426}"/>
                    </a:ext>
                  </a:extLst>
                </p:cNvPr>
                <p:cNvSpPr/>
                <p:nvPr/>
              </p:nvSpPr>
              <p:spPr>
                <a:xfrm>
                  <a:off x="1305262" y="1752288"/>
                  <a:ext cx="3486176" cy="66261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2789B6E3-C2D9-FD99-2E58-3C32F4EF8A09}"/>
                    </a:ext>
                  </a:extLst>
                </p:cNvPr>
                <p:cNvSpPr txBox="1"/>
                <p:nvPr/>
              </p:nvSpPr>
              <p:spPr>
                <a:xfrm>
                  <a:off x="1305262" y="1838469"/>
                  <a:ext cx="3486176" cy="490249"/>
                </a:xfrm>
                <a:prstGeom prst="rect">
                  <a:avLst/>
                </a:prstGeom>
                <a:noFill/>
              </p:spPr>
              <p:txBody>
                <a:bodyPr wrap="square" lIns="108000" tIns="54000" rIns="108000" bIns="54000" rtlCol="0" anchor="ctr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전략적인 자원 활용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으로 공격의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템포를 조절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하는 </a:t>
                  </a:r>
                  <a:r>
                    <a:rPr lang="ko-KR" altLang="en-US" sz="1000" dirty="0">
                      <a:latin typeface="Pretendard SemiBold" panose="02000703000000020004" pitchFamily="2" charset="-127"/>
                      <a:ea typeface="Pretendard SemiBold" panose="02000703000000020004" pitchFamily="2" charset="-127"/>
                      <a:cs typeface="Pretendard SemiBold" panose="02000703000000020004" pitchFamily="2" charset="-127"/>
                    </a:rPr>
                    <a:t>능동적인 전투</a:t>
                  </a:r>
                  <a:endPara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endParaRPr>
                </a:p>
                <a:p>
                  <a:pPr algn="ctr">
                    <a:lnSpc>
                      <a:spcPct val="130000"/>
                    </a:lnSpc>
                  </a:pP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(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현자 전용 전투 자원 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= </a:t>
                  </a:r>
                  <a:r>
                    <a:rPr lang="ko-KR" altLang="en-US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인과</a:t>
                  </a:r>
                  <a:r>
                    <a:rPr lang="en-US" altLang="ko-KR" sz="10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)</a:t>
                  </a:r>
                </a:p>
              </p:txBody>
            </p:sp>
          </p:grpSp>
          <p:sp>
            <p:nvSpPr>
              <p:cNvPr id="79" name="타원 78">
                <a:extLst>
                  <a:ext uri="{FF2B5EF4-FFF2-40B4-BE49-F238E27FC236}">
                    <a16:creationId xmlns:a16="http://schemas.microsoft.com/office/drawing/2014/main" id="{E619B105-D408-57C3-9CDE-C04E30DD5D33}"/>
                  </a:ext>
                </a:extLst>
              </p:cNvPr>
              <p:cNvSpPr/>
              <p:nvPr/>
            </p:nvSpPr>
            <p:spPr>
              <a:xfrm>
                <a:off x="7480184" y="3407866"/>
                <a:ext cx="108000" cy="108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>
                <a:glow rad="38100">
                  <a:schemeClr val="bg1">
                    <a:alpha val="61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2C48D7EB-6B8D-D946-5AB0-E785B73652AA}"/>
                  </a:ext>
                </a:extLst>
              </p:cNvPr>
              <p:cNvCxnSpPr>
                <a:cxnSpLocks/>
                <a:stCxn id="79" idx="6"/>
                <a:endCxn id="82" idx="1"/>
              </p:cNvCxnSpPr>
              <p:nvPr/>
            </p:nvCxnSpPr>
            <p:spPr>
              <a:xfrm>
                <a:off x="7588184" y="3461866"/>
                <a:ext cx="654945" cy="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DEB304E9-B7CF-6E2C-2014-DAC99492B0F4}"/>
                </a:ext>
              </a:extLst>
            </p:cNvPr>
            <p:cNvGrpSpPr/>
            <p:nvPr/>
          </p:nvGrpSpPr>
          <p:grpSpPr>
            <a:xfrm>
              <a:off x="8091523" y="2841580"/>
              <a:ext cx="1962745" cy="262943"/>
              <a:chOff x="8091523" y="2841580"/>
              <a:chExt cx="1962745" cy="262943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DEA9344-6F07-B8E2-F0C6-6E8CDCE82741}"/>
                  </a:ext>
                </a:extLst>
              </p:cNvPr>
              <p:cNvSpPr txBox="1"/>
              <p:nvPr/>
            </p:nvSpPr>
            <p:spPr>
              <a:xfrm>
                <a:off x="8091523" y="2841580"/>
                <a:ext cx="1014234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자원</a:t>
                </a:r>
                <a:r>
                  <a:rPr lang="en-US" altLang="ko-KR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(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인과</a:t>
                </a:r>
                <a:r>
                  <a:rPr lang="en-US" altLang="ko-KR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)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 활용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7CBDBB-14CA-5995-FC99-3A76CE1A22FB}"/>
                  </a:ext>
                </a:extLst>
              </p:cNvPr>
              <p:cNvSpPr txBox="1"/>
              <p:nvPr/>
            </p:nvSpPr>
            <p:spPr>
              <a:xfrm>
                <a:off x="9105757" y="2841580"/>
                <a:ext cx="948511" cy="262943"/>
              </a:xfrm>
              <a:prstGeom prst="rect">
                <a:avLst/>
              </a:prstGeom>
              <a:noFill/>
            </p:spPr>
            <p:txBody>
              <a:bodyPr wrap="none" lIns="72000" tIns="54000" rIns="72000" bIns="54000" rtlCol="0">
                <a:spAutoFit/>
              </a:bodyPr>
              <a:lstStyle/>
              <a:p>
                <a:r>
                  <a:rPr lang="en-US" altLang="ko-KR" sz="1000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#</a:t>
                </a:r>
                <a:r>
                  <a:rPr lang="ko-KR" altLang="en-US" sz="1000" u="sng" dirty="0"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공격 템포 조절</a:t>
                </a:r>
                <a:endParaRPr lang="en-US" altLang="ko-KR" sz="8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42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93F1-E0B9-0497-DBE5-88973BFF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9EE3F03-7E54-4A07-B024-B745C126BE41}"/>
              </a:ext>
            </a:extLst>
          </p:cNvPr>
          <p:cNvSpPr txBox="1"/>
          <p:nvPr/>
        </p:nvSpPr>
        <p:spPr>
          <a:xfrm>
            <a:off x="1291470" y="98563"/>
            <a:ext cx="1012631" cy="261610"/>
          </a:xfrm>
          <a:prstGeom prst="rect">
            <a:avLst/>
          </a:prstGeom>
          <a:noFill/>
        </p:spPr>
        <p:txBody>
          <a:bodyPr wrap="none" lIns="144000" rIns="0" rtlCol="0" anchor="b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(2)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클래스 컨셉</a:t>
            </a:r>
            <a:endParaRPr lang="en-US" altLang="ko-KR" sz="1100" dirty="0">
              <a:solidFill>
                <a:schemeClr val="bg1">
                  <a:lumMod val="8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E7C6AC-C013-0630-8BB5-4F0869DDC64D}"/>
              </a:ext>
            </a:extLst>
          </p:cNvPr>
          <p:cNvSpPr txBox="1"/>
          <p:nvPr/>
        </p:nvSpPr>
        <p:spPr>
          <a:xfrm>
            <a:off x="837007" y="781840"/>
            <a:ext cx="6065789" cy="631263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정리</a:t>
            </a:r>
            <a:endParaRPr lang="en-US" altLang="ko-KR" sz="100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20000"/>
              </a:lnSpc>
            </a:pP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뒤에 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 손에 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개씩 고리를 낀다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(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팔찌들은 혼천의 처럼 맞물려 회전한다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.)</a:t>
            </a:r>
          </a:p>
          <a:p>
            <a:pPr latinLnBrk="0">
              <a:lnSpc>
                <a:spcPct val="120000"/>
              </a:lnSpc>
            </a:pPr>
            <a:r>
              <a:rPr lang="en-US" altLang="ko-KR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00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성반</a:t>
            </a:r>
            <a:r>
              <a:rPr lang="ko-KR" altLang="en-US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062B43-9ADA-406D-2198-684E02F6D78C}"/>
              </a:ext>
            </a:extLst>
          </p:cNvPr>
          <p:cNvSpPr txBox="1"/>
          <p:nvPr/>
        </p:nvSpPr>
        <p:spPr>
          <a:xfrm>
            <a:off x="837007" y="1732154"/>
            <a:ext cx="6065789" cy="1000595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현자는 원리와 법칙을 파악하여 최소한의 움직임으로 최대의 결과를 만들어 내는 효율을 추구합니다</a:t>
            </a:r>
            <a:r>
              <a:rPr lang="en-US" altLang="ko-KR" sz="100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 latinLnBrk="0">
              <a:lnSpc>
                <a:spcPct val="120000"/>
              </a:lnSpc>
            </a:pPr>
            <a:endParaRPr lang="en-US" altLang="ko-KR" sz="100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20000"/>
              </a:lnSpc>
            </a:pP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그들의 모든 기술은 인과에서 비롯되며 전장에서의 행위에 따라 쌓이는 인과는 행동을 멈추면 빠르게 소멸됩니다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atinLnBrk="0">
              <a:lnSpc>
                <a:spcPct val="120000"/>
              </a:lnSpc>
            </a:pPr>
            <a:endParaRPr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20000"/>
              </a:lnSpc>
            </a:pP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험난한 과정을 흔들림 없이 해낸 현자들은 전장의 위기를 극복하는 지침이 됩니다</a:t>
            </a:r>
            <a:r>
              <a:rPr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altLang="ko-KR" sz="100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9348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176A6-7058-7A27-2F2E-7940B0B5A352}"/>
              </a:ext>
            </a:extLst>
          </p:cNvPr>
          <p:cNvSpPr txBox="1"/>
          <p:nvPr/>
        </p:nvSpPr>
        <p:spPr>
          <a:xfrm>
            <a:off x="1743517" y="98563"/>
            <a:ext cx="592645" cy="261610"/>
          </a:xfrm>
          <a:prstGeom prst="rect">
            <a:avLst/>
          </a:prstGeom>
          <a:noFill/>
        </p:spPr>
        <p:txBody>
          <a:bodyPr wrap="none" lIns="144000" rIns="0" rtlCol="0" anchor="b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(1)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평타</a:t>
            </a:r>
            <a:endParaRPr lang="en-US" altLang="ko-KR" sz="1100" dirty="0">
              <a:solidFill>
                <a:schemeClr val="bg1">
                  <a:lumMod val="8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91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23122-EA85-1787-4233-BABDB2C3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20AE5293-A2CF-01DE-455A-0106F2DBA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334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15E51C1-770D-4D1C-71A5-9BBFB7DDC398}"/>
              </a:ext>
            </a:extLst>
          </p:cNvPr>
          <p:cNvSpPr txBox="1"/>
          <p:nvPr/>
        </p:nvSpPr>
        <p:spPr>
          <a:xfrm>
            <a:off x="442913" y="83174"/>
            <a:ext cx="59631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ko-KR" altLang="en-US" sz="1800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마무리</a:t>
            </a:r>
            <a:endParaRPr lang="en-US" altLang="ko-KR" sz="1800" dirty="0">
              <a:solidFill>
                <a:schemeClr val="bg1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6D848B6-825A-733E-AC16-407384C6B499}"/>
              </a:ext>
            </a:extLst>
          </p:cNvPr>
          <p:cNvGrpSpPr/>
          <p:nvPr/>
        </p:nvGrpSpPr>
        <p:grpSpPr>
          <a:xfrm>
            <a:off x="1707878" y="769088"/>
            <a:ext cx="8776244" cy="5828562"/>
            <a:chOff x="1707878" y="769088"/>
            <a:chExt cx="8776244" cy="5828562"/>
          </a:xfrm>
        </p:grpSpPr>
        <p:pic>
          <p:nvPicPr>
            <p:cNvPr id="9" name="그림 8" descr="의상 디자인, 덮개, 의류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B497AD4-3A5C-8A1E-00E8-FF14482FB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878" y="769088"/>
              <a:ext cx="3395538" cy="5828562"/>
            </a:xfrm>
            <a:prstGeom prst="rect">
              <a:avLst/>
            </a:prstGeom>
          </p:spPr>
        </p:pic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56E9D3A-15AC-8B13-3421-1EEBC845E352}"/>
                </a:ext>
              </a:extLst>
            </p:cNvPr>
            <p:cNvGrpSpPr/>
            <p:nvPr/>
          </p:nvGrpSpPr>
          <p:grpSpPr>
            <a:xfrm>
              <a:off x="6190837" y="877558"/>
              <a:ext cx="4293285" cy="5720092"/>
              <a:chOff x="6190837" y="877558"/>
              <a:chExt cx="4293285" cy="5720092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3AA944DB-1EBC-C672-7454-5FE0C78B5902}"/>
                  </a:ext>
                </a:extLst>
              </p:cNvPr>
              <p:cNvGrpSpPr/>
              <p:nvPr/>
            </p:nvGrpSpPr>
            <p:grpSpPr>
              <a:xfrm>
                <a:off x="6190837" y="877558"/>
                <a:ext cx="4286205" cy="2474230"/>
                <a:chOff x="6190837" y="877558"/>
                <a:chExt cx="4286205" cy="2474230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25E8EE-8AD3-D10D-8F2D-E1DB1AA6880F}"/>
                    </a:ext>
                  </a:extLst>
                </p:cNvPr>
                <p:cNvSpPr txBox="1"/>
                <p:nvPr/>
              </p:nvSpPr>
              <p:spPr>
                <a:xfrm>
                  <a:off x="6190837" y="1505320"/>
                  <a:ext cx="4286205" cy="1846468"/>
                </a:xfrm>
                <a:prstGeom prst="rect">
                  <a:avLst/>
                </a:prstGeom>
                <a:noFill/>
              </p:spPr>
              <p:txBody>
                <a:bodyPr wrap="square" lIns="18000" rIns="18000" rtlCol="0">
                  <a:spAutoFit/>
                </a:bodyPr>
                <a:lstStyle/>
                <a:p>
                  <a:pPr latinLnBrk="0">
                    <a:lnSpc>
                      <a:spcPct val="120000"/>
                    </a:lnSpc>
                  </a:pPr>
                  <a:r>
                    <a:rPr lang="ko-KR" altLang="en-US" sz="1200" dirty="0">
                      <a:solidFill>
                        <a:srgbClr val="D4CFC5"/>
                      </a:solidFill>
                      <a:effectLst/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현자는 원리와 법칙을 파악하여 최소한의 움직임으로 최대의 결과를 만들어 내는 효율을 추구합니다</a:t>
                  </a:r>
                  <a:r>
                    <a:rPr lang="en-US" altLang="ko-KR" sz="1200" dirty="0">
                      <a:solidFill>
                        <a:srgbClr val="D4CFC5"/>
                      </a:solidFill>
                      <a:effectLst/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. </a:t>
                  </a:r>
                </a:p>
                <a:p>
                  <a:pPr latinLnBrk="0">
                    <a:lnSpc>
                      <a:spcPct val="120000"/>
                    </a:lnSpc>
                  </a:pPr>
                  <a:endParaRPr lang="en-US" altLang="ko-KR" sz="1200" dirty="0">
                    <a:solidFill>
                      <a:srgbClr val="D4CFC5"/>
                    </a:solidFill>
                    <a:effectLst/>
                    <a:latin typeface="빛의 계승자 Regular" panose="020B0600000101010101" pitchFamily="50" charset="-127"/>
                    <a:ea typeface="빛의 계승자 Regular" panose="020B0600000101010101" pitchFamily="50" charset="-127"/>
                    <a:cs typeface="Pretendard Medium" panose="02000603000000020004" pitchFamily="2" charset="-127"/>
                  </a:endParaRPr>
                </a:p>
                <a:p>
                  <a:pPr latinLnBrk="0">
                    <a:lnSpc>
                      <a:spcPct val="120000"/>
                    </a:lnSpc>
                  </a:pPr>
                  <a:r>
                    <a:rPr lang="ko-KR" altLang="en-US" sz="1200" dirty="0">
                      <a:solidFill>
                        <a:srgbClr val="D4CFC5"/>
                      </a:solidFill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그들의 모든 기술은 인과에서 비롯되며 전장에서의 행위에 따라 쌓이는 인과는 행동을 멈추면 빠르게 소멸됩니다</a:t>
                  </a:r>
                  <a:r>
                    <a:rPr lang="en-US" altLang="ko-KR" sz="1200" dirty="0">
                      <a:solidFill>
                        <a:srgbClr val="D4CFC5"/>
                      </a:solidFill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.</a:t>
                  </a:r>
                </a:p>
                <a:p>
                  <a:pPr latinLnBrk="0">
                    <a:lnSpc>
                      <a:spcPct val="120000"/>
                    </a:lnSpc>
                  </a:pPr>
                  <a:endParaRPr lang="en-US" altLang="ko-KR" sz="1200" dirty="0">
                    <a:solidFill>
                      <a:srgbClr val="D4CFC5"/>
                    </a:solidFill>
                    <a:latin typeface="빛의 계승자 Regular" panose="020B0600000101010101" pitchFamily="50" charset="-127"/>
                    <a:ea typeface="빛의 계승자 Regular" panose="020B0600000101010101" pitchFamily="50" charset="-127"/>
                    <a:cs typeface="Pretendard Medium" panose="02000603000000020004" pitchFamily="2" charset="-127"/>
                  </a:endParaRPr>
                </a:p>
                <a:p>
                  <a:pPr latinLnBrk="0">
                    <a:lnSpc>
                      <a:spcPct val="120000"/>
                    </a:lnSpc>
                  </a:pPr>
                  <a:r>
                    <a:rPr lang="ko-KR" altLang="en-US" sz="1200" dirty="0">
                      <a:solidFill>
                        <a:srgbClr val="D4CFC5"/>
                      </a:solidFill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이 험난한 과정을 흔들림 없이 해낸 현자들은 전장의 위기를 극복하는 지침이 됩니다</a:t>
                  </a:r>
                  <a:r>
                    <a:rPr lang="en-US" altLang="ko-KR" sz="1200" dirty="0">
                      <a:solidFill>
                        <a:srgbClr val="D4CFC5"/>
                      </a:solidFill>
                      <a:latin typeface="빛의 계승자 Regular" panose="020B0600000101010101" pitchFamily="50" charset="-127"/>
                      <a:ea typeface="빛의 계승자 Regular" panose="020B0600000101010101" pitchFamily="50" charset="-127"/>
                      <a:cs typeface="Pretendard Medium" panose="02000603000000020004" pitchFamily="2" charset="-127"/>
                    </a:rPr>
                    <a:t>.</a:t>
                  </a:r>
                  <a:endParaRPr lang="en-US" altLang="ko-KR" sz="1200" dirty="0">
                    <a:solidFill>
                      <a:srgbClr val="D4CFC5"/>
                    </a:solidFill>
                    <a:effectLst/>
                    <a:latin typeface="빛의 계승자 Regular" panose="020B0600000101010101" pitchFamily="50" charset="-127"/>
                    <a:ea typeface="빛의 계승자 Regular" panose="020B0600000101010101" pitchFamily="50" charset="-127"/>
                    <a:cs typeface="Pretendard Medium" panose="02000603000000020004" pitchFamily="2" charset="-127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28F2D00-8B9B-7ACF-1FD0-0233655A5D1A}"/>
                    </a:ext>
                  </a:extLst>
                </p:cNvPr>
                <p:cNvSpPr txBox="1"/>
                <p:nvPr/>
              </p:nvSpPr>
              <p:spPr>
                <a:xfrm>
                  <a:off x="6190837" y="877558"/>
                  <a:ext cx="908385" cy="461665"/>
                </a:xfrm>
                <a:prstGeom prst="rect">
                  <a:avLst/>
                </a:prstGeom>
                <a:noFill/>
              </p:spPr>
              <p:txBody>
                <a:bodyPr wrap="none" lIns="18000" rIns="18000" rtlCol="0">
                  <a:spAutoFit/>
                </a:bodyPr>
                <a:lstStyle/>
                <a:p>
                  <a:r>
                    <a:rPr lang="ko-KR" altLang="en-US" sz="2400" spc="200" dirty="0">
                      <a:solidFill>
                        <a:srgbClr val="D4CFC5"/>
                      </a:solidFill>
                      <a:effectLst/>
                      <a:latin typeface="빛의 계승자 Bold" panose="020B0600000101010101" pitchFamily="50" charset="-127"/>
                      <a:ea typeface="빛의 계승자 Bold" panose="020B0600000101010101" pitchFamily="50" charset="-127"/>
                    </a:rPr>
                    <a:t>현자  </a:t>
                  </a:r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DBE2CFC1-8DC6-6CF2-440B-39F20EE14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90837" y="1339223"/>
                  <a:ext cx="4286205" cy="0"/>
                </a:xfrm>
                <a:prstGeom prst="line">
                  <a:avLst/>
                </a:prstGeom>
                <a:ln w="12700" cap="rnd">
                  <a:solidFill>
                    <a:srgbClr val="D4CFC5">
                      <a:alpha val="3900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BA0703B-E32B-A34E-1073-CC6BC6A0A2D7}"/>
                  </a:ext>
                </a:extLst>
              </p:cNvPr>
              <p:cNvGrpSpPr/>
              <p:nvPr/>
            </p:nvGrpSpPr>
            <p:grpSpPr>
              <a:xfrm>
                <a:off x="6190837" y="3786000"/>
                <a:ext cx="4293285" cy="2811650"/>
                <a:chOff x="6190837" y="3786000"/>
                <a:chExt cx="4293285" cy="281165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5987F4-C543-F4A0-3A2B-2565849464A2}"/>
                    </a:ext>
                  </a:extLst>
                </p:cNvPr>
                <p:cNvSpPr txBox="1"/>
                <p:nvPr/>
              </p:nvSpPr>
              <p:spPr>
                <a:xfrm>
                  <a:off x="7994695" y="3786000"/>
                  <a:ext cx="685568" cy="276999"/>
                </a:xfrm>
                <a:prstGeom prst="rect">
                  <a:avLst/>
                </a:prstGeom>
                <a:noFill/>
              </p:spPr>
              <p:txBody>
                <a:bodyPr wrap="none" lIns="18000" rIns="18000" rtlCol="0">
                  <a:spAutoFit/>
                </a:bodyPr>
                <a:lstStyle>
                  <a:defPPr>
                    <a:defRPr lang="ko-KR"/>
                  </a:defPPr>
                  <a:lvl1pPr>
                    <a:defRPr sz="2000">
                      <a:solidFill>
                        <a:srgbClr val="D4CFC5"/>
                      </a:solidFill>
                      <a:effectLst/>
                      <a:latin typeface="빛의 계승자 Bold" panose="020B0600000101010101" pitchFamily="50" charset="-127"/>
                      <a:ea typeface="빛의 계승자 Bold" panose="020B0600000101010101" pitchFamily="50" charset="-127"/>
                    </a:defRPr>
                  </a:lvl1pPr>
                </a:lstStyle>
                <a:p>
                  <a:r>
                    <a:rPr lang="ko-KR" altLang="en-US" sz="1200" dirty="0"/>
                    <a:t>무기 타입</a:t>
                  </a:r>
                  <a:endParaRPr lang="en-US" altLang="ko-KR" sz="1200" dirty="0"/>
                </a:p>
              </p:txBody>
            </p:sp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708AAC49-263F-ED1C-CF78-A031A63E8199}"/>
                    </a:ext>
                  </a:extLst>
                </p:cNvPr>
                <p:cNvGrpSpPr/>
                <p:nvPr/>
              </p:nvGrpSpPr>
              <p:grpSpPr>
                <a:xfrm>
                  <a:off x="6190837" y="4393946"/>
                  <a:ext cx="4293285" cy="2203704"/>
                  <a:chOff x="6140519" y="3769274"/>
                  <a:chExt cx="4293285" cy="2203704"/>
                </a:xfrm>
              </p:grpSpPr>
              <p:grpSp>
                <p:nvGrpSpPr>
                  <p:cNvPr id="6" name="그룹 5">
                    <a:extLst>
                      <a:ext uri="{FF2B5EF4-FFF2-40B4-BE49-F238E27FC236}">
                        <a16:creationId xmlns:a16="http://schemas.microsoft.com/office/drawing/2014/main" id="{D86091F0-7488-B49C-5D90-941EE85E72AB}"/>
                      </a:ext>
                    </a:extLst>
                  </p:cNvPr>
                  <p:cNvGrpSpPr/>
                  <p:nvPr/>
                </p:nvGrpSpPr>
                <p:grpSpPr>
                  <a:xfrm>
                    <a:off x="7624761" y="3769274"/>
                    <a:ext cx="1324800" cy="2203704"/>
                    <a:chOff x="7624761" y="3769274"/>
                    <a:chExt cx="1324800" cy="2203704"/>
                  </a:xfrm>
                </p:grpSpPr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E3DDECA3-F748-5872-7FDE-F4438535EF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841" y="3769274"/>
                      <a:ext cx="1310640" cy="2133600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>
                            <a:lumMod val="99000"/>
                          </a:srgbClr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2700">
                      <a:solidFill>
                        <a:srgbClr val="616052">
                          <a:alpha val="24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7" name="직사각형 26">
                      <a:extLst>
                        <a:ext uri="{FF2B5EF4-FFF2-40B4-BE49-F238E27FC236}">
                          <a16:creationId xmlns:a16="http://schemas.microsoft.com/office/drawing/2014/main" id="{19D50509-583C-B82D-40B7-642101B2E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89740" y="3826423"/>
                      <a:ext cx="1194842" cy="1950719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/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9050">
                      <a:solidFill>
                        <a:srgbClr val="61605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5DFD00D6-CB97-24B2-C2B5-446BF4D1E6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4761" y="3769274"/>
                      <a:ext cx="1324800" cy="2203704"/>
                    </a:xfrm>
                    <a:prstGeom prst="rect">
                      <a:avLst/>
                    </a:prstGeom>
                    <a:gradFill flip="none" rotWithShape="1">
                      <a:gsLst>
                        <a:gs pos="38000">
                          <a:srgbClr val="212227">
                            <a:alpha val="70000"/>
                          </a:srgbClr>
                        </a:gs>
                        <a:gs pos="55000">
                          <a:srgbClr val="212227">
                            <a:alpha val="40000"/>
                          </a:srgbClr>
                        </a:gs>
                        <a:gs pos="0">
                          <a:srgbClr val="212227"/>
                        </a:gs>
                        <a:gs pos="16000">
                          <a:srgbClr val="212227"/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16200000" scaled="1"/>
                      <a:tileRect/>
                    </a:gra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4" name="그룹 3">
                      <a:extLst>
                        <a:ext uri="{FF2B5EF4-FFF2-40B4-BE49-F238E27FC236}">
                          <a16:creationId xmlns:a16="http://schemas.microsoft.com/office/drawing/2014/main" id="{254786DB-0CBD-EDEE-053C-598431E4A3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4134" y="4095739"/>
                      <a:ext cx="706055" cy="1245064"/>
                      <a:chOff x="7934134" y="4200817"/>
                      <a:chExt cx="706055" cy="1245064"/>
                    </a:xfrm>
                  </p:grpSpPr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B65EC17E-420B-6053-8785-C09DAD0ECE5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934760" y="5215049"/>
                        <a:ext cx="704804" cy="2308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18000" rIns="18000" rtlCol="0">
                        <a:spAutoFit/>
                      </a:bodyPr>
                      <a:lstStyle>
                        <a:defPPr>
                          <a:defRPr lang="ko-KR"/>
                        </a:defPPr>
                        <a:lvl1pPr>
                          <a:defRPr sz="2000">
                            <a:solidFill>
                              <a:srgbClr val="D4CFC5"/>
                            </a:solidFill>
                            <a:effectLst/>
                            <a:latin typeface="빛의 계승자 Bold" panose="020B0600000101010101" pitchFamily="50" charset="-127"/>
                            <a:ea typeface="빛의 계승자 Bold" panose="020B0600000101010101" pitchFamily="50" charset="-127"/>
                          </a:defRPr>
                        </a:lvl1pPr>
                      </a:lstStyle>
                      <a:p>
                        <a:pPr algn="ctr"/>
                        <a:r>
                          <a:rPr lang="en-US" altLang="ko-KR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(</a:t>
                        </a:r>
                        <a:r>
                          <a:rPr lang="ko-KR" altLang="en-US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현자 무기 </a:t>
                        </a:r>
                        <a:r>
                          <a:rPr lang="en-US" altLang="ko-KR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2)</a:t>
                        </a:r>
                      </a:p>
                    </p:txBody>
                  </p:sp>
                  <p:sp>
                    <p:nvSpPr>
                      <p:cNvPr id="47" name="타원 46">
                        <a:extLst>
                          <a:ext uri="{FF2B5EF4-FFF2-40B4-BE49-F238E27FC236}">
                            <a16:creationId xmlns:a16="http://schemas.microsoft.com/office/drawing/2014/main" id="{24D648C2-B2AA-7243-0699-40F19AF7C2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4134" y="4200817"/>
                        <a:ext cx="706055" cy="706055"/>
                      </a:xfrm>
                      <a:prstGeom prst="ellipse">
                        <a:avLst/>
                      </a:prstGeom>
                      <a:ln w="19050">
                        <a:solidFill>
                          <a:srgbClr val="616052"/>
                        </a:solidFill>
                      </a:ln>
                      <a:effectLst>
                        <a:glow rad="12700">
                          <a:schemeClr val="tx1"/>
                        </a:glow>
                      </a:effectLst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7" name="그룹 6">
                    <a:extLst>
                      <a:ext uri="{FF2B5EF4-FFF2-40B4-BE49-F238E27FC236}">
                        <a16:creationId xmlns:a16="http://schemas.microsoft.com/office/drawing/2014/main" id="{009F8D00-B834-2012-0A7A-9F1F91EE0C5E}"/>
                      </a:ext>
                    </a:extLst>
                  </p:cNvPr>
                  <p:cNvGrpSpPr/>
                  <p:nvPr/>
                </p:nvGrpSpPr>
                <p:grpSpPr>
                  <a:xfrm>
                    <a:off x="9109004" y="3769274"/>
                    <a:ext cx="1324800" cy="2203704"/>
                    <a:chOff x="9109004" y="3769274"/>
                    <a:chExt cx="1324800" cy="2203704"/>
                  </a:xfrm>
                </p:grpSpPr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0E1E0C7E-6751-4C55-B357-868F58F4E8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6084" y="3769274"/>
                      <a:ext cx="1310640" cy="2133600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>
                            <a:lumMod val="99000"/>
                          </a:srgbClr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2700">
                      <a:solidFill>
                        <a:srgbClr val="616052">
                          <a:alpha val="24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F551C5A2-401F-8F48-A7A9-29B58DEF08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3983" y="3826423"/>
                      <a:ext cx="1194842" cy="1950719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/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9050">
                      <a:solidFill>
                        <a:srgbClr val="61605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AF0BE877-850D-8B5B-9FFE-B4407113C2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09004" y="3769274"/>
                      <a:ext cx="1324800" cy="2203704"/>
                    </a:xfrm>
                    <a:prstGeom prst="rect">
                      <a:avLst/>
                    </a:prstGeom>
                    <a:gradFill flip="none" rotWithShape="1">
                      <a:gsLst>
                        <a:gs pos="38000">
                          <a:srgbClr val="212227">
                            <a:alpha val="70000"/>
                          </a:srgbClr>
                        </a:gs>
                        <a:gs pos="55000">
                          <a:srgbClr val="212227">
                            <a:alpha val="40000"/>
                          </a:srgbClr>
                        </a:gs>
                        <a:gs pos="0">
                          <a:srgbClr val="212227"/>
                        </a:gs>
                        <a:gs pos="16000">
                          <a:srgbClr val="212227"/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16200000" scaled="1"/>
                      <a:tileRect/>
                    </a:gra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3" name="그룹 2">
                      <a:extLst>
                        <a:ext uri="{FF2B5EF4-FFF2-40B4-BE49-F238E27FC236}">
                          <a16:creationId xmlns:a16="http://schemas.microsoft.com/office/drawing/2014/main" id="{2B645EDE-1EFB-8ECE-D969-DB591CD616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418377" y="4095739"/>
                      <a:ext cx="706055" cy="1245064"/>
                      <a:chOff x="9418377" y="4200817"/>
                      <a:chExt cx="706055" cy="1245064"/>
                    </a:xfrm>
                  </p:grpSpPr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FAEB47A3-EABC-B9E4-B2C6-9BB13C9C2A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19002" y="5215049"/>
                        <a:ext cx="704804" cy="2308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18000" rIns="18000" rtlCol="0">
                        <a:spAutoFit/>
                      </a:bodyPr>
                      <a:lstStyle>
                        <a:defPPr>
                          <a:defRPr lang="ko-KR"/>
                        </a:defPPr>
                        <a:lvl1pPr>
                          <a:defRPr sz="2000">
                            <a:solidFill>
                              <a:srgbClr val="D4CFC5"/>
                            </a:solidFill>
                            <a:effectLst/>
                            <a:latin typeface="빛의 계승자 Bold" panose="020B0600000101010101" pitchFamily="50" charset="-127"/>
                            <a:ea typeface="빛의 계승자 Bold" panose="020B0600000101010101" pitchFamily="50" charset="-127"/>
                          </a:defRPr>
                        </a:lvl1pPr>
                      </a:lstStyle>
                      <a:p>
                        <a:pPr algn="ctr"/>
                        <a:r>
                          <a:rPr lang="en-US" altLang="ko-KR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(</a:t>
                        </a:r>
                        <a:r>
                          <a:rPr lang="ko-KR" altLang="en-US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현자 무기 </a:t>
                        </a:r>
                        <a:r>
                          <a:rPr lang="en-US" altLang="ko-KR" sz="9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</a:rPr>
                          <a:t>2)</a:t>
                        </a:r>
                      </a:p>
                    </p:txBody>
                  </p:sp>
                  <p:sp>
                    <p:nvSpPr>
                      <p:cNvPr id="48" name="타원 47">
                        <a:extLst>
                          <a:ext uri="{FF2B5EF4-FFF2-40B4-BE49-F238E27FC236}">
                            <a16:creationId xmlns:a16="http://schemas.microsoft.com/office/drawing/2014/main" id="{14F022A8-D685-CD4F-9995-C7590AF642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18377" y="4200817"/>
                        <a:ext cx="706055" cy="706055"/>
                      </a:xfrm>
                      <a:prstGeom prst="ellipse">
                        <a:avLst/>
                      </a:prstGeom>
                      <a:ln w="19050">
                        <a:solidFill>
                          <a:srgbClr val="616052"/>
                        </a:solidFill>
                      </a:ln>
                      <a:effectLst>
                        <a:glow rad="12700">
                          <a:schemeClr val="tx1"/>
                        </a:glow>
                      </a:effectLst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</p:grpSp>
              <p:grpSp>
                <p:nvGrpSpPr>
                  <p:cNvPr id="5" name="그룹 4">
                    <a:extLst>
                      <a:ext uri="{FF2B5EF4-FFF2-40B4-BE49-F238E27FC236}">
                        <a16:creationId xmlns:a16="http://schemas.microsoft.com/office/drawing/2014/main" id="{86601C41-2439-88CF-27BE-94D653829036}"/>
                      </a:ext>
                    </a:extLst>
                  </p:cNvPr>
                  <p:cNvGrpSpPr/>
                  <p:nvPr/>
                </p:nvGrpSpPr>
                <p:grpSpPr>
                  <a:xfrm>
                    <a:off x="6140519" y="3769274"/>
                    <a:ext cx="1324800" cy="2203704"/>
                    <a:chOff x="6140519" y="3769274"/>
                    <a:chExt cx="1324800" cy="2203704"/>
                  </a:xfrm>
                </p:grpSpPr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D76A319E-1E41-E882-F5E6-7463FAC18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47599" y="3769274"/>
                      <a:ext cx="1310640" cy="2133600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>
                            <a:lumMod val="99000"/>
                          </a:srgbClr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2700">
                      <a:solidFill>
                        <a:srgbClr val="616052">
                          <a:alpha val="24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1D09ECB3-F75B-1908-9767-73560C1D32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5498" y="3826423"/>
                      <a:ext cx="1194842" cy="1950719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545243"/>
                        </a:gs>
                        <a:gs pos="74000">
                          <a:srgbClr val="545243"/>
                        </a:gs>
                        <a:gs pos="83000">
                          <a:srgbClr val="545243">
                            <a:alpha val="40000"/>
                          </a:srgbClr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5400000" scaled="1"/>
                      <a:tileRect/>
                    </a:gradFill>
                    <a:ln w="19050">
                      <a:solidFill>
                        <a:srgbClr val="61605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AD718E23-45DD-5F99-D98C-D0606E5C0C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40519" y="3769274"/>
                      <a:ext cx="1324800" cy="2203704"/>
                    </a:xfrm>
                    <a:prstGeom prst="rect">
                      <a:avLst/>
                    </a:prstGeom>
                    <a:gradFill flip="none" rotWithShape="1">
                      <a:gsLst>
                        <a:gs pos="38000">
                          <a:srgbClr val="212227">
                            <a:alpha val="70000"/>
                          </a:srgbClr>
                        </a:gs>
                        <a:gs pos="55000">
                          <a:srgbClr val="212227">
                            <a:alpha val="40000"/>
                          </a:srgbClr>
                        </a:gs>
                        <a:gs pos="0">
                          <a:srgbClr val="212227"/>
                        </a:gs>
                        <a:gs pos="16000">
                          <a:srgbClr val="212227"/>
                        </a:gs>
                        <a:gs pos="100000">
                          <a:srgbClr val="545243">
                            <a:alpha val="0"/>
                          </a:srgbClr>
                        </a:gs>
                      </a:gsLst>
                      <a:lin ang="16200000" scaled="1"/>
                      <a:tileRect/>
                    </a:gra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2" name="그룹 1">
                      <a:extLst>
                        <a:ext uri="{FF2B5EF4-FFF2-40B4-BE49-F238E27FC236}">
                          <a16:creationId xmlns:a16="http://schemas.microsoft.com/office/drawing/2014/main" id="{DD85AB60-B0E5-8146-82D4-4972EEA6A5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81282" y="4029432"/>
                      <a:ext cx="838667" cy="1334455"/>
                      <a:chOff x="6381282" y="4134510"/>
                      <a:chExt cx="838667" cy="1334455"/>
                    </a:xfrm>
                  </p:grpSpPr>
                  <p:sp>
                    <p:nvSpPr>
                      <p:cNvPr id="36" name="타원 35">
                        <a:extLst>
                          <a:ext uri="{FF2B5EF4-FFF2-40B4-BE49-F238E27FC236}">
                            <a16:creationId xmlns:a16="http://schemas.microsoft.com/office/drawing/2014/main" id="{2DDAF27A-C1E2-58A0-2E07-DBAC08656F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449892" y="4200817"/>
                        <a:ext cx="706055" cy="706055"/>
                      </a:xfrm>
                      <a:prstGeom prst="ellipse">
                        <a:avLst/>
                      </a:prstGeom>
                      <a:ln w="19050">
                        <a:solidFill>
                          <a:srgbClr val="616052"/>
                        </a:solidFill>
                      </a:ln>
                      <a:effectLst>
                        <a:glow rad="12700">
                          <a:schemeClr val="tx1"/>
                        </a:glow>
                      </a:effectLst>
                    </p:spPr>
                    <p:style>
                      <a:lnRef idx="2">
                        <a:schemeClr val="dk1">
                          <a:shade val="15000"/>
                        </a:schemeClr>
                      </a:lnRef>
                      <a:fillRef idx="1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87074945-AF08-A31A-7885-049CC90206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651693" y="5215049"/>
                        <a:ext cx="302451" cy="25391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18000" rIns="18000" rtlCol="0">
                        <a:spAutoFit/>
                      </a:bodyPr>
                      <a:lstStyle>
                        <a:defPPr>
                          <a:defRPr lang="ko-KR"/>
                        </a:defPPr>
                        <a:lvl1pPr>
                          <a:defRPr sz="2000">
                            <a:solidFill>
                              <a:srgbClr val="D4CFC5"/>
                            </a:solidFill>
                            <a:effectLst/>
                            <a:latin typeface="빛의 계승자 Bold" panose="020B0600000101010101" pitchFamily="50" charset="-127"/>
                            <a:ea typeface="빛의 계승자 Bold" panose="020B0600000101010101" pitchFamily="50" charset="-127"/>
                          </a:defRPr>
                        </a:lvl1pPr>
                      </a:lstStyle>
                      <a:p>
                        <a:pPr algn="ctr"/>
                        <a:r>
                          <a:rPr lang="ko-KR" altLang="en-US" sz="1050" dirty="0" err="1"/>
                          <a:t>성반</a:t>
                        </a:r>
                        <a:endParaRPr lang="en-US" altLang="ko-KR" sz="1050" dirty="0"/>
                      </a:p>
                    </p:txBody>
                  </p:sp>
                  <p:grpSp>
                    <p:nvGrpSpPr>
                      <p:cNvPr id="63" name="그룹 62">
                        <a:extLst>
                          <a:ext uri="{FF2B5EF4-FFF2-40B4-BE49-F238E27FC236}">
                            <a16:creationId xmlns:a16="http://schemas.microsoft.com/office/drawing/2014/main" id="{0507E14C-ACA3-F75E-899E-9028DB7937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81282" y="4134510"/>
                        <a:ext cx="838667" cy="838667"/>
                        <a:chOff x="5173980" y="4061460"/>
                        <a:chExt cx="1076960" cy="1076960"/>
                      </a:xfrm>
                    </p:grpSpPr>
                    <p:sp>
                      <p:nvSpPr>
                        <p:cNvPr id="61" name="타원 60">
                          <a:extLst>
                            <a:ext uri="{FF2B5EF4-FFF2-40B4-BE49-F238E27FC236}">
                              <a16:creationId xmlns:a16="http://schemas.microsoft.com/office/drawing/2014/main" id="{16044C70-EB94-7783-E31B-FFFB0B01C7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82920" y="4470400"/>
                          <a:ext cx="259080" cy="259080"/>
                        </a:xfrm>
                        <a:prstGeom prst="ellipse">
                          <a:avLst/>
                        </a:prstGeom>
                        <a:solidFill>
                          <a:schemeClr val="bg1">
                            <a:lumMod val="95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pic>
                      <p:nvPicPr>
                        <p:cNvPr id="62" name="그림 61" descr="원, 예술, 상징, 디자인이(가) 표시된 사진&#10;&#10;AI 생성 콘텐츠는 정확하지 않을 수 있습니다.">
                          <a:extLst>
                            <a:ext uri="{FF2B5EF4-FFF2-40B4-BE49-F238E27FC236}">
                              <a16:creationId xmlns:a16="http://schemas.microsoft.com/office/drawing/2014/main" id="{26C4D7C7-1573-833E-C666-D3F2B37A7E5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931" t="5451" r="6152" b="6631"/>
                        <a:stretch>
                          <a:fillRect/>
                        </a:stretch>
                      </p:blipFill>
                      <p:spPr>
                        <a:xfrm>
                          <a:off x="5173980" y="4061460"/>
                          <a:ext cx="1076960" cy="1076960"/>
                        </a:xfrm>
                        <a:prstGeom prst="rect">
                          <a:avLst/>
                        </a:prstGeom>
                        <a:effectLst>
                          <a:innerShdw blurRad="114300">
                            <a:prstClr val="black">
                              <a:alpha val="39000"/>
                            </a:prstClr>
                          </a:innerShdw>
                        </a:effectLst>
                      </p:spPr>
                    </p:pic>
                  </p:grpSp>
                </p:grpSp>
              </p:grpSp>
            </p:grp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DDFE1B9-21F6-71B9-D083-A32C05E13AB6}"/>
                    </a:ext>
                  </a:extLst>
                </p:cNvPr>
                <p:cNvSpPr txBox="1"/>
                <p:nvPr/>
              </p:nvSpPr>
              <p:spPr>
                <a:xfrm>
                  <a:off x="7110639" y="4042397"/>
                  <a:ext cx="2453680" cy="230832"/>
                </a:xfrm>
                <a:prstGeom prst="rect">
                  <a:avLst/>
                </a:prstGeom>
                <a:noFill/>
              </p:spPr>
              <p:txBody>
                <a:bodyPr wrap="none" lIns="18000" rIns="18000" rtlCol="0">
                  <a:spAutoFit/>
                </a:bodyPr>
                <a:lstStyle>
                  <a:defPPr>
                    <a:defRPr lang="ko-KR"/>
                  </a:defPPr>
                  <a:lvl1pPr>
                    <a:defRPr sz="2000">
                      <a:solidFill>
                        <a:srgbClr val="D4CFC5"/>
                      </a:solidFill>
                      <a:effectLst/>
                      <a:latin typeface="빛의 계승자 Bold" panose="020B0600000101010101" pitchFamily="50" charset="-127"/>
                      <a:ea typeface="빛의 계승자 Bold" panose="020B0600000101010101" pitchFamily="50" charset="-127"/>
                    </a:defRPr>
                  </a:lvl1pPr>
                </a:lstStyle>
                <a:p>
                  <a:r>
                    <a:rPr lang="ko-KR" altLang="en-US" sz="900" dirty="0">
                      <a:solidFill>
                        <a:srgbClr val="C7B388"/>
                      </a:solidFill>
                    </a:rPr>
                    <a:t>아래 세 가지 타입의 무기를 사용할 수 있습니다</a:t>
                  </a:r>
                  <a:r>
                    <a:rPr lang="en-US" altLang="ko-KR" sz="900" dirty="0">
                      <a:solidFill>
                        <a:srgbClr val="C7B388"/>
                      </a:solidFill>
                    </a:rPr>
                    <a:t>.</a:t>
                  </a:r>
                </a:p>
              </p:txBody>
            </p:sp>
          </p:grp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57AF707-F552-F8AC-938B-F6F9D697C781}"/>
              </a:ext>
            </a:extLst>
          </p:cNvPr>
          <p:cNvSpPr txBox="1"/>
          <p:nvPr/>
        </p:nvSpPr>
        <p:spPr>
          <a:xfrm>
            <a:off x="1029612" y="98563"/>
            <a:ext cx="2195648" cy="261610"/>
          </a:xfrm>
          <a:prstGeom prst="rect">
            <a:avLst/>
          </a:prstGeom>
          <a:noFill/>
        </p:spPr>
        <p:txBody>
          <a:bodyPr wrap="none" lIns="144000" rIns="0" rtlCol="0" anchor="b">
            <a:sp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‘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현자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’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의 </a:t>
            </a:r>
            <a:r>
              <a:rPr lang="ko-KR" altLang="en-US" sz="1100" dirty="0" err="1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크로노오디세이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적용 예시</a:t>
            </a:r>
            <a:endParaRPr lang="en-US" altLang="ko-KR" sz="1100" dirty="0">
              <a:solidFill>
                <a:schemeClr val="bg1">
                  <a:lumMod val="8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817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F0197-B1A3-7F6D-7628-560394A7B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폰트, 타이포그래피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416A4B-E61A-521F-76BE-F92B8C0FE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945" y="6253641"/>
            <a:ext cx="1168111" cy="327508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B15EF4-E8E4-73D0-5310-4B25054C26EB}"/>
              </a:ext>
            </a:extLst>
          </p:cNvPr>
          <p:cNvSpPr txBox="1"/>
          <p:nvPr/>
        </p:nvSpPr>
        <p:spPr>
          <a:xfrm>
            <a:off x="3557485" y="2659559"/>
            <a:ext cx="50770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effectLst/>
                <a:latin typeface="빛의 계승자 Bold" panose="020B0600000101010101" pitchFamily="50" charset="-127"/>
                <a:ea typeface="빛의 계승자 Bold" panose="020B0600000101010101" pitchFamily="50" charset="-127"/>
              </a:rPr>
              <a:t>End Of Document</a:t>
            </a:r>
            <a:endParaRPr lang="ko-KR" altLang="en-US" sz="4400" dirty="0">
              <a:solidFill>
                <a:schemeClr val="bg1"/>
              </a:solidFill>
              <a:effectLst/>
              <a:latin typeface="빛의 계승자 Bold" panose="020B0600000101010101" pitchFamily="50" charset="-127"/>
              <a:ea typeface="빛의 계승자 Bold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68BBD3-B8DB-F77F-80D3-E0B343FD0996}"/>
              </a:ext>
            </a:extLst>
          </p:cNvPr>
          <p:cNvSpPr/>
          <p:nvPr/>
        </p:nvSpPr>
        <p:spPr>
          <a:xfrm>
            <a:off x="442913" y="441325"/>
            <a:ext cx="11306175" cy="61563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14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352</Words>
  <Application>Microsoft Office PowerPoint</Application>
  <PresentationFormat>와이드스크린</PresentationFormat>
  <Paragraphs>69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EBS주시경 Bold</vt:lpstr>
      <vt:lpstr>Pretendard</vt:lpstr>
      <vt:lpstr>Pretendard ExtraBold</vt:lpstr>
      <vt:lpstr>Pretendard SemiBold</vt:lpstr>
      <vt:lpstr>맑은 고딕</vt:lpstr>
      <vt:lpstr>빛의 계승자 Bold</vt:lpstr>
      <vt:lpstr>빛의 계승자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62</cp:revision>
  <dcterms:created xsi:type="dcterms:W3CDTF">2025-10-31T08:06:06Z</dcterms:created>
  <dcterms:modified xsi:type="dcterms:W3CDTF">2025-11-04T10:48:44Z</dcterms:modified>
</cp:coreProperties>
</file>