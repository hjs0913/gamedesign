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376" r:id="rId2"/>
    <p:sldId id="375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23" userDrawn="1">
          <p15:clr>
            <a:srgbClr val="A4A3A4"/>
          </p15:clr>
        </p15:guide>
        <p15:guide id="2" pos="119" userDrawn="1">
          <p15:clr>
            <a:srgbClr val="A4A3A4"/>
          </p15:clr>
        </p15:guide>
        <p15:guide id="5" pos="4201" userDrawn="1">
          <p15:clr>
            <a:srgbClr val="A4A3A4"/>
          </p15:clr>
        </p15:guide>
        <p15:guide id="6" orient="horz" pos="2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52" d="100"/>
          <a:sy n="52" d="100"/>
        </p:scale>
        <p:origin x="2635" y="48"/>
      </p:cViewPr>
      <p:guideLst>
        <p:guide orient="horz" pos="6023"/>
        <p:guide pos="119"/>
        <p:guide pos="4201"/>
        <p:guide orient="horz" pos="2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3DEB8-77A6-476E-AE55-2701C232BFD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626818-B8DF-4F15-9319-1B59FCD19C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360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C456F-26E4-4537-8D17-6AF6B16C4EC3}" type="datetime1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2600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F1CC6-63D1-47CA-AD1F-91D7A3AEAC66}" type="datetime1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38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753DC-9741-44AB-950C-EAF55D0BA909}" type="datetime1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6065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D88FC-0747-42FA-97B4-C821938264BA}" type="datetime1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768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205C6-2B4D-4322-89B0-3B8CB899C599}" type="datetime1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422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3240D-A81B-40EA-A8A9-CD43A60759E2}" type="datetime1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314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8CA96-33E1-4DC7-A964-69BDB846C2EC}" type="datetime1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657475" y="9682576"/>
            <a:ext cx="1543050" cy="223424"/>
          </a:xfrm>
        </p:spPr>
        <p:txBody>
          <a:bodyPr/>
          <a:lstStyle>
            <a:lvl1pPr algn="ctr">
              <a:defRPr/>
            </a:lvl1pPr>
          </a:lstStyle>
          <a:p>
            <a:fld id="{94EAF048-6908-47D5-AB8D-FD95CCCB43A1}" type="slidenum">
              <a:rPr lang="ko-KR" altLang="en-US" smtClean="0"/>
              <a:pPr/>
              <a:t>‹#›</a:t>
            </a:fld>
            <a:r>
              <a:rPr lang="en-US" altLang="ko-KR" dirty="0"/>
              <a:t>/2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8410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7C171-AB78-4CA5-8A49-845326BC0825}" type="datetime1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5406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D6D7E-4DE0-4E81-ADE2-0F10194E5F68}" type="datetime1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186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33B4A-0016-47D3-943A-74733C859B59}" type="datetime1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8114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110C3-51C5-4712-BB64-03D4EDA68AE3}" type="datetime1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668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FC9454-618B-4601-B0FC-B31AFE475097}" type="datetime1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3281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8E3019F8-00A9-82BA-0DD0-7BA01B4E142B}"/>
              </a:ext>
            </a:extLst>
          </p:cNvPr>
          <p:cNvGrpSpPr/>
          <p:nvPr/>
        </p:nvGrpSpPr>
        <p:grpSpPr>
          <a:xfrm>
            <a:off x="188665" y="141181"/>
            <a:ext cx="6487083" cy="9623638"/>
            <a:chOff x="188665" y="663201"/>
            <a:chExt cx="6487083" cy="9623638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24057BBB-305F-D9E1-6D86-ACF885805DF8}"/>
                </a:ext>
              </a:extLst>
            </p:cNvPr>
            <p:cNvGrpSpPr/>
            <p:nvPr/>
          </p:nvGrpSpPr>
          <p:grpSpPr>
            <a:xfrm>
              <a:off x="191871" y="663201"/>
              <a:ext cx="6480671" cy="3491070"/>
              <a:chOff x="189000" y="2131167"/>
              <a:chExt cx="6480671" cy="3491070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C4C3432-0635-C872-1853-A84CC41AAB1B}"/>
                  </a:ext>
                </a:extLst>
              </p:cNvPr>
              <p:cNvSpPr txBox="1"/>
              <p:nvPr/>
            </p:nvSpPr>
            <p:spPr>
              <a:xfrm>
                <a:off x="294162" y="2529549"/>
                <a:ext cx="6269676" cy="3092688"/>
              </a:xfrm>
              <a:prstGeom prst="rect">
                <a:avLst/>
              </a:prstGeom>
              <a:noFill/>
            </p:spPr>
            <p:txBody>
              <a:bodyPr wrap="square" lIns="0" tIns="72000" rIns="0" bIns="72000" rtlCol="0" anchor="t">
                <a:spAutoFit/>
              </a:bodyPr>
              <a:lstStyle/>
              <a:p>
                <a:pPr>
                  <a:lnSpc>
                    <a:spcPct val="140000"/>
                  </a:lnSpc>
                  <a:spcAft>
                    <a:spcPts val="1000"/>
                  </a:spcAft>
                </a:pP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전투 기획의 핵심은 “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캐릭터의 컨셉에 어울리는 전투를 설계하는 것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” 입니다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. </a:t>
                </a:r>
              </a:p>
              <a:p>
                <a:pPr>
                  <a:lnSpc>
                    <a:spcPct val="140000"/>
                  </a:lnSpc>
                  <a:spcAft>
                    <a:spcPts val="1000"/>
                  </a:spcAft>
                </a:pP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저는 게임을 플레이할 때 캐릭터 별로 다양한 전투를 체험하며 즐거움을 느낍니다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. 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그러면서  ‘캐릭터의 컨셉과 전투 스타일이 어울리는지’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, ‘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내가 이 캐릭터에게 기대하는 전투는 어떤 </a:t>
                </a:r>
                <a:r>
                  <a:rPr lang="ko-KR" altLang="en-US" sz="1000" dirty="0" err="1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전투인지’를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 생각해 보는 과정 자체도 재미있게 느껴졌습니다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. 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특히 전투 스타일과 모션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, 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이펙트 등 스킬의 연출이 캐릭터 컨셉과 맞아떨어질 때 더욱 깊게 몰입할 수 있었습니다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. 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반대로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, 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캐릭터의 컨셉과 전투 스타일의 관련이 적다고 여겨지면 몰입감이 떨어졌습니다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. 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게임 뿐만 아니라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, 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웹툰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/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애니메이션 등 여러 작품 속 캐릭터가 컨셉에 맞는 전투를 하면 작품에 더욱 몰입하게 되기도 했습니다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. 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이런 경험들이 쌓이다 보니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,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 캐릭터의 컨셉에 잘 맞는 전투를 설계하는 것이 전투 기획의 핵심이라고 판단하게 되었습니다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.</a:t>
                </a:r>
              </a:p>
              <a:p>
                <a:pPr>
                  <a:lnSpc>
                    <a:spcPct val="140000"/>
                  </a:lnSpc>
                  <a:spcAft>
                    <a:spcPts val="1000"/>
                  </a:spcAft>
                </a:pP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대학교에서는 게임 공학을 전공하며 프로그래머로서 개발 경험을 쌓았지만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, 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누군가의 아이디어를 기술적으로 구현해 주는 것보다 저의 아이디어와 상상으로 누군가에게 몰입감을 선사하는 기획 업무에 흥미가 생겼습니다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. 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그 중에서도 전투 기획 업무가 가장 매력적으로 느껴졌습니다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. 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제가 가장 좋아하면서 자신이 있는 분야가 전투였기 때문입니다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.</a:t>
                </a:r>
              </a:p>
              <a:p>
                <a:pPr>
                  <a:lnSpc>
                    <a:spcPct val="140000"/>
                  </a:lnSpc>
                  <a:spcAft>
                    <a:spcPts val="1000"/>
                  </a:spcAft>
                </a:pP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이제 저만의 전투를 상상에서 그치지 않고 현실에 탄생시키려고 합니다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. </a:t>
                </a:r>
                <a:r>
                  <a:rPr lang="ko-KR" altLang="en-US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저의 생각과 경험들을 총동원하여 다른 사람들에게 몰입감과 즐거움을 줄 수 있는 전투를 설계하는 전투 기획자가 되겠습니다</a:t>
                </a:r>
                <a:r>
                  <a:rPr lang="en-US" altLang="ko-KR" sz="1000" dirty="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.</a:t>
                </a:r>
              </a:p>
            </p:txBody>
          </p:sp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BFDC9772-41BB-5EDE-D72D-E8E364F7E29A}"/>
                  </a:ext>
                </a:extLst>
              </p:cNvPr>
              <p:cNvSpPr/>
              <p:nvPr/>
            </p:nvSpPr>
            <p:spPr>
              <a:xfrm>
                <a:off x="189000" y="2131168"/>
                <a:ext cx="6480671" cy="398381"/>
              </a:xfrm>
              <a:prstGeom prst="rect">
                <a:avLst/>
              </a:prstGeom>
              <a:solidFill>
                <a:srgbClr val="E1F2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B0F26DE-309E-5A8B-AB99-96ECD09018F3}"/>
                  </a:ext>
                </a:extLst>
              </p:cNvPr>
              <p:cNvSpPr txBox="1"/>
              <p:nvPr/>
            </p:nvSpPr>
            <p:spPr>
              <a:xfrm>
                <a:off x="294162" y="2245721"/>
                <a:ext cx="80150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lang="ko-KR" altLang="en-US" sz="1100" dirty="0">
                    <a:latin typeface="페이퍼로지 7 Bold" pitchFamily="2" charset="-127"/>
                    <a:ea typeface="페이퍼로지 7 Bold" pitchFamily="2" charset="-127"/>
                    <a:cs typeface="Pretendard Medium" panose="02000603000000020004" pitchFamily="2" charset="-127"/>
                  </a:rPr>
                  <a:t>직무 지원 동기</a:t>
                </a:r>
              </a:p>
            </p:txBody>
          </p:sp>
          <p:cxnSp>
            <p:nvCxnSpPr>
              <p:cNvPr id="7" name="직선 연결선 6">
                <a:extLst>
                  <a:ext uri="{FF2B5EF4-FFF2-40B4-BE49-F238E27FC236}">
                    <a16:creationId xmlns:a16="http://schemas.microsoft.com/office/drawing/2014/main" id="{F2F9EBBF-43BB-566B-9B5B-9C995A1331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9001" y="2529550"/>
                <a:ext cx="6480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33D07BFE-19F4-BA33-DA0F-B6177E02A0CD}"/>
                  </a:ext>
                </a:extLst>
              </p:cNvPr>
              <p:cNvSpPr/>
              <p:nvPr/>
            </p:nvSpPr>
            <p:spPr>
              <a:xfrm>
                <a:off x="189000" y="2131167"/>
                <a:ext cx="6480000" cy="3491070"/>
              </a:xfrm>
              <a:prstGeom prst="rect">
                <a:avLst/>
              </a:prstGeom>
              <a:noFill/>
              <a:ln w="12700">
                <a:solidFill>
                  <a:schemeClr val="bg1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25C4D6A8-D68E-A7C0-6167-340982875F40}"/>
                </a:ext>
              </a:extLst>
            </p:cNvPr>
            <p:cNvGrpSpPr/>
            <p:nvPr/>
          </p:nvGrpSpPr>
          <p:grpSpPr>
            <a:xfrm>
              <a:off x="188665" y="4297649"/>
              <a:ext cx="6487083" cy="5989190"/>
              <a:chOff x="185458" y="4124129"/>
              <a:chExt cx="6487083" cy="5989190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3FC759-F7E8-4106-4A27-684348CA0009}"/>
                  </a:ext>
                </a:extLst>
              </p:cNvPr>
              <p:cNvSpPr txBox="1"/>
              <p:nvPr/>
            </p:nvSpPr>
            <p:spPr>
              <a:xfrm>
                <a:off x="290620" y="4522511"/>
                <a:ext cx="6269676" cy="5590808"/>
              </a:xfrm>
              <a:prstGeom prst="rect">
                <a:avLst/>
              </a:prstGeom>
              <a:noFill/>
            </p:spPr>
            <p:txBody>
              <a:bodyPr wrap="square" lIns="0" tIns="72000" rIns="0" bIns="72000" rtlCol="0" anchor="t">
                <a:spAutoFit/>
              </a:bodyPr>
              <a:lstStyle>
                <a:defPPr>
                  <a:defRPr lang="en-US"/>
                </a:defPPr>
                <a:lvl1pPr>
                  <a:lnSpc>
                    <a:spcPct val="135000"/>
                  </a:lnSpc>
                  <a:spcAft>
                    <a:spcPts val="800"/>
                  </a:spcAft>
                  <a:defRPr sz="1000">
                    <a:ln>
                      <a:solidFill>
                        <a:schemeClr val="bg1">
                          <a:lumMod val="75000"/>
                          <a:alpha val="0"/>
                        </a:schemeClr>
                      </a:solidFill>
                    </a:ln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defRPr>
                </a:lvl1pPr>
              </a:lstStyle>
              <a:p>
                <a:pPr>
                  <a:lnSpc>
                    <a:spcPct val="140000"/>
                  </a:lnSpc>
                  <a:spcAft>
                    <a:spcPts val="1000"/>
                  </a:spcAft>
                </a:pPr>
                <a:r>
                  <a:rPr lang="ko-KR" altLang="en-US" dirty="0"/>
                  <a:t>저는 전투 기획자로서 경쟁력을 높이기 위해 다음과 같은 경험을 쌓았습니다</a:t>
                </a:r>
                <a:r>
                  <a:rPr lang="en-US" altLang="ko-KR" dirty="0"/>
                  <a:t>.</a:t>
                </a:r>
              </a:p>
              <a:p>
                <a:pPr>
                  <a:lnSpc>
                    <a:spcPct val="140000"/>
                  </a:lnSpc>
                  <a:spcAft>
                    <a:spcPts val="1000"/>
                  </a:spcAft>
                </a:pPr>
                <a:r>
                  <a:rPr lang="ko-KR" altLang="en-US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첫째</a:t>
                </a:r>
                <a:r>
                  <a:rPr lang="en-US" altLang="ko-KR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, </a:t>
                </a:r>
                <a:r>
                  <a:rPr lang="ko-KR" altLang="en-US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다양한 게임에서 여러 캐릭터의 전투 스타일을 체험해 보았습니다</a:t>
                </a:r>
                <a:r>
                  <a:rPr lang="en-US" altLang="ko-KR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제가 가장 좋아하는 게임 장르는 </a:t>
                </a:r>
                <a:r>
                  <a:rPr lang="en-US" altLang="ko-KR" dirty="0"/>
                  <a:t>RPG</a:t>
                </a:r>
                <a:r>
                  <a:rPr lang="ko-KR" altLang="en-US" dirty="0"/>
                  <a:t>입니다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다양한 캐릭터의 전투를 느껴 볼 수 있다는 점이 매력적으로 느껴지기 때문입니다</a:t>
                </a:r>
                <a:r>
                  <a:rPr lang="en-US" altLang="ko-KR" dirty="0"/>
                  <a:t>. RPG </a:t>
                </a:r>
                <a:r>
                  <a:rPr lang="ko-KR" altLang="en-US" dirty="0"/>
                  <a:t>외에도 다양한 전투를 체험할 수 있는 게임에 흥미가 생깁니다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예를 들어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리그 오브 레전드에서도 라인에 관련 없이 재밌어 보이는 챔피언을 다 플레이해 보았습니다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무기에 따라 전투 스타일이 바뀌는 소울 </a:t>
                </a:r>
                <a:r>
                  <a:rPr lang="ko-KR" altLang="en-US" dirty="0" err="1"/>
                  <a:t>라이크</a:t>
                </a:r>
                <a:r>
                  <a:rPr lang="ko-KR" altLang="en-US" dirty="0"/>
                  <a:t> 게임에서도 획득한 무기는 꼭 한 번씩 써보고 결정하기도 합니다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이런 경험들로 제가 선호하는 전투에 대해 이해하고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전투 기획에서 저만의 방향을 세울 수 있습니다</a:t>
                </a:r>
                <a:r>
                  <a:rPr lang="en-US" altLang="ko-KR" dirty="0"/>
                  <a:t>.</a:t>
                </a:r>
              </a:p>
              <a:p>
                <a:pPr>
                  <a:lnSpc>
                    <a:spcPct val="140000"/>
                  </a:lnSpc>
                  <a:spcAft>
                    <a:spcPts val="1000"/>
                  </a:spcAft>
                </a:pPr>
                <a:r>
                  <a:rPr lang="ko-KR" altLang="en-US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둘째</a:t>
                </a:r>
                <a:r>
                  <a:rPr lang="en-US" altLang="ko-KR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, </a:t>
                </a:r>
                <a:r>
                  <a:rPr lang="ko-KR" altLang="en-US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다양한 개발 도구를 폭넓게 사용해 보았습니다</a:t>
                </a:r>
                <a:r>
                  <a:rPr lang="en-US" altLang="ko-KR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.</a:t>
                </a:r>
                <a:r>
                  <a:rPr lang="en-US" altLang="ko-KR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br>
                  <a:rPr lang="en-US" altLang="ko-KR" dirty="0"/>
                </a:br>
                <a:r>
                  <a:rPr lang="ko-KR" altLang="en-US" dirty="0"/>
                  <a:t>대학교에서 프로그래머로 여러 프로젝트를 진행하면서 </a:t>
                </a:r>
                <a:r>
                  <a:rPr lang="en-US" altLang="ko-KR" dirty="0"/>
                  <a:t>Unreal Engine 4, Unity, MySQL </a:t>
                </a:r>
                <a:r>
                  <a:rPr lang="ko-KR" altLang="en-US" dirty="0"/>
                  <a:t>등 다양한 개발 도구를 접해 보았습니다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이 과정에서 대부분의 개발 도구는 유사한 기능을 가지고 있다는 점을 </a:t>
                </a:r>
                <a:r>
                  <a:rPr lang="ko-KR" altLang="en-US" dirty="0" err="1"/>
                  <a:t>깨달았습니다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덕분에 개발 도구를 새롭게 접하더라도 두려움 없이 빠르게 적응할 수 있었습니다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이런 경험으로 리소스 조립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프로토타이핑 등의 기획 업무를 더욱 수월하게 할 수 있습니다</a:t>
                </a:r>
                <a:r>
                  <a:rPr lang="en-US" altLang="ko-KR" dirty="0"/>
                  <a:t>. </a:t>
                </a:r>
              </a:p>
              <a:p>
                <a:pPr>
                  <a:lnSpc>
                    <a:spcPct val="140000"/>
                  </a:lnSpc>
                  <a:spcAft>
                    <a:spcPts val="1000"/>
                  </a:spcAft>
                </a:pPr>
                <a:r>
                  <a:rPr lang="ko-KR" altLang="en-US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셋째</a:t>
                </a:r>
                <a:r>
                  <a:rPr lang="en-US" altLang="ko-KR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, </a:t>
                </a:r>
                <a:r>
                  <a:rPr lang="ko-KR" altLang="en-US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기획서 작성을 통해 실무 역량을 키웠습니다</a:t>
                </a:r>
                <a:r>
                  <a:rPr lang="en-US" altLang="ko-KR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.</a:t>
                </a:r>
                <a:r>
                  <a:rPr lang="en-US" altLang="ko-KR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br>
                  <a:rPr lang="en-US" altLang="ko-KR" dirty="0"/>
                </a:br>
                <a:r>
                  <a:rPr lang="ko-KR" altLang="en-US" dirty="0"/>
                  <a:t>혼자서 캐릭터 기획을 해보고 데이터 테이블을 작성해 보았습니다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국비 교육</a:t>
                </a:r>
                <a:r>
                  <a:rPr lang="en-US" altLang="ko-KR" dirty="0"/>
                  <a:t>(NCS </a:t>
                </a:r>
                <a:r>
                  <a:rPr lang="ko-KR" altLang="en-US" dirty="0"/>
                  <a:t>게임 콘텐츠 기획자 양성 과정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에서는 팀원들과 서로의 기획서를 공유하고 피드백을 주고받으며 실무 감각을 익혔습니다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특히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캐릭터의 스킬을 기획하기 위해 모션과 </a:t>
                </a:r>
                <a:r>
                  <a:rPr lang="ko-KR" altLang="en-US" dirty="0" err="1"/>
                  <a:t>이펙트뿐만</a:t>
                </a:r>
                <a:r>
                  <a:rPr lang="ko-KR" altLang="en-US" dirty="0"/>
                  <a:t> 아니라 카메라 구도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선</a:t>
                </a:r>
                <a:r>
                  <a:rPr lang="en-US" altLang="ko-KR" dirty="0"/>
                  <a:t>/</a:t>
                </a:r>
                <a:r>
                  <a:rPr lang="ko-KR" altLang="en-US" dirty="0"/>
                  <a:t>후 딜레이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효과 발동 타이밍 등 여러 요소들을 생각하며 기획서를 작성해 보기도 했습니다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그 결과 많은 내용을 한 번에 담는 것보다 명확한 기획 의도를 설정하고 적절한 수준으로 구성하는 것이 더 중요한 일이라는 것을 체감했습니다</a:t>
                </a:r>
                <a:r>
                  <a:rPr lang="en-US" altLang="ko-KR" dirty="0"/>
                  <a:t>.</a:t>
                </a:r>
              </a:p>
              <a:p>
                <a:pPr>
                  <a:lnSpc>
                    <a:spcPct val="140000"/>
                  </a:lnSpc>
                  <a:spcAft>
                    <a:spcPts val="1000"/>
                  </a:spcAft>
                </a:pPr>
                <a:r>
                  <a:rPr lang="ko-KR" altLang="en-US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넷째</a:t>
                </a:r>
                <a:r>
                  <a:rPr lang="en-US" altLang="ko-KR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, </a:t>
                </a:r>
                <a:r>
                  <a:rPr lang="ko-KR" altLang="en-US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실제 협업 경험을 쌓았습니다</a:t>
                </a:r>
                <a:r>
                  <a:rPr lang="en-US" altLang="ko-KR" dirty="0">
                    <a:latin typeface="Pretendard Medium" panose="02000603000000020004" pitchFamily="2" charset="-127"/>
                    <a:ea typeface="Pretendard Medium" panose="02000603000000020004" pitchFamily="2" charset="-127"/>
                    <a:cs typeface="Pretendard Medium" panose="02000603000000020004" pitchFamily="2" charset="-127"/>
                  </a:rPr>
                  <a:t>.</a:t>
                </a:r>
                <a:r>
                  <a:rPr lang="en-US" altLang="ko-KR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br>
                  <a:rPr lang="en-US" altLang="ko-KR" dirty="0"/>
                </a:br>
                <a:r>
                  <a:rPr lang="ko-KR" altLang="en-US" dirty="0"/>
                  <a:t>대학교에서는 프로그래머로 팀 프로젝트들에 참여했고 졸업 작품을 할 때에는 팀장으로서 팀원들을 독려하고 많은 대화를 이끌어 내어 팀워크를 발휘한 경험이 있습니다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국비 교육에서는 전투 기획 업무를 위주로 팀 프로젝트에 참여했습니다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교육 기간 동안 세 번의 팀 프로젝트를 진행하였습니다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팀 프로젝트는 </a:t>
                </a:r>
                <a:r>
                  <a:rPr lang="en-US" altLang="ko-KR" dirty="0"/>
                  <a:t>2</a:t>
                </a:r>
                <a:r>
                  <a:rPr lang="ko-KR" altLang="en-US" dirty="0"/>
                  <a:t>주간의 짧은 일정으로 인해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일정에 맞추기 위해서는 팀원들과 원활한 의사소통이 필수적이었고 맡은 역할에 책임감을 가지고 업무를 진행해야 했습니다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이런 다양한 협업 경험을 통해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책임감이 단순히 맡은 역할을 수행하는 것을 넘어 ‘의견을 뒷받침할 능력을 </a:t>
                </a:r>
                <a:r>
                  <a:rPr lang="ko-KR" altLang="en-US" dirty="0" err="1"/>
                  <a:t>키우자’는</a:t>
                </a:r>
                <a:r>
                  <a:rPr lang="ko-KR" altLang="en-US" dirty="0"/>
                  <a:t> 가치관으로 발전하기도 했습니다</a:t>
                </a:r>
                <a:r>
                  <a:rPr lang="en-US" altLang="ko-KR" dirty="0"/>
                  <a:t>.</a:t>
                </a:r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13B14CE2-81D0-75FB-C4A2-8529ABEA0B3B}"/>
                  </a:ext>
                </a:extLst>
              </p:cNvPr>
              <p:cNvSpPr/>
              <p:nvPr/>
            </p:nvSpPr>
            <p:spPr>
              <a:xfrm>
                <a:off x="185458" y="4124130"/>
                <a:ext cx="6480671" cy="398381"/>
              </a:xfrm>
              <a:prstGeom prst="rect">
                <a:avLst/>
              </a:prstGeom>
              <a:solidFill>
                <a:srgbClr val="E1F2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2599F9B-D5E2-CED6-E826-B53C36056CE6}"/>
                  </a:ext>
                </a:extLst>
              </p:cNvPr>
              <p:cNvSpPr txBox="1"/>
              <p:nvPr/>
            </p:nvSpPr>
            <p:spPr>
              <a:xfrm>
                <a:off x="290620" y="4238682"/>
                <a:ext cx="524182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lang="ko-KR" altLang="en-US" sz="1100" dirty="0">
                    <a:latin typeface="페이퍼로지 7 Bold" pitchFamily="2" charset="-127"/>
                    <a:ea typeface="페이퍼로지 7 Bold" pitchFamily="2" charset="-127"/>
                    <a:cs typeface="Pretendard Medium" panose="02000603000000020004" pitchFamily="2" charset="-127"/>
                  </a:rPr>
                  <a:t>직무 경험</a:t>
                </a:r>
              </a:p>
            </p:txBody>
          </p: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42C2F6C9-1DF3-0BD9-F9F2-7F056A9B9A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459" y="4522511"/>
                <a:ext cx="6480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6CA625F6-BC1A-2F22-821A-136374D9F82C}"/>
                  </a:ext>
                </a:extLst>
              </p:cNvPr>
              <p:cNvSpPr/>
              <p:nvPr/>
            </p:nvSpPr>
            <p:spPr>
              <a:xfrm>
                <a:off x="192541" y="4124129"/>
                <a:ext cx="6480000" cy="5989185"/>
              </a:xfrm>
              <a:prstGeom prst="rect">
                <a:avLst/>
              </a:prstGeom>
              <a:noFill/>
              <a:ln w="12700">
                <a:solidFill>
                  <a:schemeClr val="bg1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13961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BD60F-9814-E27B-919A-79641CD45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99985B-9609-CDE3-0055-FD4C875C3724}"/>
              </a:ext>
            </a:extLst>
          </p:cNvPr>
          <p:cNvGrpSpPr/>
          <p:nvPr/>
        </p:nvGrpSpPr>
        <p:grpSpPr>
          <a:xfrm>
            <a:off x="188665" y="141181"/>
            <a:ext cx="6480671" cy="4568288"/>
            <a:chOff x="185458" y="344489"/>
            <a:chExt cx="6480671" cy="4568288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6766D4-0EAD-6028-5A7A-774DD12A4B90}"/>
                </a:ext>
              </a:extLst>
            </p:cNvPr>
            <p:cNvSpPr txBox="1"/>
            <p:nvPr/>
          </p:nvSpPr>
          <p:spPr>
            <a:xfrm>
              <a:off x="290620" y="742870"/>
              <a:ext cx="6269676" cy="4169906"/>
            </a:xfrm>
            <a:prstGeom prst="rect">
              <a:avLst/>
            </a:prstGeom>
            <a:noFill/>
          </p:spPr>
          <p:txBody>
            <a:bodyPr wrap="square" lIns="0" tIns="72000" rIns="0" bIns="72000" rtlCol="0" anchor="t">
              <a:spAutoFit/>
            </a:bodyPr>
            <a:lstStyle>
              <a:defPPr>
                <a:defRPr lang="en-US"/>
              </a:defPPr>
              <a:lvl1pPr>
                <a:lnSpc>
                  <a:spcPct val="135000"/>
                </a:lnSpc>
                <a:spcAft>
                  <a:spcPts val="800"/>
                </a:spcAft>
                <a:defRPr sz="100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defRPr>
              </a:lvl1pPr>
            </a:lstStyle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/>
                <a:t>저는 다음과 같은 두 가지 장점이 있습니다</a:t>
              </a:r>
              <a:r>
                <a:rPr lang="en-US" altLang="ko-KR" dirty="0"/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첫째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논리적인 사고로 상황을 분석한 후 결론을 도출합니다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 </a:t>
              </a:r>
              <a:br>
                <a:rPr lang="en-US" altLang="ko-KR" dirty="0"/>
              </a:br>
              <a:r>
                <a:rPr lang="ko-KR" altLang="en-US" dirty="0"/>
                <a:t>저는 불확실한 상황에서 논리적인 사고의 흐름으로 결론을 낼 수 있을 때 안정감을 느끼고 자신감을 얻게 됩니다</a:t>
              </a:r>
              <a:r>
                <a:rPr lang="en-US" altLang="ko-KR" dirty="0"/>
                <a:t>. </a:t>
              </a:r>
              <a:r>
                <a:rPr lang="ko-KR" altLang="en-US" dirty="0"/>
                <a:t>기획 업무에서도 이런 성격을 활용합니다</a:t>
              </a:r>
              <a:r>
                <a:rPr lang="en-US" altLang="ko-KR" dirty="0"/>
                <a:t>. </a:t>
              </a:r>
              <a:r>
                <a:rPr lang="ko-KR" altLang="en-US" dirty="0"/>
                <a:t>예를 들어</a:t>
              </a:r>
              <a:r>
                <a:rPr lang="en-US" altLang="ko-KR" dirty="0"/>
                <a:t>, </a:t>
              </a:r>
              <a:r>
                <a:rPr lang="ko-KR" altLang="en-US" dirty="0"/>
                <a:t>신규 캐릭터를 기획할 때 기존 캐릭터들의 컨셉을 분석해서 세계관에 어울리는 컨셉을 설정하고 이를 바탕으로 전투를 기획하기도 합니다</a:t>
              </a:r>
              <a:r>
                <a:rPr lang="en-US" altLang="ko-KR" dirty="0"/>
                <a:t>. </a:t>
              </a:r>
              <a:r>
                <a:rPr lang="ko-KR" altLang="en-US" dirty="0"/>
                <a:t>때로는 캐릭터가 사용하는 무기를 분석해서 활용할 수 있는 구조가 있다면 적극적으로 반영하기도 합니다</a:t>
              </a:r>
              <a:r>
                <a:rPr lang="en-US" altLang="ko-KR" dirty="0"/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둘째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제가 생각한 이상적인 결과를 위해 끝까지 파고듭니다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 </a:t>
              </a:r>
              <a:b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</a:br>
              <a:r>
                <a:rPr lang="ko-KR" altLang="en-US" dirty="0"/>
                <a:t>저는 어떤 일을 할 때 </a:t>
              </a:r>
              <a:r>
                <a:rPr lang="en-US" altLang="ko-KR" dirty="0"/>
                <a:t>‘</a:t>
              </a:r>
              <a:r>
                <a:rPr lang="ko-KR" altLang="en-US" dirty="0"/>
                <a:t>이것보다 더 나은 방법은 없나</a:t>
              </a:r>
              <a:r>
                <a:rPr lang="en-US" altLang="ko-KR" dirty="0"/>
                <a:t>?’ / ‘</a:t>
              </a:r>
              <a:r>
                <a:rPr lang="ko-KR" altLang="en-US" dirty="0"/>
                <a:t>이건 왜 이렇게 되지</a:t>
              </a:r>
              <a:r>
                <a:rPr lang="en-US" altLang="ko-KR" dirty="0"/>
                <a:t>?’</a:t>
              </a:r>
              <a:r>
                <a:rPr lang="ko-KR" altLang="en-US" dirty="0"/>
                <a:t>라는 의문을 스스로에게 던지고 이에 대한 답을 찾기 위해 끝까지 파고 드는 성향이 있습니다</a:t>
              </a:r>
              <a:r>
                <a:rPr lang="en-US" altLang="ko-KR" dirty="0"/>
                <a:t>. </a:t>
              </a:r>
              <a:r>
                <a:rPr lang="ko-KR" altLang="en-US" dirty="0"/>
                <a:t>대학교에 다닐 때</a:t>
              </a:r>
              <a:r>
                <a:rPr lang="en-US" altLang="ko-KR" dirty="0"/>
                <a:t>, </a:t>
              </a:r>
              <a:r>
                <a:rPr lang="ko-KR" altLang="en-US" dirty="0"/>
                <a:t>프로그래밍 과제를 하면서 오류가 발생한 코드를 우연히 해결한 적이 있습니다</a:t>
              </a:r>
              <a:r>
                <a:rPr lang="en-US" altLang="ko-KR" dirty="0"/>
                <a:t>. </a:t>
              </a:r>
              <a:r>
                <a:rPr lang="ko-KR" altLang="en-US" dirty="0"/>
                <a:t>이때 왜 오류가 사라졌는지 완벽하게 이해하고 싶어서 밤새도록 교재를 찾거나 인터넷 검색을 하며 많은 시간을 쓴 적이 있습니다</a:t>
              </a:r>
              <a:r>
                <a:rPr lang="en-US" altLang="ko-KR" dirty="0"/>
                <a:t>. </a:t>
              </a:r>
              <a:r>
                <a:rPr lang="ko-KR" altLang="en-US" dirty="0"/>
                <a:t>게임을 할 때에도 난이도가 높은 몬스터에게 끝까지 도전합니다</a:t>
              </a:r>
              <a:r>
                <a:rPr lang="en-US" altLang="ko-KR" dirty="0"/>
                <a:t>. </a:t>
              </a:r>
              <a:r>
                <a:rPr lang="ko-KR" altLang="en-US" dirty="0"/>
                <a:t>그 과정에서 점차 숙련도가 증가하며</a:t>
              </a:r>
              <a:r>
                <a:rPr lang="en-US" altLang="ko-KR" dirty="0"/>
                <a:t>, </a:t>
              </a:r>
              <a:r>
                <a:rPr lang="ko-KR" altLang="en-US" dirty="0"/>
                <a:t>원하는 방향으로 전투를 이끌어 나갈 때 더 큰 성취감과 짜릿함을 얻게 됩니다</a:t>
              </a:r>
              <a:r>
                <a:rPr lang="en-US" altLang="ko-KR" dirty="0"/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반면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의견 충돌을 피하는 것이 협업에 도움이 된다고 생각해 제 의견을 드러내지 않기도 했습니다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 </a:t>
              </a:r>
              <a:b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</a:br>
              <a:r>
                <a:rPr lang="ko-KR" altLang="en-US" dirty="0"/>
                <a:t>하지만 팀 프로젝트를 몇 번 더 경험하면서 오히려 의견이 충돌하고</a:t>
              </a:r>
              <a:r>
                <a:rPr lang="en-US" altLang="ko-KR" dirty="0"/>
                <a:t>, </a:t>
              </a:r>
              <a:r>
                <a:rPr lang="ko-KR" altLang="en-US" dirty="0"/>
                <a:t>서로를 설득하며 많은 대화를 나눌 때 프로젝트가 원활하게 진행된다는 것을 </a:t>
              </a:r>
              <a:r>
                <a:rPr lang="ko-KR" altLang="en-US" dirty="0" err="1"/>
                <a:t>깨달았습니다</a:t>
              </a:r>
              <a:r>
                <a:rPr lang="en-US" altLang="ko-KR" dirty="0"/>
                <a:t>. </a:t>
              </a:r>
              <a:r>
                <a:rPr lang="ko-KR" altLang="en-US" dirty="0"/>
                <a:t>이후로는 팀원의 의견을 수용하면서도</a:t>
              </a:r>
              <a:r>
                <a:rPr lang="en-US" altLang="ko-KR" dirty="0"/>
                <a:t>,</a:t>
              </a:r>
              <a:r>
                <a:rPr lang="ko-KR" altLang="en-US" dirty="0"/>
                <a:t> 논리적인 근거를 바탕으로 저의 의견을 제시하며 팀원들과 최대한 많은 이야기를 해보려고 노력하게 되었습니다</a:t>
              </a:r>
              <a:r>
                <a:rPr lang="en-US" altLang="ko-KR" dirty="0"/>
                <a:t>. </a:t>
              </a:r>
              <a:r>
                <a:rPr lang="ko-KR" altLang="en-US" dirty="0"/>
                <a:t>그</a:t>
              </a:r>
              <a:r>
                <a:rPr lang="en-US" altLang="ko-KR" dirty="0"/>
                <a:t> </a:t>
              </a:r>
              <a:r>
                <a:rPr lang="ko-KR" altLang="en-US" dirty="0"/>
                <a:t>과정에서 더 큰 성취감과 소속감을 느끼게 되었고</a:t>
              </a:r>
              <a:r>
                <a:rPr lang="en-US" altLang="ko-KR" dirty="0"/>
                <a:t>, ‘</a:t>
              </a:r>
              <a:r>
                <a:rPr lang="ko-KR" altLang="en-US" dirty="0"/>
                <a:t>의견을 뒷받침하기 위한 능력을 키우자</a:t>
              </a:r>
              <a:r>
                <a:rPr lang="en-US" altLang="ko-KR" dirty="0"/>
                <a:t>’</a:t>
              </a:r>
              <a:r>
                <a:rPr lang="ko-KR" altLang="en-US" dirty="0"/>
                <a:t>라는 가치관을 갖게 되는 계기가 되었습니다</a:t>
              </a:r>
              <a:r>
                <a:rPr lang="en-US" altLang="ko-KR" dirty="0"/>
                <a:t>.</a:t>
              </a: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9141596-6F5D-D696-32A0-60A8D809BDC2}"/>
                </a:ext>
              </a:extLst>
            </p:cNvPr>
            <p:cNvSpPr/>
            <p:nvPr/>
          </p:nvSpPr>
          <p:spPr>
            <a:xfrm>
              <a:off x="185458" y="344489"/>
              <a:ext cx="6480671" cy="398381"/>
            </a:xfrm>
            <a:prstGeom prst="rect">
              <a:avLst/>
            </a:prstGeom>
            <a:solidFill>
              <a:srgbClr val="E1F2FF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F8A52B2-3F91-2067-5599-9D2FDB6F2B37}"/>
                </a:ext>
              </a:extLst>
            </p:cNvPr>
            <p:cNvSpPr txBox="1"/>
            <p:nvPr/>
          </p:nvSpPr>
          <p:spPr>
            <a:xfrm>
              <a:off x="290620" y="459041"/>
              <a:ext cx="771045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lang="ko-KR" altLang="en-US" sz="1100" dirty="0">
                  <a:latin typeface="페이퍼로지 7 Bold" pitchFamily="2" charset="-127"/>
                  <a:ea typeface="페이퍼로지 7 Bold" pitchFamily="2" charset="-127"/>
                  <a:cs typeface="Pretendard Medium" panose="02000603000000020004" pitchFamily="2" charset="-127"/>
                </a:rPr>
                <a:t>성격의 장단점</a:t>
              </a: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75870661-7F52-9CA0-E632-2E8298F0E09E}"/>
                </a:ext>
              </a:extLst>
            </p:cNvPr>
            <p:cNvCxnSpPr>
              <a:cxnSpLocks/>
            </p:cNvCxnSpPr>
            <p:nvPr/>
          </p:nvCxnSpPr>
          <p:spPr>
            <a:xfrm>
              <a:off x="185459" y="742870"/>
              <a:ext cx="648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77C30F3-0793-742F-CDBA-595AD2B3873D}"/>
                </a:ext>
              </a:extLst>
            </p:cNvPr>
            <p:cNvSpPr/>
            <p:nvPr/>
          </p:nvSpPr>
          <p:spPr>
            <a:xfrm>
              <a:off x="185458" y="344489"/>
              <a:ext cx="6480000" cy="4568288"/>
            </a:xfrm>
            <a:prstGeom prst="rect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575552-8AF1-38F1-B34B-D612905F4992}"/>
              </a:ext>
            </a:extLst>
          </p:cNvPr>
          <p:cNvGrpSpPr/>
          <p:nvPr/>
        </p:nvGrpSpPr>
        <p:grpSpPr>
          <a:xfrm>
            <a:off x="185458" y="4852589"/>
            <a:ext cx="6480671" cy="3578272"/>
            <a:chOff x="185458" y="5226205"/>
            <a:chExt cx="6480671" cy="357827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78DB277-56AD-2C16-8562-A15B83494E08}"/>
                </a:ext>
              </a:extLst>
            </p:cNvPr>
            <p:cNvSpPr txBox="1"/>
            <p:nvPr/>
          </p:nvSpPr>
          <p:spPr>
            <a:xfrm>
              <a:off x="290620" y="5624586"/>
              <a:ext cx="6269676" cy="3179891"/>
            </a:xfrm>
            <a:prstGeom prst="rect">
              <a:avLst/>
            </a:prstGeom>
            <a:noFill/>
          </p:spPr>
          <p:txBody>
            <a:bodyPr wrap="square" lIns="0" tIns="72000" rIns="0" bIns="72000" rtlCol="0" anchor="t">
              <a:spAutoFit/>
            </a:bodyPr>
            <a:lstStyle>
              <a:defPPr>
                <a:defRPr lang="en-US"/>
              </a:defPPr>
              <a:lvl1pPr>
                <a:lnSpc>
                  <a:spcPct val="135000"/>
                </a:lnSpc>
                <a:spcAft>
                  <a:spcPts val="800"/>
                </a:spcAft>
                <a:defRPr sz="100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defRPr>
              </a:lvl1pPr>
            </a:lstStyle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/>
                <a:t>제가 꿈꾸는 이상적인 기획자는 유저들이 인정하는 기획자입니다</a:t>
              </a:r>
              <a:r>
                <a:rPr lang="en-US" altLang="ko-KR" dirty="0"/>
                <a:t>. ‘</a:t>
              </a:r>
              <a:r>
                <a:rPr lang="ko-KR" altLang="en-US" dirty="0"/>
                <a:t>이 사람이 기획한 게임이면 재미있겠네’</a:t>
              </a:r>
              <a:r>
                <a:rPr lang="en-US" altLang="ko-KR" dirty="0"/>
                <a:t>, ‘</a:t>
              </a:r>
              <a:r>
                <a:rPr lang="ko-KR" altLang="en-US" dirty="0"/>
                <a:t>이 사람의 이런 점이 내가 선호하는 스타일이야</a:t>
              </a:r>
              <a:r>
                <a:rPr lang="en-US" altLang="ko-KR" dirty="0"/>
                <a:t>.’</a:t>
              </a:r>
              <a:r>
                <a:rPr lang="ko-KR" altLang="en-US" dirty="0"/>
                <a:t>처럼 유저들에게 신뢰를 바탕으로 재미를 선사하는 기획자가 되겠습니다</a:t>
              </a:r>
              <a:r>
                <a:rPr lang="en-US" altLang="ko-KR" dirty="0"/>
                <a:t>. </a:t>
              </a:r>
              <a:r>
                <a:rPr lang="ko-KR" altLang="en-US" dirty="0"/>
                <a:t>이를 위해 다음과 같은 목표를 가지고 노력하겠습니다</a:t>
              </a:r>
              <a:r>
                <a:rPr lang="en-US" altLang="ko-KR" dirty="0"/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첫째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이유를 설명할 줄 아는 기획자가 되겠습니다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</a:t>
              </a:r>
              <a: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b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</a:br>
              <a:r>
                <a:rPr lang="ko-KR" altLang="en-US" dirty="0"/>
                <a:t>기획서를 작성하고 기획에 대해 공부하면서 저의 생각을 명확하게 전달하려면 기획 의도를 설정하는 것이 중요하다는 점을 알게 되었습니다</a:t>
              </a:r>
              <a:r>
                <a:rPr lang="en-US" altLang="ko-KR" dirty="0"/>
                <a:t>. </a:t>
              </a:r>
              <a:r>
                <a:rPr lang="ko-KR" altLang="en-US" dirty="0"/>
                <a:t>아직은 그 역량을 더 </a:t>
              </a:r>
              <a:r>
                <a:rPr lang="ko-KR" altLang="en-US" dirty="0" err="1"/>
                <a:t>키워나가야</a:t>
              </a:r>
              <a:r>
                <a:rPr lang="ko-KR" altLang="en-US" dirty="0"/>
                <a:t> 한다고 생각하며</a:t>
              </a:r>
              <a:r>
                <a:rPr lang="en-US" altLang="ko-KR" dirty="0"/>
                <a:t>, ‘</a:t>
              </a:r>
              <a:r>
                <a:rPr lang="ko-KR" altLang="en-US" dirty="0"/>
                <a:t>왜 이렇게 기획했을까</a:t>
              </a:r>
              <a:r>
                <a:rPr lang="en-US" altLang="ko-KR" dirty="0"/>
                <a:t>?’</a:t>
              </a:r>
              <a:r>
                <a:rPr lang="ko-KR" altLang="en-US" dirty="0"/>
                <a:t>라는 질문을 통해 다른 사람의 기획 의도를 파악해 보는 역량을 기르고 있습니다</a:t>
              </a:r>
              <a:r>
                <a:rPr lang="en-US" altLang="ko-KR" dirty="0"/>
                <a:t>. </a:t>
              </a:r>
              <a:r>
                <a:rPr lang="ko-KR" altLang="en-US" dirty="0"/>
                <a:t>이러한 사고가 자연스럽게 이루어질 때 설득력 있는 기획이 이루어지고 프로젝트의 성공에 기여할 수 있다고 생각합니다</a:t>
              </a:r>
              <a:r>
                <a:rPr lang="en-US" altLang="ko-KR" dirty="0"/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둘째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가장 먼저 동료들에게 신뢰를 주는 기획자가 되겠습니다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</a:t>
              </a:r>
              <a:b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</a:br>
              <a:r>
                <a:rPr lang="ko-KR" altLang="en-US" dirty="0"/>
                <a:t>신뢰받는 기획자는 게임 개발의 중심에서 개발의 방향을 잡아주어 동료들의 업무 효율을 높일 수 있습니다</a:t>
              </a:r>
              <a:r>
                <a:rPr lang="en-US" altLang="ko-KR" dirty="0"/>
                <a:t>. </a:t>
              </a:r>
              <a:r>
                <a:rPr lang="ko-KR" altLang="en-US" dirty="0"/>
                <a:t>또한 기획에 대한 신뢰도도 올라갈 것입니다</a:t>
              </a:r>
              <a:r>
                <a:rPr lang="en-US" altLang="ko-KR" dirty="0"/>
                <a:t>. </a:t>
              </a:r>
              <a:r>
                <a:rPr lang="ko-KR" altLang="en-US" dirty="0"/>
                <a:t>저는 개발의 중심에서 동료분들과 함께 기획한 내용이 현실화되고 더 나은 결과물로 이어질 때 높은 성취감과 소속감을 얻습니다</a:t>
              </a:r>
              <a:r>
                <a:rPr lang="en-US" altLang="ko-KR" dirty="0"/>
                <a:t>. </a:t>
              </a:r>
              <a:r>
                <a:rPr lang="ko-KR" altLang="en-US" dirty="0"/>
                <a:t>그래서 먼저 동료들에게 신뢰를 주는 기획자가 되어 프로젝트를 성공적으로 이끌고 유저들에게도 신뢰를 줄 수 있는 기획자가 되도록 노력하겠습니다</a:t>
              </a:r>
              <a:r>
                <a:rPr lang="en-US" altLang="ko-KR" dirty="0"/>
                <a:t>.</a:t>
              </a: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EB6866A8-3A45-BC9F-5774-0614651C8EB8}"/>
                </a:ext>
              </a:extLst>
            </p:cNvPr>
            <p:cNvSpPr/>
            <p:nvPr/>
          </p:nvSpPr>
          <p:spPr>
            <a:xfrm>
              <a:off x="185458" y="5226205"/>
              <a:ext cx="6480671" cy="398381"/>
            </a:xfrm>
            <a:prstGeom prst="rect">
              <a:avLst/>
            </a:prstGeom>
            <a:solidFill>
              <a:srgbClr val="E1F2FF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AE2C25C-68AE-DA19-801B-340AE7195C89}"/>
                </a:ext>
              </a:extLst>
            </p:cNvPr>
            <p:cNvSpPr txBox="1"/>
            <p:nvPr/>
          </p:nvSpPr>
          <p:spPr>
            <a:xfrm>
              <a:off x="290620" y="5340757"/>
              <a:ext cx="678071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lang="ko-KR" altLang="en-US" sz="1100" dirty="0">
                  <a:latin typeface="페이퍼로지 7 Bold" pitchFamily="2" charset="-127"/>
                  <a:ea typeface="페이퍼로지 7 Bold" pitchFamily="2" charset="-127"/>
                  <a:cs typeface="Pretendard Medium" panose="02000603000000020004" pitchFamily="2" charset="-127"/>
                </a:rPr>
                <a:t>입사 후 포부</a:t>
              </a:r>
            </a:p>
          </p:txBody>
        </p: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9FA312AA-3D10-024B-EB66-6459E95EAE11}"/>
                </a:ext>
              </a:extLst>
            </p:cNvPr>
            <p:cNvCxnSpPr>
              <a:cxnSpLocks/>
            </p:cNvCxnSpPr>
            <p:nvPr/>
          </p:nvCxnSpPr>
          <p:spPr>
            <a:xfrm>
              <a:off x="185459" y="5624586"/>
              <a:ext cx="648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4E811AE4-B6D3-899E-F67B-E41AB8DC7CD4}"/>
                </a:ext>
              </a:extLst>
            </p:cNvPr>
            <p:cNvSpPr/>
            <p:nvPr/>
          </p:nvSpPr>
          <p:spPr>
            <a:xfrm>
              <a:off x="185458" y="5226205"/>
              <a:ext cx="6480000" cy="3578271"/>
            </a:xfrm>
            <a:prstGeom prst="rect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07233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203</TotalTime>
  <Words>1008</Words>
  <Application>Microsoft Office PowerPoint</Application>
  <PresentationFormat>A4 용지(210x297mm)</PresentationFormat>
  <Paragraphs>20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11" baseType="lpstr">
      <vt:lpstr>Pretendard</vt:lpstr>
      <vt:lpstr>Pretendard Light</vt:lpstr>
      <vt:lpstr>Pretendard Medium</vt:lpstr>
      <vt:lpstr>맑은 고딕</vt:lpstr>
      <vt:lpstr>페이퍼로지 7 Bold</vt:lpstr>
      <vt:lpstr>Aptos</vt:lpstr>
      <vt:lpstr>Aptos Display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홍진선(2017184037)</dc:creator>
  <cp:lastModifiedBy>홍진선(2017184037)</cp:lastModifiedBy>
  <cp:revision>12</cp:revision>
  <dcterms:created xsi:type="dcterms:W3CDTF">2025-09-03T09:11:42Z</dcterms:created>
  <dcterms:modified xsi:type="dcterms:W3CDTF">2025-11-17T09:12:11Z</dcterms:modified>
</cp:coreProperties>
</file>